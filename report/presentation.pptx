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4FC693-7FCD-E235-6FA7-74C156D92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6A5386E-0558-D268-9310-5DB249A68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2EFD09-7BAE-F7D3-7EDA-A3E01C8AD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6E5588-0B7B-B0DB-0096-87D33033C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5A4767-0EC8-90C0-77FC-A495634E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337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9429BE-8683-778C-B7EF-E47E9DE13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95451D-0464-6555-A034-2FA9F9DFC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F37719-B2BF-C0C2-8531-35CF293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4D54F4-CD83-E3D3-5053-57A39CB4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F515B-F381-FCC0-5681-F508D5A54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9176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4D36BA-67E6-57A9-92DA-613A77C7B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2C586-BD41-FA03-3507-36933EE7C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B77CA7-EF12-18EA-549C-E295E636F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B3860FC-0D98-37BA-7C32-2D3F4A772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96562F-AC8A-B4CA-5189-80F20F5D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236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12F64D-C0CD-1441-76EB-9587FF766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E1231A-1736-8655-BC9D-B8D977B84D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9445CF6-CF0A-0527-F1FF-42367F6DA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826EC3-8CA8-33B5-1DF5-E6EFC6CF4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EA665B-44C4-246C-3322-D7A03BC7F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6237537-26A7-8A1F-7C66-8BDAF451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568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24DA39-45C9-DDA2-3822-0477B6BAA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969AC5-E339-A7C0-35A3-753B50366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A9AF99-A7EA-02F1-7348-A29D4B8032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93D164E-F8D2-DE66-44CF-33D96559D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1235B1B-1EAB-4DF8-2618-CBF5C1074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DAC640-31B6-8705-566A-6BA9868AE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6041472-8487-5850-DCDD-7A185D8DA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CCDE09F-9D18-A0A8-18CE-E6400199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533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25266D-F1B6-1C9D-A7A2-2AF385BBF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B4416CF-7F51-1EC0-429E-B398F2E9B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D8AE8A9-7EDC-65D6-E15A-164D8D458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31C21C-1D99-914E-7587-B671E4166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2144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DBE25E5-5B21-305E-4F46-6946E5D66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924FBD9-A74B-399D-AFE2-82BE48916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BF4DD1-D533-E792-92F5-9A8DB7C6B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1629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3A16DA-26FB-B06C-2BBF-C29073E8D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0578DF-6D0F-EBB7-490C-1C9EC856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A8CAD0A-3EC3-5CAF-1F10-065931B25A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F84121-3C5D-CEE5-D2FB-621D2734A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454C2C-52EC-5E41-EB6C-EE3E1EE44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71AACF5-1AE0-6210-44C4-E607C3BE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308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3884AB-66DE-C7B9-F2D3-063070ACC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94AFD79-7BD1-BD33-8F1A-378A6FE35DB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9A8E62-84AB-FBA8-647F-7E3B4C6FB7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4204B-79A1-32E3-C2B5-B5BCD3C3F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13DA52-DCB3-FD5A-2841-9F308348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05FC33-5AEE-9706-520D-E67F6085E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557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157D42-1E09-1B5C-B6D9-61817CA6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2AECDAA-B194-75BD-F8E3-1002621E97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74AB71-7315-8A95-0ED9-37F376B30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889D21-74BB-ACE2-1B2F-70204FEC3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8A692F-2BC4-097C-E108-9A18946A6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3487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1BF433-43BB-0D28-ED75-C76454C337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97458E4-FD8E-D4C6-2DC5-C17FD926C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518A7C-8C39-5F4D-8335-A8A7EE8E6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F8FAD4-0976-6F24-AA32-A47B01A1A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52C3DB-6505-BF77-AC97-FF26197FA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9188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2852F-4D0A-4E2F-3AC4-4235B04F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AEE580-47F0-F6A9-EA55-67B89B056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C3C4A9-063B-D9AC-7571-6EC70B64F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1C869-0FFD-4EC5-B2A6-53D2B155137E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0ABDD1-5B6E-57D5-ACA2-8AD178BE9E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2BA4B6-E06C-8898-9DC4-572F3A4AF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DA2E9-18B7-4EDB-9385-3CDA230194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2026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478CC5-EFF5-6B02-6A2C-190C0ABB22DA}"/>
              </a:ext>
            </a:extLst>
          </p:cNvPr>
          <p:cNvSpPr txBox="1"/>
          <p:nvPr/>
        </p:nvSpPr>
        <p:spPr>
          <a:xfrm>
            <a:off x="762000" y="889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C9D3E3"/>
                </a:solidFill>
                <a:latin typeface="Calibri" panose="020F0502020204030204" pitchFamily="34" charset="0"/>
              </a:rPr>
              <a:t>Hackathon · team bokom-m</a:t>
            </a:r>
            <a:endParaRPr lang="ru-RU" sz="14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636A4A-00BC-FA68-9513-E4CACF41B536}"/>
              </a:ext>
            </a:extLst>
          </p:cNvPr>
          <p:cNvSpPr txBox="1"/>
          <p:nvPr/>
        </p:nvSpPr>
        <p:spPr>
          <a:xfrm>
            <a:off x="762000" y="1905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Neurophysiological diagnosis of PTSD</a:t>
            </a:r>
            <a:endParaRPr lang="ru-RU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6E16A-6E2D-2734-2B70-9345730AE605}"/>
              </a:ext>
            </a:extLst>
          </p:cNvPr>
          <p:cNvSpPr txBox="1"/>
          <p:nvPr/>
        </p:nvSpPr>
        <p:spPr>
          <a:xfrm>
            <a:off x="762000" y="34925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>
                <a:solidFill>
                  <a:srgbClr val="C9D3E3"/>
                </a:solidFill>
                <a:latin typeface="Calibri" panose="020F0502020204030204" pitchFamily="34" charset="0"/>
              </a:rPr>
              <a:t>from few-channel dry EEG</a:t>
            </a:r>
            <a:endParaRPr lang="ru-RU" sz="22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49391BBA-3117-0BFE-FCE4-EDD600DB5067}"/>
              </a:ext>
            </a:extLst>
          </p:cNvPr>
          <p:cNvSpPr/>
          <p:nvPr/>
        </p:nvSpPr>
        <p:spPr>
          <a:xfrm>
            <a:off x="7747000" y="1651000"/>
            <a:ext cx="3810000" cy="38100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4E34BB3F-FEB1-1EA3-ECA9-7DA299672277}"/>
              </a:ext>
            </a:extLst>
          </p:cNvPr>
          <p:cNvSpPr/>
          <p:nvPr/>
        </p:nvSpPr>
        <p:spPr>
          <a:xfrm>
            <a:off x="9423400" y="1346200"/>
            <a:ext cx="457200" cy="381000"/>
          </a:xfrm>
          <a:prstGeom prst="triangl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0687A73-1111-0127-8F8B-A6278AD5B042}"/>
              </a:ext>
            </a:extLst>
          </p:cNvPr>
          <p:cNvSpPr/>
          <p:nvPr/>
        </p:nvSpPr>
        <p:spPr>
          <a:xfrm>
            <a:off x="75755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68D7815-8BC1-A52E-7D1B-250E5720957E}"/>
              </a:ext>
            </a:extLst>
          </p:cNvPr>
          <p:cNvSpPr/>
          <p:nvPr/>
        </p:nvSpPr>
        <p:spPr>
          <a:xfrm>
            <a:off x="114617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EE79DF0A-FA02-8CE1-0B9D-F344BE0424DB}"/>
              </a:ext>
            </a:extLst>
          </p:cNvPr>
          <p:cNvSpPr/>
          <p:nvPr/>
        </p:nvSpPr>
        <p:spPr>
          <a:xfrm>
            <a:off x="8756650" y="4775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E78ACA37-B4E8-47A0-8707-197CFCE7C894}"/>
              </a:ext>
            </a:extLst>
          </p:cNvPr>
          <p:cNvSpPr/>
          <p:nvPr/>
        </p:nvSpPr>
        <p:spPr>
          <a:xfrm>
            <a:off x="9937750" y="4775200"/>
            <a:ext cx="609600" cy="609600"/>
          </a:xfrm>
          <a:prstGeom prst="ellipse">
            <a:avLst/>
          </a:prstGeom>
          <a:solidFill>
            <a:srgbClr val="C9D3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52588F5D-CCD4-6855-4F4C-1CA245F7B704}"/>
              </a:ext>
            </a:extLst>
          </p:cNvPr>
          <p:cNvSpPr/>
          <p:nvPr/>
        </p:nvSpPr>
        <p:spPr>
          <a:xfrm>
            <a:off x="109474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T4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B2F6733F-999E-434C-63F0-F5351249DC53}"/>
              </a:ext>
            </a:extLst>
          </p:cNvPr>
          <p:cNvSpPr/>
          <p:nvPr/>
        </p:nvSpPr>
        <p:spPr>
          <a:xfrm>
            <a:off x="99377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EB25C23A-5CF1-FB77-6862-B715FE98D44E}"/>
              </a:ext>
            </a:extLst>
          </p:cNvPr>
          <p:cNvSpPr/>
          <p:nvPr/>
        </p:nvSpPr>
        <p:spPr>
          <a:xfrm>
            <a:off x="77470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T3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7E6E1298-D52C-3C1B-6A5F-68D970133EE0}"/>
              </a:ext>
            </a:extLst>
          </p:cNvPr>
          <p:cNvSpPr/>
          <p:nvPr/>
        </p:nvSpPr>
        <p:spPr>
          <a:xfrm>
            <a:off x="87566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731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44EA81-3663-50D5-1808-C7AB12C71CE2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4213D"/>
                </a:solidFill>
                <a:latin typeface="Cambria" panose="02040503050406030204" pitchFamily="18" charset="0"/>
              </a:rPr>
              <a:t>The data give the answer away, and that is a trap</a:t>
            </a:r>
            <a:endParaRPr lang="ru-RU" sz="3000" b="1">
              <a:solidFill>
                <a:srgbClr val="1421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641F7C6-7DE8-6AD6-9E21-C09302CD8CA3}"/>
              </a:ext>
            </a:extLst>
          </p:cNvPr>
          <p:cNvSpPr/>
          <p:nvPr/>
        </p:nvSpPr>
        <p:spPr>
          <a:xfrm>
            <a:off x="508000" y="1270000"/>
            <a:ext cx="5334000" cy="444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ED9C5A-2FA4-74E2-2001-14F6C990DAD5}"/>
              </a:ext>
            </a:extLst>
          </p:cNvPr>
          <p:cNvSpPr txBox="1"/>
          <p:nvPr/>
        </p:nvSpPr>
        <p:spPr>
          <a:xfrm>
            <a:off x="889000" y="15875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200" b="1">
                <a:solidFill>
                  <a:srgbClr val="EB6834"/>
                </a:solidFill>
                <a:latin typeface="Cambria" panose="02040503050406030204" pitchFamily="18" charset="0"/>
              </a:rPr>
              <a:t>0.985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CD19CD-20DA-5BB3-56BD-B18904BB6395}"/>
              </a:ext>
            </a:extLst>
          </p:cNvPr>
          <p:cNvSpPr txBox="1"/>
          <p:nvPr/>
        </p:nvSpPr>
        <p:spPr>
          <a:xfrm>
            <a:off x="889000" y="26035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AUC of the rule 'format B means PTSD'</a:t>
            </a:r>
          </a:p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without looking at the signal</a:t>
            </a:r>
            <a:endParaRPr lang="ru-RU" sz="13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BADD7A-43EA-F1DA-33A5-5919A2F53AA7}"/>
              </a:ext>
            </a:extLst>
          </p:cNvPr>
          <p:cNvSpPr txBox="1"/>
          <p:nvPr/>
        </p:nvSpPr>
        <p:spPr>
          <a:xfrm>
            <a:off x="889000" y="3556000"/>
            <a:ext cx="469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1B1B1B"/>
                </a:solidFill>
                <a:latin typeface="Calibri" panose="020F0502020204030204" pitchFamily="34" charset="0"/>
              </a:rPr>
              <a:t>all 25 PTSD patients were exported in format B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1B1B1B"/>
                </a:solidFill>
                <a:latin typeface="Calibri" panose="020F0502020204030204" pitchFamily="34" charset="0"/>
              </a:rPr>
              <a:t>45 of 67 controls are format C, with no channel correlation and no alpha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1B1B1B"/>
                </a:solidFill>
                <a:latin typeface="Calibri" panose="020F0502020204030204" pitchFamily="34" charset="0"/>
              </a:rPr>
              <a:t>229 subjects form 221 groups once copied recordings are merged</a:t>
            </a:r>
            <a:endParaRPr lang="ru-RU" sz="1700">
              <a:solidFill>
                <a:srgbClr val="1B1B1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C0D8914-486C-F8E8-B769-76E1A1A5C649}"/>
              </a:ext>
            </a:extLst>
          </p:cNvPr>
          <p:cNvSpPr/>
          <p:nvPr/>
        </p:nvSpPr>
        <p:spPr>
          <a:xfrm>
            <a:off x="6223000" y="1270000"/>
            <a:ext cx="5461000" cy="4445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D362C5-2A0C-B831-26CA-FA3C2C33A9B9}"/>
              </a:ext>
            </a:extLst>
          </p:cNvPr>
          <p:cNvSpPr txBox="1"/>
          <p:nvPr/>
        </p:nvSpPr>
        <p:spPr>
          <a:xfrm>
            <a:off x="6604000" y="1574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mbria" panose="02040503050406030204" pitchFamily="18" charset="0"/>
              </a:rPr>
              <a:t>How we handle it</a:t>
            </a:r>
            <a:endParaRPr lang="ru-RU" sz="20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58A88-4CBB-8589-18D5-DDE3D33E0127}"/>
              </a:ext>
            </a:extLst>
          </p:cNvPr>
          <p:cNvSpPr txBox="1"/>
          <p:nvPr/>
        </p:nvSpPr>
        <p:spPr>
          <a:xfrm>
            <a:off x="6604000" y="21590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23 resting features: band power, alpha peak, spectral slope; independent of channel gain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L2 logistic regression with Platt calibration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leave-one-group-out, every choice made inside the fold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selection criterion mirrors the official score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8 protocols fixed in advance, failed ones included</a:t>
            </a:r>
            <a:endParaRPr lang="ru-RU" sz="17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849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6B60C2-712C-4553-B2EA-8AFDCC33D99A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4213D"/>
                </a:solidFill>
                <a:latin typeface="Cambria" panose="02040503050406030204" pitchFamily="18" charset="0"/>
              </a:rPr>
              <a:t>Out-of-sample result</a:t>
            </a:r>
            <a:endParaRPr lang="ru-RU" sz="3000" b="1">
              <a:solidFill>
                <a:srgbClr val="14213D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CF36C91-B235-C916-7BAB-80D9A4959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661" y="1066800"/>
            <a:ext cx="9108677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BFCF95-5C61-B55C-9027-0DAEC65A214F}"/>
              </a:ext>
            </a:extLst>
          </p:cNvPr>
          <p:cNvSpPr txBox="1"/>
          <p:nvPr/>
        </p:nvSpPr>
        <p:spPr>
          <a:xfrm>
            <a:off x="762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0.86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CD9552-D73D-8067-0969-9EF691C7AE70}"/>
              </a:ext>
            </a:extLst>
          </p:cNvPr>
          <p:cNvSpPr txBox="1"/>
          <p:nvPr/>
        </p:nvSpPr>
        <p:spPr>
          <a:xfrm>
            <a:off x="762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300">
                <a:solidFill>
                  <a:srgbClr val="52514E"/>
                </a:solidFill>
                <a:latin typeface="Calibri" panose="020F0502020204030204" pitchFamily="34" charset="0"/>
              </a:rPr>
              <a:t>AUC, PTSD vs controls &lt; 65</a:t>
            </a:r>
          </a:p>
          <a:p>
            <a:r>
              <a:rPr lang="fr-FR" sz="1300">
                <a:solidFill>
                  <a:srgbClr val="52514E"/>
                </a:solidFill>
                <a:latin typeface="Calibri" panose="020F0502020204030204" pitchFamily="34" charset="0"/>
              </a:rPr>
              <a:t>95% CI 0.80–0.92</a:t>
            </a:r>
            <a:endParaRPr lang="ru-RU" sz="13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071909-141A-BAC7-D140-D046CB39F86D}"/>
              </a:ext>
            </a:extLst>
          </p:cNvPr>
          <p:cNvSpPr txBox="1"/>
          <p:nvPr/>
        </p:nvSpPr>
        <p:spPr>
          <a:xfrm>
            <a:off x="3683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14213D"/>
                </a:solidFill>
                <a:latin typeface="Cambria" panose="02040503050406030204" pitchFamily="18" charset="0"/>
              </a:rPr>
              <a:t>0.84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2709CC-2E66-4647-D7E7-41C7063E227D}"/>
              </a:ext>
            </a:extLst>
          </p:cNvPr>
          <p:cNvSpPr txBox="1"/>
          <p:nvPr/>
        </p:nvSpPr>
        <p:spPr>
          <a:xfrm>
            <a:off x="3683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sensitivity</a:t>
            </a:r>
          </a:p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at threshold 0.5</a:t>
            </a:r>
            <a:endParaRPr lang="ru-RU" sz="13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71AD11-33A9-6A4D-B09A-F0527EDDF50C}"/>
              </a:ext>
            </a:extLst>
          </p:cNvPr>
          <p:cNvSpPr txBox="1"/>
          <p:nvPr/>
        </p:nvSpPr>
        <p:spPr>
          <a:xfrm>
            <a:off x="6604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1BAF7A"/>
                </a:solidFill>
                <a:latin typeface="Cambria" panose="02040503050406030204" pitchFamily="18" charset="0"/>
              </a:rPr>
              <a:t>0.87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E69D69-E320-BAFB-9D59-B789A80D667E}"/>
              </a:ext>
            </a:extLst>
          </p:cNvPr>
          <p:cNvSpPr txBox="1"/>
          <p:nvPr/>
        </p:nvSpPr>
        <p:spPr>
          <a:xfrm>
            <a:off x="6604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specificity,</a:t>
            </a:r>
          </a:p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controls 65+</a:t>
            </a:r>
            <a:endParaRPr lang="ru-RU" sz="13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BB29C0-6BB6-F0EE-D92B-A2C10A8DBD87}"/>
              </a:ext>
            </a:extLst>
          </p:cNvPr>
          <p:cNvSpPr txBox="1"/>
          <p:nvPr/>
        </p:nvSpPr>
        <p:spPr>
          <a:xfrm>
            <a:off x="9525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0.61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A14DEB-39AC-FB15-2076-63E699CFEE78}"/>
              </a:ext>
            </a:extLst>
          </p:cNvPr>
          <p:cNvSpPr txBox="1"/>
          <p:nvPr/>
        </p:nvSpPr>
        <p:spPr>
          <a:xfrm>
            <a:off x="9525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specificity,</a:t>
            </a:r>
          </a:p>
          <a:p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somatoform</a:t>
            </a:r>
            <a:endParaRPr lang="ru-RU" sz="13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474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B5F6A0-5659-9F97-4583-95A5D9B3A37C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4213D"/>
                </a:solidFill>
                <a:latin typeface="Cambria" panose="02040503050406030204" pitchFamily="18" charset="0"/>
              </a:rPr>
              <a:t>Features: direction and mechanism</a:t>
            </a:r>
            <a:endParaRPr lang="ru-RU" sz="3000" b="1">
              <a:solidFill>
                <a:srgbClr val="14213D"/>
              </a:solidFill>
              <a:latin typeface="Cambria" panose="020405030504060302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5D9654A7-4F54-FF3E-96EF-BF345FD53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526436"/>
              </p:ext>
            </p:extLst>
          </p:nvPr>
        </p:nvGraphicFramePr>
        <p:xfrm>
          <a:off x="508000" y="1143000"/>
          <a:ext cx="11176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788988918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884170301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160991389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251548994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Feature</a:t>
                      </a:r>
                      <a:endParaRPr lang="ru-RU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Lead · band</a:t>
                      </a:r>
                      <a:endParaRPr lang="ru-RU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 PTSD*</a:t>
                      </a:r>
                      <a:endParaRPr lang="ru-RU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Mechanism and caveats</a:t>
                      </a:r>
                      <a:endParaRPr lang="ru-RU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1923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spectral slope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3–30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flatter (0.90 / 0.96)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flatter in PTSD (Kovacevic, 2025); batch-dependent at T3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7072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beta share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13–30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 ≈, T4 ↑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T4 shared with somatoform; possible benzodiazepine effect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76327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alpha share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separates older adults with age-related alpha decline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25334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theta share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Fp1, T3, T4, O1 · 4–8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↑ slightly (−0.40 / −0.47)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reduced vigilance, poor sleep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39224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spectral slope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3–30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flatter (0.72 / 0.78)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excitation and inhibition balance; same with ageing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32829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alpha peak frequency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 (9.95 / 9.69 Hz)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slows with age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2230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frontal asymmetry</a:t>
                      </a:r>
                      <a:endParaRPr lang="ru-RU" sz="1300" b="1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Fp2 − Fp1 · 8–13 Hz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Davidson model; classically F3/F4, no added value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8822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2362CA1-B0FA-D537-4974-F2E58F0E10CA}"/>
              </a:ext>
            </a:extLst>
          </p:cNvPr>
          <p:cNvSpPr txBox="1"/>
          <p:nvPr/>
        </p:nvSpPr>
        <p:spPr>
          <a:xfrm>
            <a:off x="508000" y="59690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* median in PTSD / control A; arrows relative to young controls; rows ordered by model weight. Only the slope and beta at T4 shift reliably, and both shift the same way in somatoform patients.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3609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470980-1284-69BB-1C97-9AE60A741942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4213D"/>
                </a:solidFill>
                <a:latin typeface="Cambria" panose="02040503050406030204" pitchFamily="18" charset="0"/>
              </a:rPr>
              <a:t>What does not explain the result</a:t>
            </a:r>
            <a:endParaRPr lang="ru-RU" sz="3000" b="1">
              <a:solidFill>
                <a:srgbClr val="14213D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16777B-C7F2-F95E-C86E-BC5844B8A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395" y="1066800"/>
            <a:ext cx="9407210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974FB18-4E44-6DFD-990A-9D74E9AA267C}"/>
              </a:ext>
            </a:extLst>
          </p:cNvPr>
          <p:cNvSpPr/>
          <p:nvPr/>
        </p:nvSpPr>
        <p:spPr>
          <a:xfrm>
            <a:off x="5080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54A10F02-9710-FA03-4A53-A4AE6036ADF9}"/>
              </a:ext>
            </a:extLst>
          </p:cNvPr>
          <p:cNvSpPr/>
          <p:nvPr/>
        </p:nvSpPr>
        <p:spPr>
          <a:xfrm>
            <a:off x="6858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6B393-70ED-6DC9-0F95-54BEF6B892D4}"/>
              </a:ext>
            </a:extLst>
          </p:cNvPr>
          <p:cNvSpPr txBox="1"/>
          <p:nvPr/>
        </p:nvSpPr>
        <p:spPr>
          <a:xfrm>
            <a:off x="6858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4213D"/>
                </a:solidFill>
                <a:latin typeface="Calibri" panose="020F0502020204030204" pitchFamily="34" charset="0"/>
              </a:rPr>
              <a:t>Format</a:t>
            </a:r>
            <a:endParaRPr lang="ru-RU" sz="15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76454F-6709-A6F5-D06A-3B10CFC84A25}"/>
              </a:ext>
            </a:extLst>
          </p:cNvPr>
          <p:cNvSpPr txBox="1"/>
          <p:nvPr/>
        </p:nvSpPr>
        <p:spPr>
          <a:xfrm>
            <a:off x="6858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within format B AUC 0.84; permutation p = 0.016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5DA5E9F-2151-08BF-0B4C-7806EB072B16}"/>
              </a:ext>
            </a:extLst>
          </p:cNvPr>
          <p:cNvSpPr/>
          <p:nvPr/>
        </p:nvSpPr>
        <p:spPr>
          <a:xfrm>
            <a:off x="27686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15A95D0-52B1-E01E-22C3-C91A494C9738}"/>
              </a:ext>
            </a:extLst>
          </p:cNvPr>
          <p:cNvSpPr/>
          <p:nvPr/>
        </p:nvSpPr>
        <p:spPr>
          <a:xfrm>
            <a:off x="29464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327DB-1FE1-370A-113B-67C704F0B51A}"/>
              </a:ext>
            </a:extLst>
          </p:cNvPr>
          <p:cNvSpPr txBox="1"/>
          <p:nvPr/>
        </p:nvSpPr>
        <p:spPr>
          <a:xfrm>
            <a:off x="29464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4213D"/>
                </a:solidFill>
                <a:latin typeface="Calibri" panose="020F0502020204030204" pitchFamily="34" charset="0"/>
              </a:rPr>
              <a:t>Age</a:t>
            </a:r>
            <a:endParaRPr lang="ru-RU" sz="15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3661B7-205C-4780-A0E6-B86DE27613C7}"/>
              </a:ext>
            </a:extLst>
          </p:cNvPr>
          <p:cNvSpPr txBox="1"/>
          <p:nvPr/>
        </p:nvSpPr>
        <p:spPr>
          <a:xfrm>
            <a:off x="29464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within a batch R² ≈ 0; P does not follow age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9D3CFCB8-C857-766C-2D24-D5557BB053BB}"/>
              </a:ext>
            </a:extLst>
          </p:cNvPr>
          <p:cNvSpPr/>
          <p:nvPr/>
        </p:nvSpPr>
        <p:spPr>
          <a:xfrm>
            <a:off x="50292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0627CFB4-9BB2-E47C-F4A1-B38092EF2217}"/>
              </a:ext>
            </a:extLst>
          </p:cNvPr>
          <p:cNvSpPr/>
          <p:nvPr/>
        </p:nvSpPr>
        <p:spPr>
          <a:xfrm>
            <a:off x="52070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7E59BD-1E42-5099-9EB4-C1EEC9A5C734}"/>
              </a:ext>
            </a:extLst>
          </p:cNvPr>
          <p:cNvSpPr txBox="1"/>
          <p:nvPr/>
        </p:nvSpPr>
        <p:spPr>
          <a:xfrm>
            <a:off x="52070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4213D"/>
                </a:solidFill>
                <a:latin typeface="Calibri" panose="020F0502020204030204" pitchFamily="34" charset="0"/>
              </a:rPr>
              <a:t>Behaviour</a:t>
            </a:r>
            <a:endParaRPr lang="ru-RU" sz="15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71D838-9F1F-0DE9-C8B3-BFBDF1275C00}"/>
              </a:ext>
            </a:extLst>
          </p:cNvPr>
          <p:cNvSpPr txBox="1"/>
          <p:nvPr/>
        </p:nvSpPr>
        <p:spPr>
          <a:xfrm>
            <a:off x="52070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P does not follow solve time; with Schulte tables AUC 0.75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30DC747-14F5-8275-6166-8E1025E66624}"/>
              </a:ext>
            </a:extLst>
          </p:cNvPr>
          <p:cNvSpPr/>
          <p:nvPr/>
        </p:nvSpPr>
        <p:spPr>
          <a:xfrm>
            <a:off x="72898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4D2A9E52-B022-7DAC-75C7-FF96F71E6658}"/>
              </a:ext>
            </a:extLst>
          </p:cNvPr>
          <p:cNvSpPr/>
          <p:nvPr/>
        </p:nvSpPr>
        <p:spPr>
          <a:xfrm>
            <a:off x="7467600" y="4622800"/>
            <a:ext cx="355600" cy="355600"/>
          </a:xfrm>
          <a:prstGeom prst="ellipse">
            <a:avLst/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</a:t>
            </a:r>
            <a:endParaRPr lang="ru-RU" sz="13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52BAD9-5F73-1A2A-368E-1A30BB80D218}"/>
              </a:ext>
            </a:extLst>
          </p:cNvPr>
          <p:cNvSpPr txBox="1"/>
          <p:nvPr/>
        </p:nvSpPr>
        <p:spPr>
          <a:xfrm>
            <a:off x="74676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4213D"/>
                </a:solidFill>
                <a:latin typeface="Calibri" panose="020F0502020204030204" pitchFamily="34" charset="0"/>
              </a:rPr>
              <a:t>Unseen batch</a:t>
            </a:r>
            <a:endParaRPr lang="ru-RU" sz="15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8F3F77-335E-16D6-AA0E-E7B7E367D5EA}"/>
              </a:ext>
            </a:extLst>
          </p:cNvPr>
          <p:cNvSpPr txBox="1"/>
          <p:nvPr/>
        </p:nvSpPr>
        <p:spPr>
          <a:xfrm>
            <a:off x="74676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group left out of training: AUC about 0.1 lower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206B561B-5971-927C-7341-7EBD7D78EC8B}"/>
              </a:ext>
            </a:extLst>
          </p:cNvPr>
          <p:cNvSpPr/>
          <p:nvPr/>
        </p:nvSpPr>
        <p:spPr>
          <a:xfrm>
            <a:off x="95504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4718E7C1-E939-A789-3C69-ACAEFA9A7976}"/>
              </a:ext>
            </a:extLst>
          </p:cNvPr>
          <p:cNvSpPr/>
          <p:nvPr/>
        </p:nvSpPr>
        <p:spPr>
          <a:xfrm>
            <a:off x="9728200" y="4622800"/>
            <a:ext cx="355600" cy="355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!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097B-9339-6E84-BF18-EAC889033E40}"/>
              </a:ext>
            </a:extLst>
          </p:cNvPr>
          <p:cNvSpPr txBox="1"/>
          <p:nvPr/>
        </p:nvSpPr>
        <p:spPr>
          <a:xfrm>
            <a:off x="97282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4213D"/>
                </a:solidFill>
                <a:latin typeface="Calibri" panose="020F0502020204030204" pitchFamily="34" charset="0"/>
              </a:rPr>
              <a:t>Limitation</a:t>
            </a:r>
            <a:endParaRPr lang="ru-RU" sz="15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805ED3-ABDE-92D8-9013-A1416146D049}"/>
              </a:ext>
            </a:extLst>
          </p:cNvPr>
          <p:cNvSpPr txBox="1"/>
          <p:nvPr/>
        </p:nvSpPr>
        <p:spPr>
          <a:xfrm>
            <a:off x="97282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2514E"/>
                </a:solidFill>
                <a:latin typeface="Calibri" panose="020F0502020204030204" pitchFamily="34" charset="0"/>
              </a:rPr>
              <a:t>without T3/T4, AUC against young controls A/B is 0.57</a:t>
            </a:r>
            <a:endParaRPr lang="ru-RU" sz="12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963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C8A8FC-F498-D860-ECD2-8661DFDC9DAA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4213D"/>
                </a:solidFill>
                <a:latin typeface="Cambria" panose="02040503050406030204" pitchFamily="18" charset="0"/>
              </a:rPr>
              <a:t>Bonus: auditory response without stimulus markers</a:t>
            </a:r>
            <a:endParaRPr lang="ru-RU" sz="3000" b="1">
              <a:solidFill>
                <a:srgbClr val="14213D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7D1263-D3E5-AA2D-A05D-A7B0D782C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17600"/>
            <a:ext cx="11176000" cy="2906699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B871B3F-D0A4-77DC-A6C0-0AD03B6D4728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EC4143E-D835-02B6-3FF3-53B4E23406CE}"/>
              </a:ext>
            </a:extLst>
          </p:cNvPr>
          <p:cNvSpPr/>
          <p:nvPr/>
        </p:nvSpPr>
        <p:spPr>
          <a:xfrm>
            <a:off x="73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shown</a:t>
            </a:r>
            <a:endParaRPr lang="ru-RU" sz="13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EB66AE-0DA0-BA92-6237-517A6B3DA8D5}"/>
              </a:ext>
            </a:extLst>
          </p:cNvPr>
          <p:cNvSpPr txBox="1"/>
          <p:nvPr/>
        </p:nvSpPr>
        <p:spPr>
          <a:xfrm>
            <a:off x="73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B1B1B"/>
                </a:solidFill>
                <a:latin typeface="Calibri" panose="020F0502020204030204" pitchFamily="34" charset="0"/>
              </a:rPr>
              <a:t>response to metronome beats at rest: p = 0.0005, frontal</a:t>
            </a:r>
            <a:endParaRPr lang="ru-RU" sz="1400">
              <a:solidFill>
                <a:srgbClr val="1B1B1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3D53D38-9F23-7A26-68A6-2377FA4A00A5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5F622CBA-BC47-5674-5A19-C686FD6BCEA5}"/>
              </a:ext>
            </a:extLst>
          </p:cNvPr>
          <p:cNvSpPr/>
          <p:nvPr/>
        </p:nvSpPr>
        <p:spPr>
          <a:xfrm>
            <a:off x="454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validated</a:t>
            </a:r>
            <a:endParaRPr lang="ru-RU" sz="13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0AB487-1A70-84A7-9716-9038D511512D}"/>
              </a:ext>
            </a:extLst>
          </p:cNvPr>
          <p:cNvSpPr txBox="1"/>
          <p:nvPr/>
        </p:nvSpPr>
        <p:spPr>
          <a:xfrm>
            <a:off x="454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B1B1B"/>
                </a:solidFill>
                <a:latin typeface="Calibri" panose="020F0502020204030204" pitchFamily="34" charset="0"/>
              </a:rPr>
              <a:t>method checked on open ERP CORE data and in a hybrid simulation</a:t>
            </a:r>
            <a:endParaRPr lang="ru-RU" sz="1400">
              <a:solidFill>
                <a:srgbClr val="1B1B1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B67B71F5-931D-C6E0-E1F6-361DCBF16CA0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747BB31-5F60-B6FC-B1B0-F7C8A5CEDB8E}"/>
              </a:ext>
            </a:extLst>
          </p:cNvPr>
          <p:cNvSpPr/>
          <p:nvPr/>
        </p:nvSpPr>
        <p:spPr>
          <a:xfrm>
            <a:off x="835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not shown</a:t>
            </a:r>
            <a:endParaRPr lang="ru-RU" sz="13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54983F-C4B9-2A11-C166-6D4F308C2D08}"/>
              </a:ext>
            </a:extLst>
          </p:cNvPr>
          <p:cNvSpPr txBox="1"/>
          <p:nvPr/>
        </p:nvSpPr>
        <p:spPr>
          <a:xfrm>
            <a:off x="835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B1B1B"/>
                </a:solidFill>
                <a:latin typeface="Calibri" panose="020F0502020204030204" pitchFamily="34" charset="0"/>
              </a:rPr>
              <a:t>deviant response (MMN/P3a): p = 0.048 against 0.025</a:t>
            </a:r>
            <a:endParaRPr lang="ru-RU" sz="1400">
              <a:solidFill>
                <a:srgbClr val="1B1B1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31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18E360-37AE-0C0F-68B8-9583F234A3CE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mbria" panose="02040503050406030204" pitchFamily="18" charset="0"/>
              </a:rPr>
              <a:t>Conclusions</a:t>
            </a:r>
            <a:endParaRPr lang="ru-RU" sz="34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EA600004-2462-B8CE-161A-8C144BD89C0B}"/>
              </a:ext>
            </a:extLst>
          </p:cNvPr>
          <p:cNvSpPr/>
          <p:nvPr/>
        </p:nvSpPr>
        <p:spPr>
          <a:xfrm>
            <a:off x="762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90C26B-F57A-4C03-1B94-80498C51BA4B}"/>
              </a:ext>
            </a:extLst>
          </p:cNvPr>
          <p:cNvSpPr txBox="1"/>
          <p:nvPr/>
        </p:nvSpPr>
        <p:spPr>
          <a:xfrm>
            <a:off x="762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mbria" panose="02040503050406030204" pitchFamily="18" charset="0"/>
              </a:rPr>
              <a:t>What works</a:t>
            </a:r>
            <a:endParaRPr lang="ru-RU" sz="20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EC8DFA-B02E-B18C-203C-9531D98B6E4A}"/>
              </a:ext>
            </a:extLst>
          </p:cNvPr>
          <p:cNvSpPr txBox="1"/>
          <p:nvPr/>
        </p:nvSpPr>
        <p:spPr>
          <a:xfrm>
            <a:off x="762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AUC 0.86 out of sample, sensitivity 0.84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reliable separation from normal ageing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no leakage; survives permutation within a format</a:t>
            </a:r>
            <a:endParaRPr lang="ru-RU" sz="15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071F242F-59BE-990D-C8D5-867FE413E3BC}"/>
              </a:ext>
            </a:extLst>
          </p:cNvPr>
          <p:cNvSpPr/>
          <p:nvPr/>
        </p:nvSpPr>
        <p:spPr>
          <a:xfrm>
            <a:off x="4445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23821-5DFD-F592-7F5D-78E62EE6CB1D}"/>
              </a:ext>
            </a:extLst>
          </p:cNvPr>
          <p:cNvSpPr txBox="1"/>
          <p:nvPr/>
        </p:nvSpPr>
        <p:spPr>
          <a:xfrm>
            <a:off x="4445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mbria" panose="02040503050406030204" pitchFamily="18" charset="0"/>
              </a:rPr>
              <a:t>Limitations</a:t>
            </a:r>
            <a:endParaRPr lang="ru-RU" sz="20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8B53D2-ADA7-B5B9-6FF1-6305EF2B64ED}"/>
              </a:ext>
            </a:extLst>
          </p:cNvPr>
          <p:cNvSpPr txBox="1"/>
          <p:nvPr/>
        </p:nvSpPr>
        <p:spPr>
          <a:xfrm>
            <a:off x="4445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young controls A/B: relies on T3/T4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somatoform: 0.61, sex not controlled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cohorts differ beyond the diagnosis</a:t>
            </a:r>
            <a:endParaRPr lang="ru-RU" sz="15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302BDD56-7C44-DFB8-627D-7562786FF1FF}"/>
              </a:ext>
            </a:extLst>
          </p:cNvPr>
          <p:cNvSpPr/>
          <p:nvPr/>
        </p:nvSpPr>
        <p:spPr>
          <a:xfrm>
            <a:off x="8128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001E39-51E6-101A-F9A1-3FAB0765D638}"/>
              </a:ext>
            </a:extLst>
          </p:cNvPr>
          <p:cNvSpPr txBox="1"/>
          <p:nvPr/>
        </p:nvSpPr>
        <p:spPr>
          <a:xfrm>
            <a:off x="8128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mbria" panose="02040503050406030204" pitchFamily="18" charset="0"/>
              </a:rPr>
              <a:t>Next steps</a:t>
            </a:r>
            <a:endParaRPr lang="ru-RU" sz="20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44547-2F53-CF38-F8A0-F158EBF869CE}"/>
              </a:ext>
            </a:extLst>
          </p:cNvPr>
          <p:cNvSpPr txBox="1"/>
          <p:nvPr/>
        </p:nvSpPr>
        <p:spPr>
          <a:xfrm>
            <a:off x="8128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combat-exposed controls without PTSD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one headset and export for everyone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en-US" sz="1500">
                <a:solidFill>
                  <a:srgbClr val="C9D3E3"/>
                </a:solidFill>
                <a:latin typeface="Calibri" panose="020F0502020204030204" pitchFamily="34" charset="0"/>
              </a:rPr>
              <a:t>severity scales, medication, head injury, sleep</a:t>
            </a:r>
            <a:endParaRPr lang="ru-RU" sz="15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332A02-462C-D4BD-FC4D-FC908FD3CE29}"/>
              </a:ext>
            </a:extLst>
          </p:cNvPr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C9D3E3"/>
                </a:solidFill>
                <a:latin typeface="Calibri" panose="020F0502020204030204" pitchFamily="34" charset="0"/>
              </a:rPr>
              <a:t>Code, notebooks, data audit and clinical interpretation: github.com/igor688-hub/neurodiagnosis-eeg</a:t>
            </a:r>
            <a:endParaRPr lang="ru-RU" sz="14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10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569</Words>
  <Application>Microsoft Office PowerPoint</Application>
  <PresentationFormat>Произвольный</PresentationFormat>
  <Paragraphs>109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Игорь Яцун</dc:creator>
  <cp:lastModifiedBy>Игорь Яцун</cp:lastModifiedBy>
  <cp:revision>1</cp:revision>
  <dcterms:created xsi:type="dcterms:W3CDTF">2026-10-01T19:44:34Z</dcterms:created>
  <dcterms:modified xsi:type="dcterms:W3CDTF">2026-10-01T19:44:34Z</dcterms:modified>
</cp:coreProperties>
</file>