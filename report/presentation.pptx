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C8945C-766C-475A-A5DD-D3A1B842438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39F6B-EE3C-444F-95F7-297CFB6A704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720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Задача: по записи сухой ЭЭГ на 6 каналах выдать вероятность принадлежности к ПТСР. Мы сдаём модель только на минуте покоя с закрытыми глазами и покажем не только метрики, но и то, на чём модель держится, а на чём нет. O2 выделен серым: мы его не используем.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3641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Первое, что мы нашли: способ выгрузки почти совпадает с меткой. Все ПТСР в формате B, большинство норм — в формате C, который вообще не похож на типичную ЭЭГ. Правило «формат B — значит ПТСР» без единого признака сигнала даёт AUC 0.985. Поэтому высокий AUC мы не считаем доказательством и дальше всегда показываем результаты по стратам.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989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Конвейер простой и одинаковый для обучения и инференса: ресэмплинг к 125 герцам, фильтр 40 герц, окна по 4 секунды с отбраковкой артефактов, спектр и 23 признака, которые не зависят от усиления канала. Модель — логистическая регрессия: на 25 пациентах нужна простая и объяснимая модель. Утечки нет: записи-дубликаты объединены в группы, валидация leave-one-group-out, и весь выбор делается внутри фолда.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259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схеме головы — насколько каждый признак отличает ПТСР от молодых норм: красное — выше у ПТСР, синее — ниже. Ожидаемого по литературе ослабления альфы у ПТСР нет: альфа работает на отделение пожилых. Спектр у ПТСР немного площе и лобной теты чуть больше — это согласуется с гипервозбуждением и нарушениями сна, но эффекты маленькие и неспецифичные.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387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метрики вне выборки: каждого испытуемого предсказывает модель, которая его не видела. AUC против норм моложе 65 — 0.84 с интервалом от 0.77 до 0.90. Если убрать нетипичный формат C — 0.72. Чувствительность при пороге 0.5 — 0.80: мы специально выбрали сбалансированную калибровку, чтобы модель выявляла ПТСР, а не пряталась за низкими вероятностями.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500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Каждая точка — испытуемый. Пожилых модель отделяет хорошо: специфичность 0.78, потому что у них ослаблена и замедлена альфа. Соматоформные — самая трудная группа, 0.58: это клинически близкие пациенты с тревогой и соматическим возбуждением. Ошибаемся мы там, где у человека сохранна затылочная альфа.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8938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ТЗ требует три проверки, мы сделали больше. Формат: внутри одного формата B модель различает ПТСР и 65 норм с AUC 0.81, а модель на метаданных — ноль. Качество записи само по себе ничего не даёт. Возраст внутри партии признаки не предсказывают. От времени решения таблиц вероятность не зависит. Честное ограничение: различение с молодыми нормами держится на височных отведениях; без них AUC против норм A/B — 0.56.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447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Обязательное сравнение: на 142 испытуемых с годным временем решения. Поведение отделяет ПТСР от молодых норм, но пожилые решают медленнее всех и выглядят как ПТСР. ЭЭГ делает наоборот. Вместе — 0.75. Мы сдаём модель только на ЭЭГ: задача про ЭЭГ-диагностику, и у 85 испытуемых обучения времени решения просто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4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Меток стимулов нет, поэтому мы сворачиваем запись по 4-секундным тактам и ищем фазу на одной половине записи, а проверяем на другой. Ответ на удары метронома в покое найден надёжно, он фронтальный — как слуховой N1 при ушном референте. Метод проверен на открытых данных ERP CORE: аппаратный фильтр 2 герца искажает MMN, и метод видит только ответ крупнее 1.1–1.5 микровольта. Ответ на девиант в подтверждающем тесте не прошёл заранее заданный порог — мы так и пишем.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573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Итог. Модель на минуте покоя даёт AUC 0.84 вне выборки и надёжно отделяет нормальное старение. Ограничения мы показываем открыто: с молодыми нормами модель держится на височных отведениях, соматоформных различает хуже, а когорты отличаются не только диагнозом. Для настоящего биомаркера нужны контроль с боевой травмой без ПТСР и одинаковые условия регистрации.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39F6B-EE3C-444F-95F7-297CFB6A704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32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9488C2-FA19-8700-9AE3-F31C50A48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B7F10F3-9C5F-AF98-41C6-FF198E202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C85B08D-EE6E-B486-EC1A-F1216A275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A84921-72ED-054B-4C6A-F5B0E0A1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AEA042C-4E00-3178-6133-7F3227EAF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106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E970B9-38E1-3B21-61C4-FD4289EE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246716-AF0A-C0E6-A2F2-1474131B3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5FB6F7-8461-64E8-934A-0F42BA7E5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EF60FE-A961-C962-E8CA-7361B4863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A7F008-252E-F261-B602-639A53DC9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498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370E3-9FD0-BFE4-D63E-D1F4906B7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54FEC4-B019-C983-D078-3E7E8FC73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169B1B-4125-6FC8-2E47-6F31ACC12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0C1AF6-C999-BA62-0701-FC76D129E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D642FB-9B8A-9FE3-F1B6-E1DFF062E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979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19AA62-0F0D-2E57-5FF3-978336C4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011595-B777-6BE8-F83F-331D8D9835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B7572C-2164-5C85-1C4C-9D22A4F076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0F7911F-4548-BDE7-2C9D-904E2C454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881A5EF-9A5D-0239-8049-97A430091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3A5824-7301-B61A-C109-46146A6C9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017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AB0DA1-16B8-5D07-0079-A1212BE9A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2A8236D-B80C-1EF3-2117-6D11B64C8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6E2F934-C0A4-8099-9D3E-B83AF7BA5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B11DB60-8930-B8EA-7167-99434D5007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F3BB1E9-3EAB-B180-2A5D-4CA79D054B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F044A16-1CA3-0549-3F32-FDF6B3AF4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DDBDEEC-6D2B-975B-1363-48B453D5E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409EAFD-8CAB-B2E9-AF71-405D06176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194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65DB80-82BA-65E0-0CA8-2D5559AA0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9F6251C-DA11-F4D8-A855-08F7B36A4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9A7F1BB-F1D6-195F-1E5A-4FC8540EE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332D122-B08C-7448-23B2-B81A8E711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109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C4AEED4-9DEA-62DC-725B-F22CBDCDA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2A13DEF-7F45-69A4-4C16-910CF75F8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B12D71-E599-B034-CFA8-A1B197BA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94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BD5F94-F467-6F02-CABD-A14B3BCFB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023232-6593-E691-9127-050B8D0B8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8CC5EC5-5DFD-3843-410B-73F6B39C5A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C813C79-2A6B-2568-3E6C-78EF7C50A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9907BCC-E8FF-06CA-CB0D-928C6404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3E2C6BE-C52B-9AD4-A17C-480474872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62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789CB-37F7-DD91-2646-3DE8D34EB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3F2BA-20EE-21F1-F04D-6A50C463CB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A40C7C-55C7-3D7C-DB9C-0E6CBD9A2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0FED4C-1579-144B-E122-A5A9DAC6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07109C-7407-C1B8-B482-B87AACAA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71CA5A-E5B3-E2C9-CDA2-73A0E1AC0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2334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5C01E4-E8ED-97DE-853D-2E5F36391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14EB4D-4916-3C44-39F0-4FC7C18AC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90DAAAD-612A-0B92-9DA1-B9ACDDAAB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029E4F-AB24-5D0E-A5F5-E6F31F8D8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D0A42B-DF06-59C1-FCA1-FFF996DDB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3424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9EA3F7D-4770-637F-2DA0-698A9F192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17B5A7D-116F-927C-096E-8E66805B5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46681D-6630-B313-7390-6F2318B1F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EFD5F2-D11E-A750-3CA6-D7278355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2CDCD0-4B59-2A5B-3415-E08CDF5B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4304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D20EB6-E57E-6D4B-15AC-D8F82818F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B02D1C7-74E2-1EF5-CF13-96693F896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2CF58C-40C4-3E58-EB61-73D8ED009C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9631C-2ACB-43F0-9F5F-E603512EFCD2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F8DB9B-EC24-5932-A744-3F9149BC1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9793F12-DE3B-B566-E9DC-2B9EA4898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9F168C-9C9F-4A36-BFB6-942532E772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764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389B13-A21F-58BD-0235-C61A79A20F38}"/>
              </a:ext>
            </a:extLst>
          </p:cNvPr>
          <p:cNvSpPr txBox="1"/>
          <p:nvPr/>
        </p:nvSpPr>
        <p:spPr>
          <a:xfrm>
            <a:off x="762000" y="889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Хакатон · нейрофизиологическая диагностика ПТСР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42E71-EFCC-89D7-1685-910D5480642A}"/>
              </a:ext>
            </a:extLst>
          </p:cNvPr>
          <p:cNvSpPr txBox="1"/>
          <p:nvPr/>
        </p:nvSpPr>
        <p:spPr>
          <a:xfrm>
            <a:off x="762000" y="1905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FFFFFF"/>
                </a:solidFill>
                <a:latin typeface="Cambria" panose="02040503050406030204" pitchFamily="18" charset="0"/>
              </a:rPr>
              <a:t>ПТСР по минуте сухой ЭЭГ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40FB2D-EA6E-371D-F2B1-4D8D0ADFD83D}"/>
              </a:ext>
            </a:extLst>
          </p:cNvPr>
          <p:cNvSpPr txBox="1"/>
          <p:nvPr/>
        </p:nvSpPr>
        <p:spPr>
          <a:xfrm>
            <a:off x="762000" y="34925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>
                <a:solidFill>
                  <a:srgbClr val="C9D3E3"/>
                </a:solidFill>
                <a:latin typeface="Calibri" panose="020F0502020204030204" pitchFamily="34" charset="0"/>
              </a:rPr>
              <a:t>6 каналов, только покой с закрытыми глазами: что модель различает и на чём держится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ED99F-FA7B-4933-B6C7-0DBDA009E3AF}"/>
              </a:ext>
            </a:extLst>
          </p:cNvPr>
          <p:cNvSpPr txBox="1"/>
          <p:nvPr/>
        </p:nvSpPr>
        <p:spPr>
          <a:xfrm>
            <a:off x="762000" y="5588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229 испытуемых · 23 признака · вложенная валидация по группам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98D1A766-A8A1-8644-66DB-2026C4C01D1A}"/>
              </a:ext>
            </a:extLst>
          </p:cNvPr>
          <p:cNvSpPr/>
          <p:nvPr/>
        </p:nvSpPr>
        <p:spPr>
          <a:xfrm>
            <a:off x="7747000" y="1651000"/>
            <a:ext cx="3810000" cy="38100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79A979A4-BBBD-B7E6-7994-88B598F1B362}"/>
              </a:ext>
            </a:extLst>
          </p:cNvPr>
          <p:cNvSpPr/>
          <p:nvPr/>
        </p:nvSpPr>
        <p:spPr>
          <a:xfrm>
            <a:off x="9423400" y="1346200"/>
            <a:ext cx="457200" cy="381000"/>
          </a:xfrm>
          <a:prstGeom prst="triangl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5692C47B-4C8C-3631-91DE-74B9270852B5}"/>
              </a:ext>
            </a:extLst>
          </p:cNvPr>
          <p:cNvSpPr/>
          <p:nvPr/>
        </p:nvSpPr>
        <p:spPr>
          <a:xfrm>
            <a:off x="75755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5FB45F9E-56AA-F1FA-9B66-3FB1FA5E1FA8}"/>
              </a:ext>
            </a:extLst>
          </p:cNvPr>
          <p:cNvSpPr/>
          <p:nvPr/>
        </p:nvSpPr>
        <p:spPr>
          <a:xfrm>
            <a:off x="114617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C4B1AB9-CB0F-06FF-AF44-38964EF8D1C1}"/>
              </a:ext>
            </a:extLst>
          </p:cNvPr>
          <p:cNvSpPr/>
          <p:nvPr/>
        </p:nvSpPr>
        <p:spPr>
          <a:xfrm>
            <a:off x="8756650" y="4775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B63AE95-8F98-9168-1947-965E57280B8D}"/>
              </a:ext>
            </a:extLst>
          </p:cNvPr>
          <p:cNvSpPr/>
          <p:nvPr/>
        </p:nvSpPr>
        <p:spPr>
          <a:xfrm>
            <a:off x="9937750" y="4775200"/>
            <a:ext cx="609600" cy="609600"/>
          </a:xfrm>
          <a:prstGeom prst="ellipse">
            <a:avLst/>
          </a:prstGeom>
          <a:solidFill>
            <a:srgbClr val="C9D3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F9FF4199-6062-5D9C-0FFB-7BAE0FE3799A}"/>
              </a:ext>
            </a:extLst>
          </p:cNvPr>
          <p:cNvSpPr/>
          <p:nvPr/>
        </p:nvSpPr>
        <p:spPr>
          <a:xfrm>
            <a:off x="109474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T4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D96AFB4C-813C-9BC0-A29F-7F57D4C4CA7A}"/>
              </a:ext>
            </a:extLst>
          </p:cNvPr>
          <p:cNvSpPr/>
          <p:nvPr/>
        </p:nvSpPr>
        <p:spPr>
          <a:xfrm>
            <a:off x="99377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72E8993F-C0D8-461E-BFFE-F6F1C0BEAF23}"/>
              </a:ext>
            </a:extLst>
          </p:cNvPr>
          <p:cNvSpPr/>
          <p:nvPr/>
        </p:nvSpPr>
        <p:spPr>
          <a:xfrm>
            <a:off x="77470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T3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7C740885-15B2-B0BD-A09F-4EC9A6A89403}"/>
              </a:ext>
            </a:extLst>
          </p:cNvPr>
          <p:cNvSpPr/>
          <p:nvPr/>
        </p:nvSpPr>
        <p:spPr>
          <a:xfrm>
            <a:off x="87566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252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BBF426-328A-537B-FB29-1C22F287687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Данные подсказывают ответ — и это ловушка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8EBDC2D-A6D7-6150-6045-BBAE772E33F9}"/>
              </a:ext>
            </a:extLst>
          </p:cNvPr>
          <p:cNvSpPr/>
          <p:nvPr/>
        </p:nvSpPr>
        <p:spPr>
          <a:xfrm>
            <a:off x="508000" y="1270000"/>
            <a:ext cx="5080000" cy="4826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3F06B1-91CD-10CE-1F45-5AD82B7B94CA}"/>
              </a:ext>
            </a:extLst>
          </p:cNvPr>
          <p:cNvSpPr txBox="1"/>
          <p:nvPr/>
        </p:nvSpPr>
        <p:spPr>
          <a:xfrm>
            <a:off x="889000" y="1587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200" b="1">
                <a:solidFill>
                  <a:srgbClr val="EB6834"/>
                </a:solidFill>
                <a:latin typeface="Cambria" panose="02040503050406030204" pitchFamily="18" charset="0"/>
              </a:rPr>
              <a:t>0.985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E8D23-BFD2-DF2C-4DB4-E2B3D767CA0F}"/>
              </a:ext>
            </a:extLst>
          </p:cNvPr>
          <p:cNvSpPr txBox="1"/>
          <p:nvPr/>
        </p:nvSpPr>
        <p:spPr>
          <a:xfrm>
            <a:off x="889000" y="2603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правила «формат B → ПТСР»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без анализа сигнала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5410E-EE91-994D-D2D5-211244DB15AB}"/>
              </a:ext>
            </a:extLst>
          </p:cNvPr>
          <p:cNvSpPr txBox="1"/>
          <p:nvPr/>
        </p:nvSpPr>
        <p:spPr>
          <a:xfrm>
            <a:off x="889000" y="34290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все 25 ПТСР выгружены в формате B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45 из 67 норм — формат C: нет межканальной связи и альфы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дополнительная партия норм: копии каналов, другой O2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AE6151-BBE9-EA3A-37AD-1B01D619D14B}"/>
              </a:ext>
            </a:extLst>
          </p:cNvPr>
          <p:cNvSpPr txBox="1"/>
          <p:nvPr/>
        </p:nvSpPr>
        <p:spPr>
          <a:xfrm>
            <a:off x="6223000" y="1397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229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51F6B1-B8E6-D708-8889-7AC99A8A784F}"/>
              </a:ext>
            </a:extLst>
          </p:cNvPr>
          <p:cNvSpPr txBox="1"/>
          <p:nvPr/>
        </p:nvSpPr>
        <p:spPr>
          <a:xfrm>
            <a:off x="6223000" y="2006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испытуемых → 221 независимая группа (копии записей объединены)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E59B15-905F-632B-2DAF-7BDAE82DBF86}"/>
              </a:ext>
            </a:extLst>
          </p:cNvPr>
          <p:cNvSpPr txBox="1"/>
          <p:nvPr/>
        </p:nvSpPr>
        <p:spPr>
          <a:xfrm>
            <a:off x="6223000" y="285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B77BF5-27FE-EFB8-058C-FD52AE3CD9DE}"/>
              </a:ext>
            </a:extLst>
          </p:cNvPr>
          <p:cNvSpPr txBox="1"/>
          <p:nvPr/>
        </p:nvSpPr>
        <p:spPr>
          <a:xfrm>
            <a:off x="6223000" y="34671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формата выгрузки EDF, почти совпадающих с диагнозом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8D8BD2-8944-EB30-AA9D-7A06A02C11BF}"/>
              </a:ext>
            </a:extLst>
          </p:cNvPr>
          <p:cNvSpPr txBox="1"/>
          <p:nvPr/>
        </p:nvSpPr>
        <p:spPr>
          <a:xfrm>
            <a:off x="6223000" y="4318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8F0088-6E9B-3B5E-F904-8E0F1BAA2362}"/>
              </a:ext>
            </a:extLst>
          </p:cNvPr>
          <p:cNvSpPr txBox="1"/>
          <p:nvPr/>
        </p:nvSpPr>
        <p:spPr>
          <a:xfrm>
            <a:off x="6223000" y="4927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сухих электродов, референт на левом ухе, без Fz/Cz/Pz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DA7B5-2CFC-E2BB-2EAA-618CBC480E26}"/>
              </a:ext>
            </a:extLst>
          </p:cNvPr>
          <p:cNvSpPr txBox="1"/>
          <p:nvPr/>
        </p:nvSpPr>
        <p:spPr>
          <a:xfrm>
            <a:off x="508000" y="62484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Высокий AUC ≠ физиология. Каждый результат проверяем по стратам «когорта × формат × партия».</a:t>
            </a:r>
          </a:p>
        </p:txBody>
      </p:sp>
    </p:spTree>
    <p:extLst>
      <p:ext uri="{BB962C8B-B14F-4D97-AF65-F5344CB8AC3E}">
        <p14:creationId xmlns:p14="http://schemas.microsoft.com/office/powerpoint/2010/main" val="695227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517D80-A6CC-EC0B-91D1-FF3B5C1A9629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Конвейер и валидация без утечки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EBCB55D0-1DB7-87C0-F89A-AD4AE7BAAA82}"/>
              </a:ext>
            </a:extLst>
          </p:cNvPr>
          <p:cNvSpPr/>
          <p:nvPr/>
        </p:nvSpPr>
        <p:spPr>
          <a:xfrm>
            <a:off x="50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3C609A99-5D04-288C-98B1-F1D7DC74468C}"/>
              </a:ext>
            </a:extLst>
          </p:cNvPr>
          <p:cNvSpPr/>
          <p:nvPr/>
        </p:nvSpPr>
        <p:spPr>
          <a:xfrm>
            <a:off x="66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559BE0-4E74-DB6A-1054-0C588474DDB6}"/>
              </a:ext>
            </a:extLst>
          </p:cNvPr>
          <p:cNvSpPr txBox="1"/>
          <p:nvPr/>
        </p:nvSpPr>
        <p:spPr>
          <a:xfrm>
            <a:off x="66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4213D"/>
                </a:solidFill>
                <a:latin typeface="Calibri" panose="020F0502020204030204" pitchFamily="34" charset="0"/>
              </a:rPr>
              <a:t>EDF</a:t>
            </a:r>
            <a:endParaRPr lang="ru-RU" sz="17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5B7EE-4E23-1597-D5BC-8203E2598C38}"/>
              </a:ext>
            </a:extLst>
          </p:cNvPr>
          <p:cNvSpPr txBox="1"/>
          <p:nvPr/>
        </p:nvSpPr>
        <p:spPr>
          <a:xfrm>
            <a:off x="66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6 каналов по имени, мкВ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6E77C42-1EC2-F8B0-2065-14E1E09D6C2A}"/>
              </a:ext>
            </a:extLst>
          </p:cNvPr>
          <p:cNvSpPr/>
          <p:nvPr/>
        </p:nvSpPr>
        <p:spPr>
          <a:xfrm>
            <a:off x="241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6850C4E3-00C4-48FD-5584-88D0224602C4}"/>
              </a:ext>
            </a:extLst>
          </p:cNvPr>
          <p:cNvSpPr/>
          <p:nvPr/>
        </p:nvSpPr>
        <p:spPr>
          <a:xfrm>
            <a:off x="256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A4B040-8186-8E41-5111-91BD752FF6DE}"/>
              </a:ext>
            </a:extLst>
          </p:cNvPr>
          <p:cNvSpPr txBox="1"/>
          <p:nvPr/>
        </p:nvSpPr>
        <p:spPr>
          <a:xfrm>
            <a:off x="256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125 Гц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C8E0A7-E1B6-0506-8896-42DEDCCBC5BB}"/>
              </a:ext>
            </a:extLst>
          </p:cNvPr>
          <p:cNvSpPr txBox="1"/>
          <p:nvPr/>
        </p:nvSpPr>
        <p:spPr>
          <a:xfrm>
            <a:off x="256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ресэмплинг, ФНЧ 40 Гц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A19AE4DB-D35F-3D83-3E78-C5E9F608F8AE}"/>
              </a:ext>
            </a:extLst>
          </p:cNvPr>
          <p:cNvSpPr/>
          <p:nvPr/>
        </p:nvSpPr>
        <p:spPr>
          <a:xfrm>
            <a:off x="431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6EC3C5D2-F6B5-0E3C-2D37-FE90D570A4C5}"/>
              </a:ext>
            </a:extLst>
          </p:cNvPr>
          <p:cNvSpPr/>
          <p:nvPr/>
        </p:nvSpPr>
        <p:spPr>
          <a:xfrm>
            <a:off x="447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E4ED1B-BA13-26E6-4055-9ABA5F134086}"/>
              </a:ext>
            </a:extLst>
          </p:cNvPr>
          <p:cNvSpPr txBox="1"/>
          <p:nvPr/>
        </p:nvSpPr>
        <p:spPr>
          <a:xfrm>
            <a:off x="447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Окна 4 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05880-A9C0-BF4A-F2F9-306BCA3F5FD7}"/>
              </a:ext>
            </a:extLst>
          </p:cNvPr>
          <p:cNvSpPr txBox="1"/>
          <p:nvPr/>
        </p:nvSpPr>
        <p:spPr>
          <a:xfrm>
            <a:off x="447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отбраковка по общим порогам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1D5F0FEF-F790-A4E5-94B7-EDF45E66B7BA}"/>
              </a:ext>
            </a:extLst>
          </p:cNvPr>
          <p:cNvSpPr/>
          <p:nvPr/>
        </p:nvSpPr>
        <p:spPr>
          <a:xfrm>
            <a:off x="622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1AFB63BE-41A3-7975-7CD1-D465E71D3413}"/>
              </a:ext>
            </a:extLst>
          </p:cNvPr>
          <p:cNvSpPr/>
          <p:nvPr/>
        </p:nvSpPr>
        <p:spPr>
          <a:xfrm>
            <a:off x="637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6BFFA6-58A7-08D1-C5E8-8FE2A8C06EBC}"/>
              </a:ext>
            </a:extLst>
          </p:cNvPr>
          <p:cNvSpPr txBox="1"/>
          <p:nvPr/>
        </p:nvSpPr>
        <p:spPr>
          <a:xfrm>
            <a:off x="637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Спектр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CD75BB-58C8-C1A9-BEB3-26F564EA4FFB}"/>
              </a:ext>
            </a:extLst>
          </p:cNvPr>
          <p:cNvSpPr txBox="1"/>
          <p:nvPr/>
        </p:nvSpPr>
        <p:spPr>
          <a:xfrm>
            <a:off x="637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лог-среднее периодограмм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AB31AAB1-4388-C305-1CBA-7C8AC23ECF55}"/>
              </a:ext>
            </a:extLst>
          </p:cNvPr>
          <p:cNvSpPr/>
          <p:nvPr/>
        </p:nvSpPr>
        <p:spPr>
          <a:xfrm>
            <a:off x="812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9C71925F-1CBC-F501-888B-F437210EB8A5}"/>
              </a:ext>
            </a:extLst>
          </p:cNvPr>
          <p:cNvSpPr/>
          <p:nvPr/>
        </p:nvSpPr>
        <p:spPr>
          <a:xfrm>
            <a:off x="828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54226B-53AE-3326-D1CB-1931B092AB7C}"/>
              </a:ext>
            </a:extLst>
          </p:cNvPr>
          <p:cNvSpPr txBox="1"/>
          <p:nvPr/>
        </p:nvSpPr>
        <p:spPr>
          <a:xfrm>
            <a:off x="828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23 признака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64C1E3-C3A5-8D95-DAA9-86BB5E3E1D41}"/>
              </a:ext>
            </a:extLst>
          </p:cNvPr>
          <p:cNvSpPr txBox="1"/>
          <p:nvPr/>
        </p:nvSpPr>
        <p:spPr>
          <a:xfrm>
            <a:off x="828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доли ритмов, альфа-пик, наклон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8F863E0E-3C99-1577-9FEE-BAF3D5314B5F}"/>
              </a:ext>
            </a:extLst>
          </p:cNvPr>
          <p:cNvSpPr/>
          <p:nvPr/>
        </p:nvSpPr>
        <p:spPr>
          <a:xfrm>
            <a:off x="1003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B0D2F18E-D699-2FFD-D7D9-D3D1C4F80167}"/>
              </a:ext>
            </a:extLst>
          </p:cNvPr>
          <p:cNvSpPr/>
          <p:nvPr/>
        </p:nvSpPr>
        <p:spPr>
          <a:xfrm>
            <a:off x="1018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474E8F-E33B-D189-EAB7-26E57519E02A}"/>
              </a:ext>
            </a:extLst>
          </p:cNvPr>
          <p:cNvSpPr txBox="1"/>
          <p:nvPr/>
        </p:nvSpPr>
        <p:spPr>
          <a:xfrm>
            <a:off x="1018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Модель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CF2EF3-1719-B67D-75A8-D6596DBBA1B2}"/>
              </a:ext>
            </a:extLst>
          </p:cNvPr>
          <p:cNvSpPr txBox="1"/>
          <p:nvPr/>
        </p:nvSpPr>
        <p:spPr>
          <a:xfrm>
            <a:off x="1018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логрегрессия </a:t>
            </a:r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L2 + </a:t>
            </a:r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калибровка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89421090-DBB4-1049-68AF-DF3091110716}"/>
              </a:ext>
            </a:extLst>
          </p:cNvPr>
          <p:cNvSpPr/>
          <p:nvPr/>
        </p:nvSpPr>
        <p:spPr>
          <a:xfrm>
            <a:off x="508000" y="3810000"/>
            <a:ext cx="11176000" cy="241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0456F5-80BD-1B30-0D98-03006D003546}"/>
              </a:ext>
            </a:extLst>
          </p:cNvPr>
          <p:cNvSpPr txBox="1"/>
          <p:nvPr/>
        </p:nvSpPr>
        <p:spPr>
          <a:xfrm>
            <a:off x="889000" y="40894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Валидация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393A97-EF74-C9E7-46F7-00B7E0269A8E}"/>
              </a:ext>
            </a:extLst>
          </p:cNvPr>
          <p:cNvSpPr txBox="1"/>
          <p:nvPr/>
        </p:nvSpPr>
        <p:spPr>
          <a:xfrm>
            <a:off x="889000" y="4597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внешний цикл: leave-one-group-out по группам дубликатов — 221 фолд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выбор признаков, C, отрицательного класса и калибровки — только внутри фолда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критерий выбора повторяет формулу оценки ТЗ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7 протоколов фиксировались до запуска; показаны и неудачные</a:t>
            </a:r>
          </a:p>
        </p:txBody>
      </p:sp>
    </p:spTree>
    <p:extLst>
      <p:ext uri="{BB962C8B-B14F-4D97-AF65-F5344CB8AC3E}">
        <p14:creationId xmlns:p14="http://schemas.microsoft.com/office/powerpoint/2010/main" val="106950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CEBA1C-D3BF-726F-A193-1C38804CD77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Признаки и физиология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E6B33B8-23E7-75D9-E00E-51E27046F5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895" y="1117599"/>
            <a:ext cx="11072211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AC6ED0F-DC11-EE2E-343D-071BE15480B0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0A6E0-B7AC-29F1-9FEC-9EAAA3CA737D}"/>
              </a:ext>
            </a:extLst>
          </p:cNvPr>
          <p:cNvSpPr txBox="1"/>
          <p:nvPr/>
        </p:nvSpPr>
        <p:spPr>
          <a:xfrm>
            <a:off x="73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Затылочная альфа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3B67F-480C-AEB1-4271-05729BD8FD09}"/>
              </a:ext>
            </a:extLst>
          </p:cNvPr>
          <p:cNvSpPr txBox="1"/>
          <p:nvPr/>
        </p:nvSpPr>
        <p:spPr>
          <a:xfrm>
            <a:off x="73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у ПТСР не снижена — отделяет пожилых с возрастным ослаблением альфы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D54A3D8-CD8E-579E-600C-62076FE38629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06D4E-2623-9B57-8F33-B64A1ED0D533}"/>
              </a:ext>
            </a:extLst>
          </p:cNvPr>
          <p:cNvSpPr txBox="1"/>
          <p:nvPr/>
        </p:nvSpPr>
        <p:spPr>
          <a:xfrm>
            <a:off x="454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Наклон спектра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B846D-609A-F209-11FD-201DF2D6EFB6}"/>
              </a:ext>
            </a:extLst>
          </p:cNvPr>
          <p:cNvSpPr txBox="1"/>
          <p:nvPr/>
        </p:nvSpPr>
        <p:spPr>
          <a:xfrm>
            <a:off x="454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площе на O1, T3, T4 — гипервозбуждение, но так же при старении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030E2D7B-9E56-594C-AB31-0C9FB7AD6BC9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A0DF8-F309-FE6F-1C46-02C9EB98A33A}"/>
              </a:ext>
            </a:extLst>
          </p:cNvPr>
          <p:cNvSpPr txBox="1"/>
          <p:nvPr/>
        </p:nvSpPr>
        <p:spPr>
          <a:xfrm>
            <a:off x="835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Лобная тета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B07A75-7482-F955-7B96-E7394EF035CC}"/>
              </a:ext>
            </a:extLst>
          </p:cNvPr>
          <p:cNvSpPr txBox="1"/>
          <p:nvPr/>
        </p:nvSpPr>
        <p:spPr>
          <a:xfrm>
            <a:off x="835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чуть выше — сниженное бодрствование, нарушения сна</a:t>
            </a:r>
          </a:p>
        </p:txBody>
      </p:sp>
    </p:spTree>
    <p:extLst>
      <p:ext uri="{BB962C8B-B14F-4D97-AF65-F5344CB8AC3E}">
        <p14:creationId xmlns:p14="http://schemas.microsoft.com/office/powerpoint/2010/main" val="696872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72141F-A55A-78C9-9B68-9E010E34E22E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Результат вне выборки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3E57106-F1B8-1D5C-E9FA-3B80C3350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1092199"/>
            <a:ext cx="5334000" cy="52299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3C3050-9D76-1D9B-C729-B030C914E7CB}"/>
              </a:ext>
            </a:extLst>
          </p:cNvPr>
          <p:cNvSpPr txBox="1"/>
          <p:nvPr/>
        </p:nvSpPr>
        <p:spPr>
          <a:xfrm>
            <a:off x="6604000" y="1270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800" b="1">
                <a:solidFill>
                  <a:srgbClr val="EB6834"/>
                </a:solidFill>
                <a:latin typeface="Cambria" panose="02040503050406030204" pitchFamily="18" charset="0"/>
              </a:rPr>
              <a:t>0.84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AEA672-57DF-011C-296F-1A34DC10C7E1}"/>
              </a:ext>
            </a:extLst>
          </p:cNvPr>
          <p:cNvSpPr txBox="1"/>
          <p:nvPr/>
        </p:nvSpPr>
        <p:spPr>
          <a:xfrm>
            <a:off x="6604000" y="1981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ПТСР / нормы моложе 65 лет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95% ДИ 0.77–0.90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59D060-D1C9-0AF1-2F86-5C8D47CE29CA}"/>
              </a:ext>
            </a:extLst>
          </p:cNvPr>
          <p:cNvSpPr txBox="1"/>
          <p:nvPr/>
        </p:nvSpPr>
        <p:spPr>
          <a:xfrm>
            <a:off x="6604000" y="2730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F42176-D7E4-F2A4-7A16-196D2B7B7098}"/>
              </a:ext>
            </a:extLst>
          </p:cNvPr>
          <p:cNvSpPr txBox="1"/>
          <p:nvPr/>
        </p:nvSpPr>
        <p:spPr>
          <a:xfrm>
            <a:off x="6604000" y="32893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без формата C (нормы A, B, доп. партия)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4541-2D4E-6353-447E-E98B3961A700}"/>
              </a:ext>
            </a:extLst>
          </p:cNvPr>
          <p:cNvSpPr txBox="1"/>
          <p:nvPr/>
        </p:nvSpPr>
        <p:spPr>
          <a:xfrm>
            <a:off x="6604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0.80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8AC58-7721-4F82-A868-0A771EA551B2}"/>
              </a:ext>
            </a:extLst>
          </p:cNvPr>
          <p:cNvSpPr txBox="1"/>
          <p:nvPr/>
        </p:nvSpPr>
        <p:spPr>
          <a:xfrm>
            <a:off x="6604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чувствительность при пороге 0.5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3FD2FE-1AB0-CBCD-DDE7-F712A15C8CB4}"/>
              </a:ext>
            </a:extLst>
          </p:cNvPr>
          <p:cNvSpPr txBox="1"/>
          <p:nvPr/>
        </p:nvSpPr>
        <p:spPr>
          <a:xfrm>
            <a:off x="9271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21D9F1-A21B-88A9-36E5-D06AC353145B}"/>
              </a:ext>
            </a:extLst>
          </p:cNvPr>
          <p:cNvSpPr txBox="1"/>
          <p:nvPr/>
        </p:nvSpPr>
        <p:spPr>
          <a:xfrm>
            <a:off x="9271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сбалансированная точность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F5EF43-2155-A856-C937-95D4C29D927A}"/>
              </a:ext>
            </a:extLst>
          </p:cNvPr>
          <p:cNvSpPr txBox="1"/>
          <p:nvPr/>
        </p:nvSpPr>
        <p:spPr>
          <a:xfrm>
            <a:off x="6604000" y="5461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Бутстрэп групп, 2000 повторов. На обучающих данных AUC 0.92 — поэтому считаем только вне выборки.</a:t>
            </a:r>
          </a:p>
        </p:txBody>
      </p:sp>
    </p:spTree>
    <p:extLst>
      <p:ext uri="{BB962C8B-B14F-4D97-AF65-F5344CB8AC3E}">
        <p14:creationId xmlns:p14="http://schemas.microsoft.com/office/powerpoint/2010/main" val="290310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63DD1D-0B4B-B4BD-2B88-38A04455557D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Старение отделяется, соматоформные — хуже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189DCE6-FFE7-CDE9-BBCE-1EBADA10D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508" y="1142999"/>
            <a:ext cx="9114985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52660E-66CD-7ED5-0624-5040DE5936C7}"/>
              </a:ext>
            </a:extLst>
          </p:cNvPr>
          <p:cNvSpPr txBox="1"/>
          <p:nvPr/>
        </p:nvSpPr>
        <p:spPr>
          <a:xfrm>
            <a:off x="762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BAF7A"/>
                </a:solidFill>
                <a:latin typeface="Cambria" panose="02040503050406030204" pitchFamily="18" charset="0"/>
              </a:rPr>
              <a:t>0.78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BC8E1E-AAFB-B1B3-038A-0E11699281B5}"/>
              </a:ext>
            </a:extLst>
          </p:cNvPr>
          <p:cNvSpPr txBox="1"/>
          <p:nvPr/>
        </p:nvSpPr>
        <p:spPr>
          <a:xfrm>
            <a:off x="762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нормы 65+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C89259-94C3-0EAC-7490-438A512ABA93}"/>
              </a:ext>
            </a:extLst>
          </p:cNvPr>
          <p:cNvSpPr txBox="1"/>
          <p:nvPr/>
        </p:nvSpPr>
        <p:spPr>
          <a:xfrm>
            <a:off x="4318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EB6834"/>
                </a:solidFill>
                <a:latin typeface="Cambria" panose="02040503050406030204" pitchFamily="18" charset="0"/>
              </a:rPr>
              <a:t>0.58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4560A5-BD46-21BF-5EC3-72844865B03B}"/>
              </a:ext>
            </a:extLst>
          </p:cNvPr>
          <p:cNvSpPr txBox="1"/>
          <p:nvPr/>
        </p:nvSpPr>
        <p:spPr>
          <a:xfrm>
            <a:off x="4318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соматоформные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1C54CB-B581-FE30-5B9E-76F49CEADBC8}"/>
              </a:ext>
            </a:extLst>
          </p:cNvPr>
          <p:cNvSpPr txBox="1"/>
          <p:nvPr/>
        </p:nvSpPr>
        <p:spPr>
          <a:xfrm>
            <a:off x="7874000" y="5232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Ложноположительные — с сохранной затылочной альфой: пожилые с «молодой» ЭЭГ и соматоформные, клинически близкие к ПТСР (тревога, соматическое возбуждение, травматический опыт).</a:t>
            </a:r>
          </a:p>
        </p:txBody>
      </p:sp>
    </p:spTree>
    <p:extLst>
      <p:ext uri="{BB962C8B-B14F-4D97-AF65-F5344CB8AC3E}">
        <p14:creationId xmlns:p14="http://schemas.microsoft.com/office/powerpoint/2010/main" val="243501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94D0A3-6B21-CA25-5E2E-00F699B432EB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Что результат не объясняет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5EBAB1-64B5-ADBD-5A27-E200889DAF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99" y="1066799"/>
            <a:ext cx="10108602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BD121533-B0BB-9A73-0811-E8D6CE1C969F}"/>
              </a:ext>
            </a:extLst>
          </p:cNvPr>
          <p:cNvSpPr/>
          <p:nvPr/>
        </p:nvSpPr>
        <p:spPr>
          <a:xfrm>
            <a:off x="5080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88AD946F-CE71-BF85-29B7-51898A1B974B}"/>
              </a:ext>
            </a:extLst>
          </p:cNvPr>
          <p:cNvSpPr/>
          <p:nvPr/>
        </p:nvSpPr>
        <p:spPr>
          <a:xfrm>
            <a:off x="6858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E47274-99B4-9E86-F074-95150193C6D2}"/>
              </a:ext>
            </a:extLst>
          </p:cNvPr>
          <p:cNvSpPr txBox="1"/>
          <p:nvPr/>
        </p:nvSpPr>
        <p:spPr>
          <a:xfrm>
            <a:off x="6858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Формат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FAB439-299F-52E7-6F14-2B41BE037C0D}"/>
              </a:ext>
            </a:extLst>
          </p:cNvPr>
          <p:cNvSpPr txBox="1"/>
          <p:nvPr/>
        </p:nvSpPr>
        <p:spPr>
          <a:xfrm>
            <a:off x="6858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формата B AUC 0.81, метаданные — 0.00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D8CE068-E3A0-D663-773B-A1E9321145EE}"/>
              </a:ext>
            </a:extLst>
          </p:cNvPr>
          <p:cNvSpPr/>
          <p:nvPr/>
        </p:nvSpPr>
        <p:spPr>
          <a:xfrm>
            <a:off x="27686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D4E15115-07F5-B16D-1ECA-0FDB0A81E0A1}"/>
              </a:ext>
            </a:extLst>
          </p:cNvPr>
          <p:cNvSpPr/>
          <p:nvPr/>
        </p:nvSpPr>
        <p:spPr>
          <a:xfrm>
            <a:off x="29464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988CC7-74D3-1CC9-7E9D-C8A5B4AB27B2}"/>
              </a:ext>
            </a:extLst>
          </p:cNvPr>
          <p:cNvSpPr txBox="1"/>
          <p:nvPr/>
        </p:nvSpPr>
        <p:spPr>
          <a:xfrm>
            <a:off x="29464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Качество записи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80D0F7-7F97-8CCC-04E3-B55ABB0AC9CA}"/>
              </a:ext>
            </a:extLst>
          </p:cNvPr>
          <p:cNvSpPr txBox="1"/>
          <p:nvPr/>
        </p:nvSpPr>
        <p:spPr>
          <a:xfrm>
            <a:off x="29464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модель на качестве — AUC 0.50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15FE76F8-329C-6563-2C0D-D583C867E5AA}"/>
              </a:ext>
            </a:extLst>
          </p:cNvPr>
          <p:cNvSpPr/>
          <p:nvPr/>
        </p:nvSpPr>
        <p:spPr>
          <a:xfrm>
            <a:off x="50292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928801FC-4FB5-8B57-2498-C4BF98EC3D08}"/>
              </a:ext>
            </a:extLst>
          </p:cNvPr>
          <p:cNvSpPr/>
          <p:nvPr/>
        </p:nvSpPr>
        <p:spPr>
          <a:xfrm>
            <a:off x="52070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FEBB-D4B8-A780-2481-0E17F60DA47E}"/>
              </a:ext>
            </a:extLst>
          </p:cNvPr>
          <p:cNvSpPr txBox="1"/>
          <p:nvPr/>
        </p:nvSpPr>
        <p:spPr>
          <a:xfrm>
            <a:off x="52070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Возраст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1A6829-735B-C203-B8B4-7B3F973C2404}"/>
              </a:ext>
            </a:extLst>
          </p:cNvPr>
          <p:cNvSpPr txBox="1"/>
          <p:nvPr/>
        </p:nvSpPr>
        <p:spPr>
          <a:xfrm>
            <a:off x="52070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партии R² ≈ 0, P не связана с возрастом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209812AB-3AF7-3122-F4C4-E9DD66967E4B}"/>
              </a:ext>
            </a:extLst>
          </p:cNvPr>
          <p:cNvSpPr/>
          <p:nvPr/>
        </p:nvSpPr>
        <p:spPr>
          <a:xfrm>
            <a:off x="72898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29662F62-5C86-FDDD-BF09-355FF5844D06}"/>
              </a:ext>
            </a:extLst>
          </p:cNvPr>
          <p:cNvSpPr/>
          <p:nvPr/>
        </p:nvSpPr>
        <p:spPr>
          <a:xfrm>
            <a:off x="74676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45C4F5-558B-3E5A-C0FF-B696F25B6308}"/>
              </a:ext>
            </a:extLst>
          </p:cNvPr>
          <p:cNvSpPr txBox="1"/>
          <p:nvPr/>
        </p:nvSpPr>
        <p:spPr>
          <a:xfrm>
            <a:off x="74676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Поведение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CB0068-B2A2-3D66-25FD-5223B2683DD4}"/>
              </a:ext>
            </a:extLst>
          </p:cNvPr>
          <p:cNvSpPr txBox="1"/>
          <p:nvPr/>
        </p:nvSpPr>
        <p:spPr>
          <a:xfrm>
            <a:off x="74676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P не растёт со временем решения таблиц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B8DC24ED-845C-CEE2-B826-115612D92D16}"/>
              </a:ext>
            </a:extLst>
          </p:cNvPr>
          <p:cNvSpPr/>
          <p:nvPr/>
        </p:nvSpPr>
        <p:spPr>
          <a:xfrm>
            <a:off x="95504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B818A5D8-7B30-1AAF-CB47-E0545297126E}"/>
              </a:ext>
            </a:extLst>
          </p:cNvPr>
          <p:cNvSpPr/>
          <p:nvPr/>
        </p:nvSpPr>
        <p:spPr>
          <a:xfrm>
            <a:off x="9728200" y="4622800"/>
            <a:ext cx="355600" cy="355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!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41341F-C7BC-70A8-3887-AC2057AB4573}"/>
              </a:ext>
            </a:extLst>
          </p:cNvPr>
          <p:cNvSpPr txBox="1"/>
          <p:nvPr/>
        </p:nvSpPr>
        <p:spPr>
          <a:xfrm>
            <a:off x="97282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Ограничение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21B347-BF28-B0E0-0037-BA94CC5F9B75}"/>
              </a:ext>
            </a:extLst>
          </p:cNvPr>
          <p:cNvSpPr txBox="1"/>
          <p:nvPr/>
        </p:nvSpPr>
        <p:spPr>
          <a:xfrm>
            <a:off x="97282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без T3/T4 AUC против молодых норм A/B — 0.56</a:t>
            </a:r>
          </a:p>
        </p:txBody>
      </p:sp>
    </p:spTree>
    <p:extLst>
      <p:ext uri="{BB962C8B-B14F-4D97-AF65-F5344CB8AC3E}">
        <p14:creationId xmlns:p14="http://schemas.microsoft.com/office/powerpoint/2010/main" val="1476942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BABDC2-E1A7-2407-822A-ED080CCC47A3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 поведением и без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5FCE7E-15DB-B28F-8A4C-7EBC79B624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417" y="1041399"/>
            <a:ext cx="9195166" cy="406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EE2F8C-61C5-BA16-B345-81DC63581F4F}"/>
              </a:ext>
            </a:extLst>
          </p:cNvPr>
          <p:cNvSpPr txBox="1"/>
          <p:nvPr/>
        </p:nvSpPr>
        <p:spPr>
          <a:xfrm>
            <a:off x="762000" y="5270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0.75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96D81-1CC6-0533-AC5E-3088888887BA}"/>
              </a:ext>
            </a:extLst>
          </p:cNvPr>
          <p:cNvSpPr txBox="1"/>
          <p:nvPr/>
        </p:nvSpPr>
        <p:spPr>
          <a:xfrm>
            <a:off x="762000" y="5930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ЭЭГ + время решения таблиц (0.61 и 0.64 по отдельности)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03F80-BAF9-7619-960D-6AAFE1A60676}"/>
              </a:ext>
            </a:extLst>
          </p:cNvPr>
          <p:cNvSpPr txBox="1"/>
          <p:nvPr/>
        </p:nvSpPr>
        <p:spPr>
          <a:xfrm>
            <a:off x="5080000" y="5334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поведение отделяет молодых норм, но пожилых принимает за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ЭЭГ отделяет пожилых — сигналы дополняют друг друга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сдаём только ЭЭГ: у 85 из 229 нет времени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886804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C83EDD-4FD9-B29B-C199-201E3C650DBB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Бонус: слуховой ответ без меток стимулов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D2E64C-FD71-D3E1-4418-64C247209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17600"/>
            <a:ext cx="11176000" cy="2906699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B51D627-44B5-8DFE-E4AB-459F737C5CF6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9383A25-886D-D052-6955-5A6F4E3F45AF}"/>
              </a:ext>
            </a:extLst>
          </p:cNvPr>
          <p:cNvSpPr/>
          <p:nvPr/>
        </p:nvSpPr>
        <p:spPr>
          <a:xfrm>
            <a:off x="73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показано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130C6D-5304-BECA-C487-A5D8A6E590D5}"/>
              </a:ext>
            </a:extLst>
          </p:cNvPr>
          <p:cNvSpPr txBox="1"/>
          <p:nvPr/>
        </p:nvSpPr>
        <p:spPr>
          <a:xfrm>
            <a:off x="73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удары метронома в покое: p = 0.0005, фронтальный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D6573A0-9D50-1B33-ACEA-A22E3198B883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0F7C75D0-9BD8-57C4-B50D-9C6205DD30BF}"/>
              </a:ext>
            </a:extLst>
          </p:cNvPr>
          <p:cNvSpPr/>
          <p:nvPr/>
        </p:nvSpPr>
        <p:spPr>
          <a:xfrm>
            <a:off x="454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проверено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B1F36-B8A2-B59E-F211-8CF6AC8D22D5}"/>
              </a:ext>
            </a:extLst>
          </p:cNvPr>
          <p:cNvSpPr txBox="1"/>
          <p:nvPr/>
        </p:nvSpPr>
        <p:spPr>
          <a:xfrm>
            <a:off x="454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метод на открытых данных ERP CORE и в гибридной симуляции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A17C5310-D5E2-BE96-147D-BE26578988E2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00F11BCB-F4AE-DEAF-059C-9ED19A182959}"/>
              </a:ext>
            </a:extLst>
          </p:cNvPr>
          <p:cNvSpPr/>
          <p:nvPr/>
        </p:nvSpPr>
        <p:spPr>
          <a:xfrm>
            <a:off x="835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не показано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20E54A-44C0-001C-D999-E555CF5B9746}"/>
              </a:ext>
            </a:extLst>
          </p:cNvPr>
          <p:cNvSpPr txBox="1"/>
          <p:nvPr/>
        </p:nvSpPr>
        <p:spPr>
          <a:xfrm>
            <a:off x="835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девиант (MMN/P3a): p = 0.048 при пороге 0.025</a:t>
            </a:r>
          </a:p>
        </p:txBody>
      </p:sp>
    </p:spTree>
    <p:extLst>
      <p:ext uri="{BB962C8B-B14F-4D97-AF65-F5344CB8AC3E}">
        <p14:creationId xmlns:p14="http://schemas.microsoft.com/office/powerpoint/2010/main" val="3724007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11A0C6-3676-5201-9891-A631660F2388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400" b="1">
                <a:solidFill>
                  <a:srgbClr val="FFFFFF"/>
                </a:solidFill>
                <a:latin typeface="Cambria" panose="02040503050406030204" pitchFamily="18" charset="0"/>
              </a:rPr>
              <a:t>Выводы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91170B9B-3F0E-88A0-ADB1-0BB216D5BD9A}"/>
              </a:ext>
            </a:extLst>
          </p:cNvPr>
          <p:cNvSpPr/>
          <p:nvPr/>
        </p:nvSpPr>
        <p:spPr>
          <a:xfrm>
            <a:off x="762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1AFD18-110E-5FD3-4806-6E621760567F}"/>
              </a:ext>
            </a:extLst>
          </p:cNvPr>
          <p:cNvSpPr txBox="1"/>
          <p:nvPr/>
        </p:nvSpPr>
        <p:spPr>
          <a:xfrm>
            <a:off x="762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работает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EAE501-6DC9-16A5-7092-7A8DB7763F4D}"/>
              </a:ext>
            </a:extLst>
          </p:cNvPr>
          <p:cNvSpPr txBox="1"/>
          <p:nvPr/>
        </p:nvSpPr>
        <p:spPr>
          <a:xfrm>
            <a:off x="762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AUC 0.84 вне выборки, чувствительность 0.80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надёжное отделение нормального старения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без утечки: группы дубликатов, выбор внутри фолдов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AE910172-4007-7D3A-9D6A-117FB1589C47}"/>
              </a:ext>
            </a:extLst>
          </p:cNvPr>
          <p:cNvSpPr/>
          <p:nvPr/>
        </p:nvSpPr>
        <p:spPr>
          <a:xfrm>
            <a:off x="4445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597E71-6AC4-E5A2-FF37-EAF3C8DE9E8C}"/>
              </a:ext>
            </a:extLst>
          </p:cNvPr>
          <p:cNvSpPr txBox="1"/>
          <p:nvPr/>
        </p:nvSpPr>
        <p:spPr>
          <a:xfrm>
            <a:off x="4445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Ограничения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06ED0-A3B7-A510-3A41-6AC9CCAEEF9E}"/>
              </a:ext>
            </a:extLst>
          </p:cNvPr>
          <p:cNvSpPr txBox="1"/>
          <p:nvPr/>
        </p:nvSpPr>
        <p:spPr>
          <a:xfrm>
            <a:off x="4445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 молодыми нормами — опора на T3/T4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соматоформные: специфичность 0.58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когорты различаются не только диагнозом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0A4969B1-FA71-BD5C-8B20-10B751EF11C8}"/>
              </a:ext>
            </a:extLst>
          </p:cNvPr>
          <p:cNvSpPr/>
          <p:nvPr/>
        </p:nvSpPr>
        <p:spPr>
          <a:xfrm>
            <a:off x="8128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D3F6D4-7842-0053-7AF4-FAE0794AF7A0}"/>
              </a:ext>
            </a:extLst>
          </p:cNvPr>
          <p:cNvSpPr txBox="1"/>
          <p:nvPr/>
        </p:nvSpPr>
        <p:spPr>
          <a:xfrm>
            <a:off x="8128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дальше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B5D6E4-F2AB-8BDA-B6BF-4284F7B5E332}"/>
              </a:ext>
            </a:extLst>
          </p:cNvPr>
          <p:cNvSpPr txBox="1"/>
          <p:nvPr/>
        </p:nvSpPr>
        <p:spPr>
          <a:xfrm>
            <a:off x="8128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контроль с боевой травмой без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одна гарнитура и экспорт для всех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шкалы тяжести, лекарства, ЧМТ, сон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D5B853-F199-CA52-4F15-07C5DE8BA7C4}"/>
              </a:ext>
            </a:extLst>
          </p:cNvPr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Код, ноутбуки, аудит данных и клиническая интерпретация — в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317478909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1259</Words>
  <Application>Microsoft Office PowerPoint</Application>
  <PresentationFormat>Произвольный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Игорь Яцун</dc:creator>
  <cp:lastModifiedBy>Игорь Яцун</cp:lastModifiedBy>
  <cp:revision>1</cp:revision>
  <dcterms:created xsi:type="dcterms:W3CDTF">2026-09-27T11:29:39Z</dcterms:created>
  <dcterms:modified xsi:type="dcterms:W3CDTF">2026-09-27T11:29:39Z</dcterms:modified>
</cp:coreProperties>
</file>