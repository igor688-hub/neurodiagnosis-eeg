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412BFF-2002-D34A-2697-97AA9BBCA6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63C4930-EDA4-EA9E-C93E-0EEAC1CB90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60A4C64-403E-1983-EEA8-F539822DF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4BBCD49-663F-4A98-179F-A3728D85D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719D050-CD3F-88B0-AD71-ACBFC37B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8471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AC878A-7BC2-08AF-49C0-D19DFE29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37A85B-1F0D-95D4-C9FA-F7B102512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999F85-197B-A071-4CD0-DFA0BEE5C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F7B8A7-36BA-A29D-F54C-A0D00FD0E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11AB8D-61E9-5727-33BB-7581F1BA0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6135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96759D-7DE8-5A8A-6A15-D19027EB2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7E95DB8-B8EF-E5A9-F2D3-BB7ECECDD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58019B-157C-4D37-8B92-6BF88FBA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48C7A1-E918-8223-0EB7-13C808A24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FBDE5E-1CE1-DA84-68F4-BC3E11D52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6197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82D723-994A-3A69-EDEC-1EFB45E4A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C42255-F5BE-8C4E-8E9F-28ABF1FA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C7EF4CD-978C-B000-B817-1B28B100E9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04930F8-0E2B-CB94-A0F2-8959BDB38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CD5AB0-0268-48C7-3F51-138FD994B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817227F-5894-68CF-C23E-0A5FA99AC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56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78D667-C799-0332-AE30-5F63C8F8A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2AB4330-A59B-E662-023A-1B6F52370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722AD97-73BC-333F-4260-FCC35A4D92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6418EE7-527B-8ADF-6468-AF58628646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F5262E9-398B-9552-D0ED-15190F36E1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0AC83ED-BABA-7292-2AB7-FA933DCC7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4BF76E2-08A2-7EF4-4291-1F9DE56E0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A44BC9D-2F9A-060E-F02F-6E1A5DF71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7026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373161-A7C8-EB79-0392-273CBA3DF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0FF028A-56F3-F1C3-F50B-BAB72F1B1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9BEC32C-0575-75A1-1BAB-203883C71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A8ED1D-0F31-A4F9-FA2E-102F116C7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7117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AAEE2BB-0DC7-64D3-C074-7B7A06814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F2AD0B6-E604-056B-5261-55027CF1F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CB4152B-18D6-6BD2-8929-A35BB3B5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2334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9F614F-B70F-B500-7FA2-071F9D85E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466CAF6-3A9A-18EF-10AF-63AB93AC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06FA154-DECB-990E-0E06-33F597566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8F850BE-B470-5A12-268B-697761FE8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27C5B5D-AB7A-D255-F3FD-2F37F766F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59258E7-0898-9040-D607-D6A1B0CB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0408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380ED1-7ADA-5E9F-4B31-B89B144C4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56A0856-DF14-9B5D-6C31-43021DE71E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80EA323-388D-F24E-19A4-CEABCE8D89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E749815-E629-C611-3E72-95284D50D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04EED-6E78-ABB0-7DF7-E64361A1B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603D2-16BE-C5E1-AD4C-B3E83A1FA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0356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904A16-67E4-9D10-F206-F0133B335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0CD55FB-379D-A4E4-7623-B3FF7C2CA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5AE6EE6-9D3D-27A8-C5F5-59209943A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4C4F331-1AE6-D93A-8144-E82F5D4EE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133B77-12EA-4CC7-D813-ABFC3CC26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1973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5913403-E462-D0C9-0B89-0C560921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E4A95AE-75D2-2EFA-F707-47121E5CA8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F6A1A3-6349-6C51-C23E-D63AFF5C9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132341-0B9D-46BA-0E82-5CDF3F997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AA292E-13AF-34AC-C405-4409B0023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1993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FC36CD-EEB6-7D41-213A-B286C6D0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C5A87B-2F7E-C356-2EFD-00F3925B0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09D999-1A54-7FC8-A0F0-B4757DC5A2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721B2E-DCCE-4706-B678-5EB51971E16A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CB34EF6-226D-1B90-0E39-AA42A45D58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FF456D-B005-4185-15CF-BC964116FE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9FBB89-E2CC-4301-AA56-FBEDB15D67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257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BE61EF-51E8-D47F-206F-5791CCCEA11E}"/>
              </a:ext>
            </a:extLst>
          </p:cNvPr>
          <p:cNvSpPr txBox="1"/>
          <p:nvPr/>
        </p:nvSpPr>
        <p:spPr>
          <a:xfrm>
            <a:off x="762000" y="889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9D3E3"/>
                </a:solidFill>
                <a:latin typeface="Calibri" panose="020F0502020204030204" pitchFamily="34" charset="0"/>
              </a:rPr>
              <a:t>Хакатон · команда </a:t>
            </a:r>
            <a:r>
              <a:rPr lang="en-US" sz="1400">
                <a:solidFill>
                  <a:srgbClr val="C9D3E3"/>
                </a:solidFill>
                <a:latin typeface="Calibri" panose="020F0502020204030204" pitchFamily="34" charset="0"/>
              </a:rPr>
              <a:t>bokom-m</a:t>
            </a:r>
            <a:endParaRPr lang="ru-RU" sz="1400">
              <a:solidFill>
                <a:srgbClr val="C9D3E3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27A568-41FD-C464-7217-6E688F56504A}"/>
              </a:ext>
            </a:extLst>
          </p:cNvPr>
          <p:cNvSpPr txBox="1"/>
          <p:nvPr/>
        </p:nvSpPr>
        <p:spPr>
          <a:xfrm>
            <a:off x="762000" y="1905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FFFFFF"/>
                </a:solidFill>
                <a:latin typeface="Cambria" panose="02040503050406030204" pitchFamily="18" charset="0"/>
              </a:rPr>
              <a:t>Нейрофизиологическая диагностика ПТСР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F1C4D-0DC9-8FCB-5EEE-C177C2F9379C}"/>
              </a:ext>
            </a:extLst>
          </p:cNvPr>
          <p:cNvSpPr txBox="1"/>
          <p:nvPr/>
        </p:nvSpPr>
        <p:spPr>
          <a:xfrm>
            <a:off x="762000" y="34925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>
                <a:solidFill>
                  <a:srgbClr val="C9D3E3"/>
                </a:solidFill>
                <a:latin typeface="Calibri" panose="020F0502020204030204" pitchFamily="34" charset="0"/>
              </a:rPr>
              <a:t>по данным малоканальной сухой ЭЭГ</a:t>
            </a: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E5BD9D9A-F242-A4A7-7864-ACCF57621CCA}"/>
              </a:ext>
            </a:extLst>
          </p:cNvPr>
          <p:cNvSpPr/>
          <p:nvPr/>
        </p:nvSpPr>
        <p:spPr>
          <a:xfrm>
            <a:off x="7747000" y="1651000"/>
            <a:ext cx="3810000" cy="38100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Равнобедренный треугольник 5">
            <a:extLst>
              <a:ext uri="{FF2B5EF4-FFF2-40B4-BE49-F238E27FC236}">
                <a16:creationId xmlns:a16="http://schemas.microsoft.com/office/drawing/2014/main" id="{3407AB1D-48C1-6D9E-AA32-740EFE774084}"/>
              </a:ext>
            </a:extLst>
          </p:cNvPr>
          <p:cNvSpPr/>
          <p:nvPr/>
        </p:nvSpPr>
        <p:spPr>
          <a:xfrm>
            <a:off x="9423400" y="1346200"/>
            <a:ext cx="457200" cy="381000"/>
          </a:xfrm>
          <a:prstGeom prst="triangl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C3643962-4155-A199-A663-CCDBC8C6A9D9}"/>
              </a:ext>
            </a:extLst>
          </p:cNvPr>
          <p:cNvSpPr/>
          <p:nvPr/>
        </p:nvSpPr>
        <p:spPr>
          <a:xfrm>
            <a:off x="7575550" y="3251200"/>
            <a:ext cx="266700" cy="6096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410BC3F4-132C-DA5F-9FED-39069538AEA6}"/>
              </a:ext>
            </a:extLst>
          </p:cNvPr>
          <p:cNvSpPr/>
          <p:nvPr/>
        </p:nvSpPr>
        <p:spPr>
          <a:xfrm>
            <a:off x="11461750" y="3251200"/>
            <a:ext cx="266700" cy="6096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582F573C-E6F0-F559-EC22-34F02203CD50}"/>
              </a:ext>
            </a:extLst>
          </p:cNvPr>
          <p:cNvSpPr/>
          <p:nvPr/>
        </p:nvSpPr>
        <p:spPr>
          <a:xfrm>
            <a:off x="8756650" y="4775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O1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6A28E5BB-F6A4-F91D-7B72-C57C48E29F81}"/>
              </a:ext>
            </a:extLst>
          </p:cNvPr>
          <p:cNvSpPr/>
          <p:nvPr/>
        </p:nvSpPr>
        <p:spPr>
          <a:xfrm>
            <a:off x="9937750" y="4775200"/>
            <a:ext cx="609600" cy="609600"/>
          </a:xfrm>
          <a:prstGeom prst="ellipse">
            <a:avLst/>
          </a:prstGeom>
          <a:solidFill>
            <a:srgbClr val="C9D3E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O2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566353D-A098-9DBE-0B39-9D6DC8D45A37}"/>
              </a:ext>
            </a:extLst>
          </p:cNvPr>
          <p:cNvSpPr/>
          <p:nvPr/>
        </p:nvSpPr>
        <p:spPr>
          <a:xfrm>
            <a:off x="10947400" y="3251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T4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58CB8046-C09F-20CA-6CFF-153E5AF77853}"/>
              </a:ext>
            </a:extLst>
          </p:cNvPr>
          <p:cNvSpPr/>
          <p:nvPr/>
        </p:nvSpPr>
        <p:spPr>
          <a:xfrm>
            <a:off x="9937750" y="1727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Fp2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977E289B-4FA3-CC08-F8BB-9B0BAF9AF8CF}"/>
              </a:ext>
            </a:extLst>
          </p:cNvPr>
          <p:cNvSpPr/>
          <p:nvPr/>
        </p:nvSpPr>
        <p:spPr>
          <a:xfrm>
            <a:off x="7747000" y="3251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T3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294562AE-8545-AA32-8598-335C1C726711}"/>
              </a:ext>
            </a:extLst>
          </p:cNvPr>
          <p:cNvSpPr/>
          <p:nvPr/>
        </p:nvSpPr>
        <p:spPr>
          <a:xfrm>
            <a:off x="8756650" y="1727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Fp1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3410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CA9C38-CA7F-BF4B-B1AC-FDD1338DED32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Данные подсказывают ответ — и это ловушка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E5FBC4CD-FB84-BDA1-C2D2-D23CB4A1C9FD}"/>
              </a:ext>
            </a:extLst>
          </p:cNvPr>
          <p:cNvSpPr/>
          <p:nvPr/>
        </p:nvSpPr>
        <p:spPr>
          <a:xfrm>
            <a:off x="508000" y="1270000"/>
            <a:ext cx="5334000" cy="444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56FD21-D291-1847-55CE-933C08B29ED8}"/>
              </a:ext>
            </a:extLst>
          </p:cNvPr>
          <p:cNvSpPr txBox="1"/>
          <p:nvPr/>
        </p:nvSpPr>
        <p:spPr>
          <a:xfrm>
            <a:off x="889000" y="15875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7200" b="1">
                <a:solidFill>
                  <a:srgbClr val="EB6834"/>
                </a:solidFill>
                <a:latin typeface="Cambria" panose="02040503050406030204" pitchFamily="18" charset="0"/>
              </a:rPr>
              <a:t>0.985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37C36A-5E37-1EBF-B5F5-87A55C7C07FF}"/>
              </a:ext>
            </a:extLst>
          </p:cNvPr>
          <p:cNvSpPr txBox="1"/>
          <p:nvPr/>
        </p:nvSpPr>
        <p:spPr>
          <a:xfrm>
            <a:off x="889000" y="26035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AUC правила «формат B → ПТСР»</a:t>
            </a:r>
          </a:p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без анализа сигнала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B36BD9-8823-A0B9-AFA0-B601D342BF46}"/>
              </a:ext>
            </a:extLst>
          </p:cNvPr>
          <p:cNvSpPr txBox="1"/>
          <p:nvPr/>
        </p:nvSpPr>
        <p:spPr>
          <a:xfrm>
            <a:off x="889000" y="3556000"/>
            <a:ext cx="469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700">
                <a:solidFill>
                  <a:srgbClr val="1B1B1B"/>
                </a:solidFill>
                <a:latin typeface="Calibri" panose="020F0502020204030204" pitchFamily="34" charset="0"/>
              </a:rPr>
              <a:t>все 25 ПТСР выгружены в формате B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700">
                <a:solidFill>
                  <a:srgbClr val="1B1B1B"/>
                </a:solidFill>
                <a:latin typeface="Calibri" panose="020F0502020204030204" pitchFamily="34" charset="0"/>
              </a:rPr>
              <a:t>45 из 67 норм — формат C: нет межканальной связи и альфы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700">
                <a:solidFill>
                  <a:srgbClr val="1B1B1B"/>
                </a:solidFill>
                <a:latin typeface="Calibri" panose="020F0502020204030204" pitchFamily="34" charset="0"/>
              </a:rPr>
              <a:t>229 испытуемых → 221 группа: копии записей объединены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21616DC1-1DB9-3FC6-5DC9-D01E702D77A0}"/>
              </a:ext>
            </a:extLst>
          </p:cNvPr>
          <p:cNvSpPr/>
          <p:nvPr/>
        </p:nvSpPr>
        <p:spPr>
          <a:xfrm>
            <a:off x="6223000" y="1270000"/>
            <a:ext cx="5461000" cy="44450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CD8435-A50F-0A7C-547D-954DBA2AE5A1}"/>
              </a:ext>
            </a:extLst>
          </p:cNvPr>
          <p:cNvSpPr txBox="1"/>
          <p:nvPr/>
        </p:nvSpPr>
        <p:spPr>
          <a:xfrm>
            <a:off x="6604000" y="1574800"/>
            <a:ext cx="4826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Как мы это обходим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B42EE-14E4-00EE-358D-2F1F6E2728B5}"/>
              </a:ext>
            </a:extLst>
          </p:cNvPr>
          <p:cNvSpPr txBox="1"/>
          <p:nvPr/>
        </p:nvSpPr>
        <p:spPr>
          <a:xfrm>
            <a:off x="6604000" y="21590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700">
                <a:solidFill>
                  <a:srgbClr val="FFFFFF"/>
                </a:solidFill>
                <a:latin typeface="Calibri" panose="020F0502020204030204" pitchFamily="34" charset="0"/>
              </a:rPr>
              <a:t>23 признака покоя: доли ритмов, альфа-пик, наклон спектра; не зависят от усиления канала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700">
                <a:solidFill>
                  <a:srgbClr val="FFFFFF"/>
                </a:solidFill>
                <a:latin typeface="Calibri" panose="020F0502020204030204" pitchFamily="34" charset="0"/>
              </a:rPr>
              <a:t>логистическая регрессия L2 + калибровка Платта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700">
                <a:solidFill>
                  <a:srgbClr val="FFFFFF"/>
                </a:solidFill>
                <a:latin typeface="Calibri" panose="020F0502020204030204" pitchFamily="34" charset="0"/>
              </a:rPr>
              <a:t>leave-one-group-out, весь выбор — только внутри фолда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700">
                <a:solidFill>
                  <a:srgbClr val="FFFFFF"/>
                </a:solidFill>
                <a:latin typeface="Calibri" panose="020F0502020204030204" pitchFamily="34" charset="0"/>
              </a:rPr>
              <a:t>критерий выбора повторяет формулу оценки ТЗ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700">
                <a:solidFill>
                  <a:srgbClr val="FFFFFF"/>
                </a:solidFill>
                <a:latin typeface="Calibri" panose="020F0502020204030204" pitchFamily="34" charset="0"/>
              </a:rPr>
              <a:t>8 протоколов зафиксированы до запуска, включая неудачные</a:t>
            </a:r>
          </a:p>
        </p:txBody>
      </p:sp>
    </p:spTree>
    <p:extLst>
      <p:ext uri="{BB962C8B-B14F-4D97-AF65-F5344CB8AC3E}">
        <p14:creationId xmlns:p14="http://schemas.microsoft.com/office/powerpoint/2010/main" val="433683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EFA4FB-CA41-D010-FE19-FF5AE992C2D5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Результат вне выборки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670F726-F5B8-F4FA-225E-33FD51697F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8508" y="1066799"/>
            <a:ext cx="9114985" cy="381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A18DC1-30E6-1E31-1D80-34C54B757821}"/>
              </a:ext>
            </a:extLst>
          </p:cNvPr>
          <p:cNvSpPr txBox="1"/>
          <p:nvPr/>
        </p:nvSpPr>
        <p:spPr>
          <a:xfrm>
            <a:off x="762000" y="5080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EB6834"/>
                </a:solidFill>
                <a:latin typeface="Cambria" panose="02040503050406030204" pitchFamily="18" charset="0"/>
              </a:rPr>
              <a:t>0.86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55F8AA-BCF2-C3D2-8A1F-198BFF7217B2}"/>
              </a:ext>
            </a:extLst>
          </p:cNvPr>
          <p:cNvSpPr txBox="1"/>
          <p:nvPr/>
        </p:nvSpPr>
        <p:spPr>
          <a:xfrm>
            <a:off x="762000" y="5740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AUC ПТСР / нормы &lt; 65</a:t>
            </a:r>
          </a:p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95% ДИ 0.80–0.92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37982B-9A03-93E2-98C4-43F2F179598B}"/>
              </a:ext>
            </a:extLst>
          </p:cNvPr>
          <p:cNvSpPr txBox="1"/>
          <p:nvPr/>
        </p:nvSpPr>
        <p:spPr>
          <a:xfrm>
            <a:off x="3683000" y="5080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14213D"/>
                </a:solidFill>
                <a:latin typeface="Cambria" panose="02040503050406030204" pitchFamily="18" charset="0"/>
              </a:rPr>
              <a:t>0.84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454363-9BD6-617A-B3BD-D6796668FC7D}"/>
              </a:ext>
            </a:extLst>
          </p:cNvPr>
          <p:cNvSpPr txBox="1"/>
          <p:nvPr/>
        </p:nvSpPr>
        <p:spPr>
          <a:xfrm>
            <a:off x="3683000" y="5740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чувствительность</a:t>
            </a:r>
          </a:p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при пороге 0.5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A415D3-78CF-4987-9806-3C8C70617746}"/>
              </a:ext>
            </a:extLst>
          </p:cNvPr>
          <p:cNvSpPr txBox="1"/>
          <p:nvPr/>
        </p:nvSpPr>
        <p:spPr>
          <a:xfrm>
            <a:off x="6604000" y="5080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1BAF7A"/>
                </a:solidFill>
                <a:latin typeface="Cambria" panose="02040503050406030204" pitchFamily="18" charset="0"/>
              </a:rPr>
              <a:t>0.87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6ADC8B-ED77-A08C-835E-BBEA79D46929}"/>
              </a:ext>
            </a:extLst>
          </p:cNvPr>
          <p:cNvSpPr txBox="1"/>
          <p:nvPr/>
        </p:nvSpPr>
        <p:spPr>
          <a:xfrm>
            <a:off x="6604000" y="5740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специфичность,</a:t>
            </a:r>
          </a:p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нормы 65+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6D7A13-32EF-0F52-C85F-C9A429D192CE}"/>
              </a:ext>
            </a:extLst>
          </p:cNvPr>
          <p:cNvSpPr txBox="1"/>
          <p:nvPr/>
        </p:nvSpPr>
        <p:spPr>
          <a:xfrm>
            <a:off x="9525000" y="5080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EB6834"/>
                </a:solidFill>
                <a:latin typeface="Cambria" panose="02040503050406030204" pitchFamily="18" charset="0"/>
              </a:rPr>
              <a:t>0.61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87A170-5DBA-725F-245F-D43E7F58A798}"/>
              </a:ext>
            </a:extLst>
          </p:cNvPr>
          <p:cNvSpPr txBox="1"/>
          <p:nvPr/>
        </p:nvSpPr>
        <p:spPr>
          <a:xfrm>
            <a:off x="9525000" y="5740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специфичность,</a:t>
            </a:r>
          </a:p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соматоформные</a:t>
            </a:r>
          </a:p>
        </p:txBody>
      </p:sp>
    </p:spTree>
    <p:extLst>
      <p:ext uri="{BB962C8B-B14F-4D97-AF65-F5344CB8AC3E}">
        <p14:creationId xmlns:p14="http://schemas.microsoft.com/office/powerpoint/2010/main" val="1786732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214749-9BD9-F63B-5342-C2DF5CF5CE45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Признаки: направление и механизм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5A43779D-9F17-4D39-2C8F-501D52A1F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4609561"/>
              </p:ext>
            </p:extLst>
          </p:nvPr>
        </p:nvGraphicFramePr>
        <p:xfrm>
          <a:off x="508000" y="1143000"/>
          <a:ext cx="11176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501987652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186115017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1900133207"/>
                    </a:ext>
                  </a:extLst>
                </a:gridCol>
                <a:gridCol w="4699000">
                  <a:extLst>
                    <a:ext uri="{9D8B030D-6E8A-4147-A177-3AD203B41FA5}">
                      <a16:colId xmlns:a16="http://schemas.microsoft.com/office/drawing/2014/main" val="1566290137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Признак</a:t>
                      </a: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Отведение · диапазон</a:t>
                      </a: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При ПТСР*</a:t>
                      </a: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Механизм и ограничения</a:t>
                      </a: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221188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наклон спектра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T3, T4 · 3–30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↓ площе (0.90 / 0.96)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уплощение при ПТСР (Kovacevic, 2025); на T3 зависит от партии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6221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доля беты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T3, T4 · 13–30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T3 ≈, T4 ↑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T4 — общий с соматоформными; возможен след бензодиазепинов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7069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доля альфы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O1 · 8–13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≈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отделяет пожилых с возрастным ослаблением альфы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46697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доля теты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Fp1, T3, T4, O1 · 4–8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↑ слегка (−0.40 / −0.47)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сниженное бодрствование, нарушения сна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244792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наклон спектра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O1 · 3–30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↓ площе (0.72 / 0.78)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баланс возбуждения и торможения; так же при старении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80265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частота альфа-пика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O1 · 8–13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≈ (9.95 / 9.69 Гц)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замедляется со старением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077085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лобная асимметрия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Fp2 − Fp1 · 8–13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≈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модель Davidson; классически F3/F4, прироста не дала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1992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BB587E9-DC8C-AEAB-F8AC-17AF8BE49776}"/>
              </a:ext>
            </a:extLst>
          </p:cNvPr>
          <p:cNvSpPr txBox="1"/>
          <p:nvPr/>
        </p:nvSpPr>
        <p:spPr>
          <a:xfrm>
            <a:off x="508000" y="59690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* медиана ПТСР / нормы A; ↑/↓ — относительно молодых норм; строки упорядочены по весу в модели. Надёжно (95% ДИ) сдвинуты только наклон и бета на T4 — и оба так же у соматоформных.</a:t>
            </a:r>
          </a:p>
        </p:txBody>
      </p:sp>
    </p:spTree>
    <p:extLst>
      <p:ext uri="{BB962C8B-B14F-4D97-AF65-F5344CB8AC3E}">
        <p14:creationId xmlns:p14="http://schemas.microsoft.com/office/powerpoint/2010/main" val="1795419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BBB15B-3AF1-3F0C-5EA2-039CD9FE28C1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Что результат не объясняет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65BCA0-DD7F-E663-0CBE-8FAC1B2998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699" y="1066799"/>
            <a:ext cx="10108602" cy="3175000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EBEFDE31-5773-ABC2-68A3-69F57F078747}"/>
              </a:ext>
            </a:extLst>
          </p:cNvPr>
          <p:cNvSpPr/>
          <p:nvPr/>
        </p:nvSpPr>
        <p:spPr>
          <a:xfrm>
            <a:off x="5080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7FC95D7C-5F40-6B93-0FFD-875323338AAC}"/>
              </a:ext>
            </a:extLst>
          </p:cNvPr>
          <p:cNvSpPr/>
          <p:nvPr/>
        </p:nvSpPr>
        <p:spPr>
          <a:xfrm>
            <a:off x="6858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030FA2-730C-414F-2FB5-532A6DA71F8C}"/>
              </a:ext>
            </a:extLst>
          </p:cNvPr>
          <p:cNvSpPr txBox="1"/>
          <p:nvPr/>
        </p:nvSpPr>
        <p:spPr>
          <a:xfrm>
            <a:off x="6858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Формат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8F458E-172C-3703-EE36-8C3B7205341A}"/>
              </a:ext>
            </a:extLst>
          </p:cNvPr>
          <p:cNvSpPr txBox="1"/>
          <p:nvPr/>
        </p:nvSpPr>
        <p:spPr>
          <a:xfrm>
            <a:off x="6858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внутри формата B AUC 0.84; перестановки p = 0.016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B24E187C-F3AB-9A8C-66D7-1FE2E1F3834C}"/>
              </a:ext>
            </a:extLst>
          </p:cNvPr>
          <p:cNvSpPr/>
          <p:nvPr/>
        </p:nvSpPr>
        <p:spPr>
          <a:xfrm>
            <a:off x="27686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AC2AB9F8-88D4-77B7-39B0-2FF5D5CA6A1A}"/>
              </a:ext>
            </a:extLst>
          </p:cNvPr>
          <p:cNvSpPr/>
          <p:nvPr/>
        </p:nvSpPr>
        <p:spPr>
          <a:xfrm>
            <a:off x="29464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1A4C46-8E90-2305-A8CB-DD66451C1684}"/>
              </a:ext>
            </a:extLst>
          </p:cNvPr>
          <p:cNvSpPr txBox="1"/>
          <p:nvPr/>
        </p:nvSpPr>
        <p:spPr>
          <a:xfrm>
            <a:off x="29464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Возраст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1A0997-BA85-2E07-8FC5-7F92A01EDD4F}"/>
              </a:ext>
            </a:extLst>
          </p:cNvPr>
          <p:cNvSpPr txBox="1"/>
          <p:nvPr/>
        </p:nvSpPr>
        <p:spPr>
          <a:xfrm>
            <a:off x="29464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внутри партии R² ≈ 0, P не связана с возрастом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67A7A23C-451A-AE4D-B70A-17BF7A3474AB}"/>
              </a:ext>
            </a:extLst>
          </p:cNvPr>
          <p:cNvSpPr/>
          <p:nvPr/>
        </p:nvSpPr>
        <p:spPr>
          <a:xfrm>
            <a:off x="50292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5A331A63-28C8-BF34-D456-4555317F42D4}"/>
              </a:ext>
            </a:extLst>
          </p:cNvPr>
          <p:cNvSpPr/>
          <p:nvPr/>
        </p:nvSpPr>
        <p:spPr>
          <a:xfrm>
            <a:off x="52070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21CD6B-738F-5C90-F19A-23AE884ED89B}"/>
              </a:ext>
            </a:extLst>
          </p:cNvPr>
          <p:cNvSpPr txBox="1"/>
          <p:nvPr/>
        </p:nvSpPr>
        <p:spPr>
          <a:xfrm>
            <a:off x="52070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Поведение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016D46-69FB-FF84-EE56-F529C1672F2F}"/>
              </a:ext>
            </a:extLst>
          </p:cNvPr>
          <p:cNvSpPr txBox="1"/>
          <p:nvPr/>
        </p:nvSpPr>
        <p:spPr>
          <a:xfrm>
            <a:off x="52070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P не растёт со временем решения; с таблицами Шульте AUC 0.75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D00884FE-D997-F087-5B65-AD1A97CC8F6A}"/>
              </a:ext>
            </a:extLst>
          </p:cNvPr>
          <p:cNvSpPr/>
          <p:nvPr/>
        </p:nvSpPr>
        <p:spPr>
          <a:xfrm>
            <a:off x="72898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84060F40-C973-E1C3-61B4-EB078A719538}"/>
              </a:ext>
            </a:extLst>
          </p:cNvPr>
          <p:cNvSpPr/>
          <p:nvPr/>
        </p:nvSpPr>
        <p:spPr>
          <a:xfrm>
            <a:off x="7467600" y="4622800"/>
            <a:ext cx="355600" cy="355600"/>
          </a:xfrm>
          <a:prstGeom prst="ellipse">
            <a:avLst/>
          </a:prstGeom>
          <a:solidFill>
            <a:srgbClr val="2A78D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</a:t>
            </a:r>
            <a:endParaRPr lang="ru-RU" sz="13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27C201-BC3F-8C8D-D1AF-10978A8623BD}"/>
              </a:ext>
            </a:extLst>
          </p:cNvPr>
          <p:cNvSpPr txBox="1"/>
          <p:nvPr/>
        </p:nvSpPr>
        <p:spPr>
          <a:xfrm>
            <a:off x="74676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Новая партия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42CBE2-816E-04F5-6344-9E6887FC0D23}"/>
              </a:ext>
            </a:extLst>
          </p:cNvPr>
          <p:cNvSpPr txBox="1"/>
          <p:nvPr/>
        </p:nvSpPr>
        <p:spPr>
          <a:xfrm>
            <a:off x="74676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группа вне обучения: AUC ниже примерно на 0.1</a:t>
            </a: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26A133D3-9F5E-62AF-2011-DE9CB1C54A45}"/>
              </a:ext>
            </a:extLst>
          </p:cNvPr>
          <p:cNvSpPr/>
          <p:nvPr/>
        </p:nvSpPr>
        <p:spPr>
          <a:xfrm>
            <a:off x="95504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308B4F03-D29A-861B-14D8-1C3ACD369D83}"/>
              </a:ext>
            </a:extLst>
          </p:cNvPr>
          <p:cNvSpPr/>
          <p:nvPr/>
        </p:nvSpPr>
        <p:spPr>
          <a:xfrm>
            <a:off x="9728200" y="4622800"/>
            <a:ext cx="355600" cy="355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!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395DAE-464B-28D7-C224-A158B2612F34}"/>
              </a:ext>
            </a:extLst>
          </p:cNvPr>
          <p:cNvSpPr txBox="1"/>
          <p:nvPr/>
        </p:nvSpPr>
        <p:spPr>
          <a:xfrm>
            <a:off x="97282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Ограничение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BD4F30-F25C-952D-3440-23729672E307}"/>
              </a:ext>
            </a:extLst>
          </p:cNvPr>
          <p:cNvSpPr txBox="1"/>
          <p:nvPr/>
        </p:nvSpPr>
        <p:spPr>
          <a:xfrm>
            <a:off x="97282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без T3/T4 AUC против молодых норм A/B — 0.57</a:t>
            </a:r>
          </a:p>
        </p:txBody>
      </p:sp>
    </p:spTree>
    <p:extLst>
      <p:ext uri="{BB962C8B-B14F-4D97-AF65-F5344CB8AC3E}">
        <p14:creationId xmlns:p14="http://schemas.microsoft.com/office/powerpoint/2010/main" val="1061939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161F19-E4A9-44A3-BB2F-73097E729480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Бонус: слуховой ответ без меток стимулов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60C8AD6-C0B4-358D-FE11-6663004196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117600"/>
            <a:ext cx="11176000" cy="2906699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C2A51E39-55BC-B001-5BBF-5CCA6DD8753B}"/>
              </a:ext>
            </a:extLst>
          </p:cNvPr>
          <p:cNvSpPr/>
          <p:nvPr/>
        </p:nvSpPr>
        <p:spPr>
          <a:xfrm>
            <a:off x="50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CF1DB1E0-B13E-D647-BEB4-449F27BF4D8D}"/>
              </a:ext>
            </a:extLst>
          </p:cNvPr>
          <p:cNvSpPr/>
          <p:nvPr/>
        </p:nvSpPr>
        <p:spPr>
          <a:xfrm>
            <a:off x="73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показано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AC0B00-D431-4F6C-72FA-C4BA2C10AAB8}"/>
              </a:ext>
            </a:extLst>
          </p:cNvPr>
          <p:cNvSpPr txBox="1"/>
          <p:nvPr/>
        </p:nvSpPr>
        <p:spPr>
          <a:xfrm>
            <a:off x="73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ответ на удары метронома в покое: p = 0.0005, фронтальный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8738BD40-F020-0C72-AED8-9142CA4E3E25}"/>
              </a:ext>
            </a:extLst>
          </p:cNvPr>
          <p:cNvSpPr/>
          <p:nvPr/>
        </p:nvSpPr>
        <p:spPr>
          <a:xfrm>
            <a:off x="431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E1ECF172-7330-CC4E-75CA-49942AD25C4C}"/>
              </a:ext>
            </a:extLst>
          </p:cNvPr>
          <p:cNvSpPr/>
          <p:nvPr/>
        </p:nvSpPr>
        <p:spPr>
          <a:xfrm>
            <a:off x="454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проверено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9A60A4-762A-5172-6111-059F6A71A19D}"/>
              </a:ext>
            </a:extLst>
          </p:cNvPr>
          <p:cNvSpPr txBox="1"/>
          <p:nvPr/>
        </p:nvSpPr>
        <p:spPr>
          <a:xfrm>
            <a:off x="454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метод на открытых данных ERP CORE и в гибридной симуляции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2717BB33-2A9E-5F1E-6475-0C60BF6897A9}"/>
              </a:ext>
            </a:extLst>
          </p:cNvPr>
          <p:cNvSpPr/>
          <p:nvPr/>
        </p:nvSpPr>
        <p:spPr>
          <a:xfrm>
            <a:off x="812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5ED9ED02-E5C5-FDA4-B127-40D2467FECA7}"/>
              </a:ext>
            </a:extLst>
          </p:cNvPr>
          <p:cNvSpPr/>
          <p:nvPr/>
        </p:nvSpPr>
        <p:spPr>
          <a:xfrm>
            <a:off x="835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не показано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1891F7-9613-3C90-B55F-E50304BD94F9}"/>
              </a:ext>
            </a:extLst>
          </p:cNvPr>
          <p:cNvSpPr txBox="1"/>
          <p:nvPr/>
        </p:nvSpPr>
        <p:spPr>
          <a:xfrm>
            <a:off x="835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ответ на девиант (MMN/P3a): p = 0.048 при пороге 0.025</a:t>
            </a:r>
          </a:p>
        </p:txBody>
      </p:sp>
    </p:spTree>
    <p:extLst>
      <p:ext uri="{BB962C8B-B14F-4D97-AF65-F5344CB8AC3E}">
        <p14:creationId xmlns:p14="http://schemas.microsoft.com/office/powerpoint/2010/main" val="991127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83EF3-4C97-A46E-70E0-B84F55F71939}"/>
              </a:ext>
            </a:extLst>
          </p:cNvPr>
          <p:cNvSpPr txBox="1"/>
          <p:nvPr/>
        </p:nvSpPr>
        <p:spPr>
          <a:xfrm>
            <a:off x="762000" y="508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400" b="1">
                <a:solidFill>
                  <a:srgbClr val="FFFFFF"/>
                </a:solidFill>
                <a:latin typeface="Cambria" panose="02040503050406030204" pitchFamily="18" charset="0"/>
              </a:rPr>
              <a:t>Выводы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842FDD6B-13EC-93AC-D551-8C715751421C}"/>
              </a:ext>
            </a:extLst>
          </p:cNvPr>
          <p:cNvSpPr/>
          <p:nvPr/>
        </p:nvSpPr>
        <p:spPr>
          <a:xfrm>
            <a:off x="762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291ED3-1EE2-80FD-DE8A-459C634D8433}"/>
              </a:ext>
            </a:extLst>
          </p:cNvPr>
          <p:cNvSpPr txBox="1"/>
          <p:nvPr/>
        </p:nvSpPr>
        <p:spPr>
          <a:xfrm>
            <a:off x="762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Что работает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7AA10-5F46-B480-D458-3DB39D10D391}"/>
              </a:ext>
            </a:extLst>
          </p:cNvPr>
          <p:cNvSpPr txBox="1"/>
          <p:nvPr/>
        </p:nvSpPr>
        <p:spPr>
          <a:xfrm>
            <a:off x="762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AUC 0.86 вне выборки, чувствительность 0.84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надёжное отделение нормального старения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без утечки; устойчиво к перестановкам внутри формата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44D64E74-87C4-A836-E19B-9D2E8F899D0A}"/>
              </a:ext>
            </a:extLst>
          </p:cNvPr>
          <p:cNvSpPr/>
          <p:nvPr/>
        </p:nvSpPr>
        <p:spPr>
          <a:xfrm>
            <a:off x="4445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F57E4-8DAF-9905-4A61-F0113EC1E97A}"/>
              </a:ext>
            </a:extLst>
          </p:cNvPr>
          <p:cNvSpPr txBox="1"/>
          <p:nvPr/>
        </p:nvSpPr>
        <p:spPr>
          <a:xfrm>
            <a:off x="4445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Ограничения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80934D-AF91-7B4C-5E2B-3EFE34DA2CC7}"/>
              </a:ext>
            </a:extLst>
          </p:cNvPr>
          <p:cNvSpPr txBox="1"/>
          <p:nvPr/>
        </p:nvSpPr>
        <p:spPr>
          <a:xfrm>
            <a:off x="4445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молодые нормы A/B: опора на T3/T4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соматоформные: 0.61, пол не учтён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когорты различаются не только диагнозом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1D31922A-1928-78C0-63E6-7F3B62CF6EE3}"/>
              </a:ext>
            </a:extLst>
          </p:cNvPr>
          <p:cNvSpPr/>
          <p:nvPr/>
        </p:nvSpPr>
        <p:spPr>
          <a:xfrm>
            <a:off x="8128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EA8908-2093-D908-98EF-F8806D45F85C}"/>
              </a:ext>
            </a:extLst>
          </p:cNvPr>
          <p:cNvSpPr txBox="1"/>
          <p:nvPr/>
        </p:nvSpPr>
        <p:spPr>
          <a:xfrm>
            <a:off x="8128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Что дальше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57EE45-055E-AF3C-FEB2-0762CEDC1FB6}"/>
              </a:ext>
            </a:extLst>
          </p:cNvPr>
          <p:cNvSpPr txBox="1"/>
          <p:nvPr/>
        </p:nvSpPr>
        <p:spPr>
          <a:xfrm>
            <a:off x="8128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контроль с боевой травмой без ПТСР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одна гарнитура и экспорт для всех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шкалы тяжести, лекарства, ЧМТ, сон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46DEBF-DC26-38CD-5826-6EE69B46A86B}"/>
              </a:ext>
            </a:extLst>
          </p:cNvPr>
          <p:cNvSpPr txBox="1"/>
          <p:nvPr/>
        </p:nvSpPr>
        <p:spPr>
          <a:xfrm>
            <a:off x="762000" y="5969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9D3E3"/>
                </a:solidFill>
                <a:latin typeface="Calibri" panose="020F0502020204030204" pitchFamily="34" charset="0"/>
              </a:rPr>
              <a:t>Код, ноутбуки, аудит данных и клиническая интерпретация — в репозитории.</a:t>
            </a:r>
          </a:p>
        </p:txBody>
      </p:sp>
    </p:spTree>
    <p:extLst>
      <p:ext uri="{BB962C8B-B14F-4D97-AF65-F5344CB8AC3E}">
        <p14:creationId xmlns:p14="http://schemas.microsoft.com/office/powerpoint/2010/main" val="57790965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550</Words>
  <Application>Microsoft Office PowerPoint</Application>
  <PresentationFormat>Произвольный</PresentationFormat>
  <Paragraphs>109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Cambria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Игорь Яцун</dc:creator>
  <cp:lastModifiedBy>Игорь Яцун</cp:lastModifiedBy>
  <cp:revision>1</cp:revision>
  <dcterms:created xsi:type="dcterms:W3CDTF">2026-09-29T02:55:24Z</dcterms:created>
  <dcterms:modified xsi:type="dcterms:W3CDTF">2026-09-29T02:55:24Z</dcterms:modified>
</cp:coreProperties>
</file>