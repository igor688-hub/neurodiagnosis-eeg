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D95D3-69C0-4FD3-AA6F-9D5AE9A289C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2BA99B-F630-47CE-9753-CC6CB6C923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6896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Задача: по записи сухой ЭЭГ на 6 каналах выдать вероятность принадлежности к ПТСР. Мы сдаём модель только на минуте покоя с закрытыми глазами и покажем не только метрики, но и то, на чём модель держится, а на чём нет. O2 выделен серым: мы его не используем.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4935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Первое, что мы нашли: способ выгрузки почти совпадает с меткой. Все ПТСР в формате B, большинство норм — в формате C, который вообще не похож на типичную ЭЭГ. Правило «формат B — значит ПТСР» без единого признака сигнала даёт AUC 0.985. Поэтому высокий AUC мы не считаем доказательством и дальше всегда показываем результаты по стратам.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258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Конвейер простой и одинаковый для обучения и инференса: ресэмплинг к 125 герцам, фильтр 40 герц, окна по 4 секунды с отбраковкой артефактов, спектр и 23 признака, которые не зависят от усиления канала. Модель — логистическая регрессия: на 25 пациентах нужна простая и объяснимая модель. Утечки нет: записи-дубликаты объединены в группы, валидация leave-one-group-out, и весь выбор делается внутри фолда.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966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схеме головы — насколько каждый признак отличает ПТСР от молодых норм: красное — выше у ПТСР, синее — ниже. Ожидаемого по литературе ослабления альфы у ПТСР нет: альфа работает на отделение пожилых. Спектр у ПТСР немного площе и лобной теты чуть больше — это согласуется с гипервозбуждением и нарушениями сна, но эффекты маленькие и неспецифичные.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62487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метрики вне выборки: каждого испытуемого предсказывает модель, которая его не видела. AUC против норм моложе 65 — 0.86 с интервалом от 0.80 до 0.92. Если убрать нетипичный формат C — 0.77. Чувствительность при пороге 0.5 — 0.84: порог стоит в точке, где чувствительность равна специфичности на группах проверки, а нормам 65+ и соматоформным при обучении можно давать повышенный вес — это подняло и специфичность, и AUC.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067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Каждая точка — испытуемый. Пожилых модель отделяет хорошо: специфичность 0.87, потому что у них ослаблена и замедлена альфа. Соматоформные — самая трудная группа, 0.61. Мы проверили каждый признак: всё, что надёжно отличает ПТСР от нормы, так же сдвинуто и у соматоформных. Это общий клинический профиль гипервозбуждения, а не маркер травмы, и мы так и пишем.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568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ТЗ требует три проверки, мы сделали больше. Формат: внутри одного формата B модель различает ПТСР и 65 норм с AUC 0.84, а модель на метаданных — ноль. Качество записи само по себе ничего не даёт. Возраст внутри партии признаки не предсказывают. От времени решения таблиц вероятность не зависит. Честное ограничение: различение с молодыми нормами держится на височных отведениях; без них AUC против норм A/B — 0.57.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0393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Обязательное сравнение: на 142 испытуемых с годным временем решения. Поведение отделяет ПТСР от молодых норм, но пожилые решают медленнее всех и выглядят как ПТСР. ЭЭГ делает наоборот. Вместе — 0.75. Мы сдаём модель только на ЭЭГ: задача про ЭЭГ-диагностику, и у 85 испытуемых обучения времени решения просто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64783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Меток стимулов нет, поэтому мы сворачиваем запись по 4-секундным тактам и ищем фазу на одной половине записи, а проверяем на другой. Ответ на удары метронома в покое найден надёжно, он фронтальный — как слуховой N1 при ушном референте. Метод проверен на открытых данных ERP CORE: аппаратный фильтр 2 герца искажает MMN, и метод видит только ответ крупнее 1.1–1.5 микровольта. Ответ на девиант в подтверждающем тесте не прошёл заранее заданный порог — мы так и пишем.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7738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Итог. Модель на минуте покоя даёт AUC 0.86 вне выборки и надёжно отделяет нормальное старение. Ограничения мы показываем открыто: с молодыми нормами модель держится на височных отведениях, соматоформных различает хуже, а когорты отличаются не только диагнозом. Для настоящего биомаркера нужны контроль с боевой травмой без ПТСР и одинаковые условия регистрации.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BA99B-F630-47CE-9753-CC6CB6C9239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1416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0D7290-9B2B-ED61-88B2-E34098F37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9F14E3E-442B-0D1B-F3FB-F38561B21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1D5630-F3B2-D34D-7A9E-C95CA639F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17FDB2-916F-A045-7799-55DB154A1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2F37A0-D1FA-84F7-641C-B97F1FEA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7811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A5A54-E372-A886-4887-7E22F953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A73EE0-D5CD-2337-F51C-D5A0475CC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74AB28-1F12-6959-8D1D-20E030877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14188F-303A-5F0E-2B59-C4B4C7764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6A00D4-D29B-BE39-4DC5-654E32AA1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759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49D75D-6BFB-998C-8949-B510339A6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88D62F-054C-3DA9-0092-965A899916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BC58B2-1E6F-2280-B22F-78F5856E9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6895E72-0FEA-7825-44A0-E85A27D1F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F12E0D-49BD-D220-8862-31B3BF83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0452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21A20D-90AB-C109-9221-3FC6CFFEA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727A26-8001-8928-8E25-234BF5A37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651224F-C8E8-711A-F36E-F105018DF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75BE67-7923-651B-61B5-FD80C56DF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BB7BCAB-5942-FA33-B90F-BA5538DFE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6475E6-4303-746D-DB12-2B049D4A3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202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6F8894-2622-C2A6-C970-35A34243D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6CDF27-C46D-0DF5-F691-D6752FDDA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D7FD7A1-0710-E3E0-467E-9B316DFFD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8ECE2A-1CDE-2B13-D724-89F534403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4155CA-809E-EE51-56CD-065F356BE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A139707-E6B7-E5E4-D225-5E5771BA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994C9FD-9D63-8030-FD6F-67FDBECE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D60E835-89A6-E1D3-DCAA-4F30F572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053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0CC021-2D70-8D8A-147A-4B54798D6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9308C51-C802-72AC-38CA-23EA6F78A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CB580C-5047-F3AB-F323-9ABB6FFD6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BAE1C0E-7A77-0CA9-6A6E-B1E64CDC8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178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FBB8C8E-48F5-C44E-0BB7-182E1D7F0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26B0730-F7AF-C3C2-7578-F3B9041EB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C87E48B-EF06-2643-CDCC-B283F4C9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432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E92675-962B-85C4-06EF-D47CD5A9A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C047B1-D5F0-8FF5-4534-1EABB2AD0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476F91-6619-3FF5-83C5-57909359CB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25D8D94-2D95-68EB-E7A3-EDE58EBE0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EA314F-8370-DA54-023F-774A4680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84FB7DE-FF3E-ADE3-9B26-F25C635D9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9616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698551-8CEB-9AA7-0DA7-77B3BC55A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C688411-5593-0DB0-9B54-E0B937E358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B39250-6B7C-9C4D-2D44-FBF2CE780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B06EAD-F63A-3B0C-931F-BC21296D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600C3A-66B8-0CC4-69AE-C7DD60D6F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BF8691-712F-DE28-B3B0-C1B605489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415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1A414-663C-EE40-D2C4-777EF4D9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65E59A4-621C-710E-BA18-C1ECCB765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E96A27-D276-912D-BFD9-263EFAC57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66320-DBA6-AA39-BA89-BD1E1ED65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02CE73-B909-99E6-F547-5FAD3206F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8483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FF8CB7-662F-039D-215F-7676A12126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9759A71-5507-EC39-2158-2E7A48296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E1DFA-F9C4-0520-F0C4-6B824D42C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E78DCB-2D36-1F74-73E1-5B95787C2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69DCE6-0356-3AC1-A9AD-34F4A2B8D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4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7BA4A8-DA76-60D3-C8C9-EC09CCC5E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95F5E-F8FD-550F-7641-823A2F230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C36292-25F5-ABAA-DADB-A6D19C0EE3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B7DD9-D72B-4689-B288-600E97991DA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7EC2475-60B5-3E1C-A9E8-A388885E57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983CB5-1970-0D2C-D391-7DE08CBC4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330517-A617-4B46-A59A-9B1D4AB81A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44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C112B2-1DDF-D2CF-23AB-E39176CDBDE4}"/>
              </a:ext>
            </a:extLst>
          </p:cNvPr>
          <p:cNvSpPr txBox="1"/>
          <p:nvPr/>
        </p:nvSpPr>
        <p:spPr>
          <a:xfrm>
            <a:off x="762000" y="889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Хакатон · нейрофизиологическая диагностика ПТСР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BDEE0F-103B-EE37-BA36-5A4155E588DD}"/>
              </a:ext>
            </a:extLst>
          </p:cNvPr>
          <p:cNvSpPr txBox="1"/>
          <p:nvPr/>
        </p:nvSpPr>
        <p:spPr>
          <a:xfrm>
            <a:off x="762000" y="1905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FFFFFF"/>
                </a:solidFill>
                <a:latin typeface="Cambria" panose="02040503050406030204" pitchFamily="18" charset="0"/>
              </a:rPr>
              <a:t>ПТСР по минуте сухой ЭЭГ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82C4F-32C4-AA02-DA7F-CD586A70A084}"/>
              </a:ext>
            </a:extLst>
          </p:cNvPr>
          <p:cNvSpPr txBox="1"/>
          <p:nvPr/>
        </p:nvSpPr>
        <p:spPr>
          <a:xfrm>
            <a:off x="762000" y="34925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>
                <a:solidFill>
                  <a:srgbClr val="C9D3E3"/>
                </a:solidFill>
                <a:latin typeface="Calibri" panose="020F0502020204030204" pitchFamily="34" charset="0"/>
              </a:rPr>
              <a:t>6 каналов, только покой с закрытыми глазами: что модель различает и на чём держится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96E4E4-C165-7C36-CB47-77FD5B5A7A3D}"/>
              </a:ext>
            </a:extLst>
          </p:cNvPr>
          <p:cNvSpPr txBox="1"/>
          <p:nvPr/>
        </p:nvSpPr>
        <p:spPr>
          <a:xfrm>
            <a:off x="762000" y="5588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229 испытуемых · 23 признака · вложенная валидация по группам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F8658E36-6360-BD1F-8998-F4CD1D0AB0D6}"/>
              </a:ext>
            </a:extLst>
          </p:cNvPr>
          <p:cNvSpPr/>
          <p:nvPr/>
        </p:nvSpPr>
        <p:spPr>
          <a:xfrm>
            <a:off x="7747000" y="1651000"/>
            <a:ext cx="3810000" cy="38100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6C081000-3C36-B3F3-82F2-1CF7BC233D79}"/>
              </a:ext>
            </a:extLst>
          </p:cNvPr>
          <p:cNvSpPr/>
          <p:nvPr/>
        </p:nvSpPr>
        <p:spPr>
          <a:xfrm>
            <a:off x="9423400" y="1346200"/>
            <a:ext cx="457200" cy="381000"/>
          </a:xfrm>
          <a:prstGeom prst="triangl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16C36BFC-D61B-E744-8A28-E6634C263C42}"/>
              </a:ext>
            </a:extLst>
          </p:cNvPr>
          <p:cNvSpPr/>
          <p:nvPr/>
        </p:nvSpPr>
        <p:spPr>
          <a:xfrm>
            <a:off x="75755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5FA8AD42-C707-24E9-B5F2-8613C8F9D295}"/>
              </a:ext>
            </a:extLst>
          </p:cNvPr>
          <p:cNvSpPr/>
          <p:nvPr/>
        </p:nvSpPr>
        <p:spPr>
          <a:xfrm>
            <a:off x="114617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39CA163A-A021-D489-0282-293FD262DDB0}"/>
              </a:ext>
            </a:extLst>
          </p:cNvPr>
          <p:cNvSpPr/>
          <p:nvPr/>
        </p:nvSpPr>
        <p:spPr>
          <a:xfrm>
            <a:off x="8756650" y="4775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A6800AAC-0542-9F09-4000-EBBE0DE73EE4}"/>
              </a:ext>
            </a:extLst>
          </p:cNvPr>
          <p:cNvSpPr/>
          <p:nvPr/>
        </p:nvSpPr>
        <p:spPr>
          <a:xfrm>
            <a:off x="9937750" y="4775200"/>
            <a:ext cx="609600" cy="609600"/>
          </a:xfrm>
          <a:prstGeom prst="ellipse">
            <a:avLst/>
          </a:prstGeom>
          <a:solidFill>
            <a:srgbClr val="C9D3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BF91C3EF-7578-C93A-C142-1ED9A30588D1}"/>
              </a:ext>
            </a:extLst>
          </p:cNvPr>
          <p:cNvSpPr/>
          <p:nvPr/>
        </p:nvSpPr>
        <p:spPr>
          <a:xfrm>
            <a:off x="109474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T4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B91317DC-FFC7-C1BC-FAEA-DD15EDFC64F2}"/>
              </a:ext>
            </a:extLst>
          </p:cNvPr>
          <p:cNvSpPr/>
          <p:nvPr/>
        </p:nvSpPr>
        <p:spPr>
          <a:xfrm>
            <a:off x="99377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CF2FA6C6-70AA-080D-0913-ABF10A93DEA9}"/>
              </a:ext>
            </a:extLst>
          </p:cNvPr>
          <p:cNvSpPr/>
          <p:nvPr/>
        </p:nvSpPr>
        <p:spPr>
          <a:xfrm>
            <a:off x="77470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T3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B76C9581-0822-92F3-66DA-78E19CB40750}"/>
              </a:ext>
            </a:extLst>
          </p:cNvPr>
          <p:cNvSpPr/>
          <p:nvPr/>
        </p:nvSpPr>
        <p:spPr>
          <a:xfrm>
            <a:off x="87566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985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894F5-1789-29EE-FB75-C69401AF1FDA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Данные подсказывают ответ — и это ловушка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5F021AB8-CCC4-F3FB-0E1B-F0034469E3D4}"/>
              </a:ext>
            </a:extLst>
          </p:cNvPr>
          <p:cNvSpPr/>
          <p:nvPr/>
        </p:nvSpPr>
        <p:spPr>
          <a:xfrm>
            <a:off x="508000" y="1270000"/>
            <a:ext cx="5080000" cy="4826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EECED-1420-E570-DE6A-900C4E94C704}"/>
              </a:ext>
            </a:extLst>
          </p:cNvPr>
          <p:cNvSpPr txBox="1"/>
          <p:nvPr/>
        </p:nvSpPr>
        <p:spPr>
          <a:xfrm>
            <a:off x="889000" y="1587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200" b="1">
                <a:solidFill>
                  <a:srgbClr val="EB6834"/>
                </a:solidFill>
                <a:latin typeface="Cambria" panose="02040503050406030204" pitchFamily="18" charset="0"/>
              </a:rPr>
              <a:t>0.985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F466D5-A8BF-05F2-D189-D2450D4A2750}"/>
              </a:ext>
            </a:extLst>
          </p:cNvPr>
          <p:cNvSpPr txBox="1"/>
          <p:nvPr/>
        </p:nvSpPr>
        <p:spPr>
          <a:xfrm>
            <a:off x="889000" y="2603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правила «формат B → ПТСР»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без анализа сигнала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A68CF4-F886-6C99-1792-267D8E4C497A}"/>
              </a:ext>
            </a:extLst>
          </p:cNvPr>
          <p:cNvSpPr txBox="1"/>
          <p:nvPr/>
        </p:nvSpPr>
        <p:spPr>
          <a:xfrm>
            <a:off x="889000" y="34290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все 25 ПТСР выгружены в формате B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45 из 67 норм — формат C: нет межканальной связи и альфы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дополнительная партия норм: копии каналов, другой O2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1686AA-3EFC-CE7C-490A-B0F1A146636F}"/>
              </a:ext>
            </a:extLst>
          </p:cNvPr>
          <p:cNvSpPr txBox="1"/>
          <p:nvPr/>
        </p:nvSpPr>
        <p:spPr>
          <a:xfrm>
            <a:off x="6223000" y="1397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229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1F3CD-D33D-47CA-3776-675AF8193EEF}"/>
              </a:ext>
            </a:extLst>
          </p:cNvPr>
          <p:cNvSpPr txBox="1"/>
          <p:nvPr/>
        </p:nvSpPr>
        <p:spPr>
          <a:xfrm>
            <a:off x="6223000" y="2006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испытуемых → 221 независимая группа (копии записей объединены)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3AE69-6A77-8384-075F-0CC574F896C8}"/>
              </a:ext>
            </a:extLst>
          </p:cNvPr>
          <p:cNvSpPr txBox="1"/>
          <p:nvPr/>
        </p:nvSpPr>
        <p:spPr>
          <a:xfrm>
            <a:off x="6223000" y="285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BB6AF4-D7ED-CCCF-DB41-47E69EE72D01}"/>
              </a:ext>
            </a:extLst>
          </p:cNvPr>
          <p:cNvSpPr txBox="1"/>
          <p:nvPr/>
        </p:nvSpPr>
        <p:spPr>
          <a:xfrm>
            <a:off x="6223000" y="34671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формата выгрузки EDF, почти совпадающих с диагнозом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CE8B7-1496-9349-BE92-30186A7E12E5}"/>
              </a:ext>
            </a:extLst>
          </p:cNvPr>
          <p:cNvSpPr txBox="1"/>
          <p:nvPr/>
        </p:nvSpPr>
        <p:spPr>
          <a:xfrm>
            <a:off x="6223000" y="4318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495FE-B52C-E988-93E6-C94ACB9FFBEA}"/>
              </a:ext>
            </a:extLst>
          </p:cNvPr>
          <p:cNvSpPr txBox="1"/>
          <p:nvPr/>
        </p:nvSpPr>
        <p:spPr>
          <a:xfrm>
            <a:off x="6223000" y="4927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сухих электродов, референт на левом ухе, без Fz/Cz/Pz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2F82B3-CDFB-6AC8-3B92-25A12303C0A9}"/>
              </a:ext>
            </a:extLst>
          </p:cNvPr>
          <p:cNvSpPr txBox="1"/>
          <p:nvPr/>
        </p:nvSpPr>
        <p:spPr>
          <a:xfrm>
            <a:off x="508000" y="62484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Высокий AUC ≠ физиология. Каждый результат проверяем по стратам «когорта × формат × партия».</a:t>
            </a:r>
          </a:p>
        </p:txBody>
      </p:sp>
    </p:spTree>
    <p:extLst>
      <p:ext uri="{BB962C8B-B14F-4D97-AF65-F5344CB8AC3E}">
        <p14:creationId xmlns:p14="http://schemas.microsoft.com/office/powerpoint/2010/main" val="179240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E823F3-901A-BB5D-7DFA-5D0CE5A84E94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Конвейер и валидация без утечки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B053632-CC99-1629-700D-8CE9369C8943}"/>
              </a:ext>
            </a:extLst>
          </p:cNvPr>
          <p:cNvSpPr/>
          <p:nvPr/>
        </p:nvSpPr>
        <p:spPr>
          <a:xfrm>
            <a:off x="50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0030964F-9701-0894-CB73-AFA7DD5F0506}"/>
              </a:ext>
            </a:extLst>
          </p:cNvPr>
          <p:cNvSpPr/>
          <p:nvPr/>
        </p:nvSpPr>
        <p:spPr>
          <a:xfrm>
            <a:off x="66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72C22-CF98-0B92-76E7-56E567CF9ED5}"/>
              </a:ext>
            </a:extLst>
          </p:cNvPr>
          <p:cNvSpPr txBox="1"/>
          <p:nvPr/>
        </p:nvSpPr>
        <p:spPr>
          <a:xfrm>
            <a:off x="66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4213D"/>
                </a:solidFill>
                <a:latin typeface="Calibri" panose="020F0502020204030204" pitchFamily="34" charset="0"/>
              </a:rPr>
              <a:t>EDF</a:t>
            </a:r>
            <a:endParaRPr lang="ru-RU" sz="17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511EA9-C938-067E-7396-6546F9CF2852}"/>
              </a:ext>
            </a:extLst>
          </p:cNvPr>
          <p:cNvSpPr txBox="1"/>
          <p:nvPr/>
        </p:nvSpPr>
        <p:spPr>
          <a:xfrm>
            <a:off x="66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6 каналов по имени, мкВ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61E1785-D7EA-2362-80F8-C639CC4F6E16}"/>
              </a:ext>
            </a:extLst>
          </p:cNvPr>
          <p:cNvSpPr/>
          <p:nvPr/>
        </p:nvSpPr>
        <p:spPr>
          <a:xfrm>
            <a:off x="241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FE1A82E-15D2-FE10-999E-01F6718A2E2D}"/>
              </a:ext>
            </a:extLst>
          </p:cNvPr>
          <p:cNvSpPr/>
          <p:nvPr/>
        </p:nvSpPr>
        <p:spPr>
          <a:xfrm>
            <a:off x="256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FEF026-3959-B9FB-8723-766AAD14AA23}"/>
              </a:ext>
            </a:extLst>
          </p:cNvPr>
          <p:cNvSpPr txBox="1"/>
          <p:nvPr/>
        </p:nvSpPr>
        <p:spPr>
          <a:xfrm>
            <a:off x="256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125 Гц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8B5B1-F321-F280-5CD4-C09D0DE18D9D}"/>
              </a:ext>
            </a:extLst>
          </p:cNvPr>
          <p:cNvSpPr txBox="1"/>
          <p:nvPr/>
        </p:nvSpPr>
        <p:spPr>
          <a:xfrm>
            <a:off x="256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ресэмплинг, ФНЧ 40 Гц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A3375E52-C9FA-CED6-D4C6-9E8E3CA8A12D}"/>
              </a:ext>
            </a:extLst>
          </p:cNvPr>
          <p:cNvSpPr/>
          <p:nvPr/>
        </p:nvSpPr>
        <p:spPr>
          <a:xfrm>
            <a:off x="431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50CB57FB-3373-322E-94F9-38E645B81F5B}"/>
              </a:ext>
            </a:extLst>
          </p:cNvPr>
          <p:cNvSpPr/>
          <p:nvPr/>
        </p:nvSpPr>
        <p:spPr>
          <a:xfrm>
            <a:off x="447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0318F3-CF75-EC4E-214E-2A442238BA7D}"/>
              </a:ext>
            </a:extLst>
          </p:cNvPr>
          <p:cNvSpPr txBox="1"/>
          <p:nvPr/>
        </p:nvSpPr>
        <p:spPr>
          <a:xfrm>
            <a:off x="447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Окна 4 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F04913-E32A-8744-E13B-750DD87008D9}"/>
              </a:ext>
            </a:extLst>
          </p:cNvPr>
          <p:cNvSpPr txBox="1"/>
          <p:nvPr/>
        </p:nvSpPr>
        <p:spPr>
          <a:xfrm>
            <a:off x="447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отбраковка по общим порогам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E84415DA-05C5-8D88-EA67-78A3E373653C}"/>
              </a:ext>
            </a:extLst>
          </p:cNvPr>
          <p:cNvSpPr/>
          <p:nvPr/>
        </p:nvSpPr>
        <p:spPr>
          <a:xfrm>
            <a:off x="622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A67836C2-6F5F-83F9-1CDB-D0223BD1600C}"/>
              </a:ext>
            </a:extLst>
          </p:cNvPr>
          <p:cNvSpPr/>
          <p:nvPr/>
        </p:nvSpPr>
        <p:spPr>
          <a:xfrm>
            <a:off x="637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A37616-4213-2067-6C8F-09B76376F1DE}"/>
              </a:ext>
            </a:extLst>
          </p:cNvPr>
          <p:cNvSpPr txBox="1"/>
          <p:nvPr/>
        </p:nvSpPr>
        <p:spPr>
          <a:xfrm>
            <a:off x="637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Спектр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8230D9-1D2D-E694-8E89-F4D73F3DB821}"/>
              </a:ext>
            </a:extLst>
          </p:cNvPr>
          <p:cNvSpPr txBox="1"/>
          <p:nvPr/>
        </p:nvSpPr>
        <p:spPr>
          <a:xfrm>
            <a:off x="637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лог-среднее периодограмм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6F4FB95E-1CB3-18F3-8175-5FA5507292AF}"/>
              </a:ext>
            </a:extLst>
          </p:cNvPr>
          <p:cNvSpPr/>
          <p:nvPr/>
        </p:nvSpPr>
        <p:spPr>
          <a:xfrm>
            <a:off x="812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637C9696-AE99-67C0-A1D1-D1CC1E80E3CA}"/>
              </a:ext>
            </a:extLst>
          </p:cNvPr>
          <p:cNvSpPr/>
          <p:nvPr/>
        </p:nvSpPr>
        <p:spPr>
          <a:xfrm>
            <a:off x="828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06DEBA-CB12-9A7A-E30D-6062118DB76C}"/>
              </a:ext>
            </a:extLst>
          </p:cNvPr>
          <p:cNvSpPr txBox="1"/>
          <p:nvPr/>
        </p:nvSpPr>
        <p:spPr>
          <a:xfrm>
            <a:off x="828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23 признака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CCF970-FB07-DF0D-B571-A1045527DAD8}"/>
              </a:ext>
            </a:extLst>
          </p:cNvPr>
          <p:cNvSpPr txBox="1"/>
          <p:nvPr/>
        </p:nvSpPr>
        <p:spPr>
          <a:xfrm>
            <a:off x="828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доли ритмов, альфа-пик, наклон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9AC3CC49-2DE2-B5F9-8B6A-5BD45267B7D3}"/>
              </a:ext>
            </a:extLst>
          </p:cNvPr>
          <p:cNvSpPr/>
          <p:nvPr/>
        </p:nvSpPr>
        <p:spPr>
          <a:xfrm>
            <a:off x="1003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BC47410D-1BFE-D3F5-71A4-470385966E38}"/>
              </a:ext>
            </a:extLst>
          </p:cNvPr>
          <p:cNvSpPr/>
          <p:nvPr/>
        </p:nvSpPr>
        <p:spPr>
          <a:xfrm>
            <a:off x="1018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53B16A-1B68-8807-5FA5-2777CEDC3C6D}"/>
              </a:ext>
            </a:extLst>
          </p:cNvPr>
          <p:cNvSpPr txBox="1"/>
          <p:nvPr/>
        </p:nvSpPr>
        <p:spPr>
          <a:xfrm>
            <a:off x="1018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Модель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030B6C-DF76-8539-A924-68ED86BD1392}"/>
              </a:ext>
            </a:extLst>
          </p:cNvPr>
          <p:cNvSpPr txBox="1"/>
          <p:nvPr/>
        </p:nvSpPr>
        <p:spPr>
          <a:xfrm>
            <a:off x="1018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логрегрессия </a:t>
            </a:r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L2 + </a:t>
            </a:r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калибровка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7C3191E9-3E05-F045-A237-6A3ED91CA19D}"/>
              </a:ext>
            </a:extLst>
          </p:cNvPr>
          <p:cNvSpPr/>
          <p:nvPr/>
        </p:nvSpPr>
        <p:spPr>
          <a:xfrm>
            <a:off x="508000" y="3810000"/>
            <a:ext cx="11176000" cy="241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83F4B9-77F7-F05D-A3B9-A61E3289ECC4}"/>
              </a:ext>
            </a:extLst>
          </p:cNvPr>
          <p:cNvSpPr txBox="1"/>
          <p:nvPr/>
        </p:nvSpPr>
        <p:spPr>
          <a:xfrm>
            <a:off x="889000" y="40894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Валидация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2BF1B5-13E9-49A7-A56C-2F274E5BFB3E}"/>
              </a:ext>
            </a:extLst>
          </p:cNvPr>
          <p:cNvSpPr txBox="1"/>
          <p:nvPr/>
        </p:nvSpPr>
        <p:spPr>
          <a:xfrm>
            <a:off x="889000" y="4597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внешний цикл: leave-one-group-out по группам дубликатов — 221 фолд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выбор признаков, C, отрицательного класса и калибровки — только внутри фолда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критерий выбора повторяет формулу оценки ТЗ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7 протоколов фиксировались до запуска; показаны и неудачные</a:t>
            </a:r>
          </a:p>
        </p:txBody>
      </p:sp>
    </p:spTree>
    <p:extLst>
      <p:ext uri="{BB962C8B-B14F-4D97-AF65-F5344CB8AC3E}">
        <p14:creationId xmlns:p14="http://schemas.microsoft.com/office/powerpoint/2010/main" val="3047160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9A59A5-F8CD-3248-1ADD-D52D852D1E7A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Признаки и физиология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898A362-895B-1D7D-4902-AB3C4B6B6A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895" y="1117599"/>
            <a:ext cx="11072211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8120BE52-FA46-969C-C6B7-3CD096C82BEF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9829D9-7B57-EBAC-8706-959DCC5BB3E0}"/>
              </a:ext>
            </a:extLst>
          </p:cNvPr>
          <p:cNvSpPr txBox="1"/>
          <p:nvPr/>
        </p:nvSpPr>
        <p:spPr>
          <a:xfrm>
            <a:off x="73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Затылочная альфа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56145A-2808-5D08-C479-A021B01730B2}"/>
              </a:ext>
            </a:extLst>
          </p:cNvPr>
          <p:cNvSpPr txBox="1"/>
          <p:nvPr/>
        </p:nvSpPr>
        <p:spPr>
          <a:xfrm>
            <a:off x="73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у ПТСР не снижена — отделяет пожилых с возрастным ослаблением альфы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CA0F8CE0-2F95-30B4-C095-3C9DEB64E940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62EDA6-953B-144B-4E98-AA89D57B6DEB}"/>
              </a:ext>
            </a:extLst>
          </p:cNvPr>
          <p:cNvSpPr txBox="1"/>
          <p:nvPr/>
        </p:nvSpPr>
        <p:spPr>
          <a:xfrm>
            <a:off x="454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Наклон спектра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9A8673-0751-401E-6BFB-487320F8F734}"/>
              </a:ext>
            </a:extLst>
          </p:cNvPr>
          <p:cNvSpPr txBox="1"/>
          <p:nvPr/>
        </p:nvSpPr>
        <p:spPr>
          <a:xfrm>
            <a:off x="454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площе на O1, T3, T4 — гипервозбуждение, но так же при старении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2F1147DE-AB65-44B0-4E1E-F271F256D152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BF8E13-614F-151D-DB77-DAC517FEE56D}"/>
              </a:ext>
            </a:extLst>
          </p:cNvPr>
          <p:cNvSpPr txBox="1"/>
          <p:nvPr/>
        </p:nvSpPr>
        <p:spPr>
          <a:xfrm>
            <a:off x="835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Лобная тета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C7E3EF-E9BD-7D31-E891-2B9FB488EBF8}"/>
              </a:ext>
            </a:extLst>
          </p:cNvPr>
          <p:cNvSpPr txBox="1"/>
          <p:nvPr/>
        </p:nvSpPr>
        <p:spPr>
          <a:xfrm>
            <a:off x="835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чуть выше — сниженное бодрствование, нарушения сна</a:t>
            </a:r>
          </a:p>
        </p:txBody>
      </p:sp>
    </p:spTree>
    <p:extLst>
      <p:ext uri="{BB962C8B-B14F-4D97-AF65-F5344CB8AC3E}">
        <p14:creationId xmlns:p14="http://schemas.microsoft.com/office/powerpoint/2010/main" val="127912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EA87D0-8F46-9CFC-0E09-484E6EB34327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Результат вне выборки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9414A0-4858-CB5A-2219-009A525E70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1092199"/>
            <a:ext cx="5334000" cy="52299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75CC146-50CA-5C75-7D7A-9F0B39062EFE}"/>
              </a:ext>
            </a:extLst>
          </p:cNvPr>
          <p:cNvSpPr txBox="1"/>
          <p:nvPr/>
        </p:nvSpPr>
        <p:spPr>
          <a:xfrm>
            <a:off x="6604000" y="1270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800" b="1">
                <a:solidFill>
                  <a:srgbClr val="EB6834"/>
                </a:solidFill>
                <a:latin typeface="Cambria" panose="02040503050406030204" pitchFamily="18" charset="0"/>
              </a:rPr>
              <a:t>0.86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73BD30-AA4A-D88F-6329-B25608FEB75D}"/>
              </a:ext>
            </a:extLst>
          </p:cNvPr>
          <p:cNvSpPr txBox="1"/>
          <p:nvPr/>
        </p:nvSpPr>
        <p:spPr>
          <a:xfrm>
            <a:off x="6604000" y="1981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ПТСР / нормы моложе 65 лет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95% ДИ 0.80–0.92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F291F-10EF-7379-18E0-7EEA795BCDE5}"/>
              </a:ext>
            </a:extLst>
          </p:cNvPr>
          <p:cNvSpPr txBox="1"/>
          <p:nvPr/>
        </p:nvSpPr>
        <p:spPr>
          <a:xfrm>
            <a:off x="6604000" y="2730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94976A-CA09-9E06-C919-8250B4D6711C}"/>
              </a:ext>
            </a:extLst>
          </p:cNvPr>
          <p:cNvSpPr txBox="1"/>
          <p:nvPr/>
        </p:nvSpPr>
        <p:spPr>
          <a:xfrm>
            <a:off x="6604000" y="32893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без формата C (нормы A, B, доп. партия)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615F86-60D3-6E8A-27C1-B35470504C50}"/>
              </a:ext>
            </a:extLst>
          </p:cNvPr>
          <p:cNvSpPr txBox="1"/>
          <p:nvPr/>
        </p:nvSpPr>
        <p:spPr>
          <a:xfrm>
            <a:off x="6604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0.84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EA8C7F-0784-9FB4-F5A7-797E1556DFA7}"/>
              </a:ext>
            </a:extLst>
          </p:cNvPr>
          <p:cNvSpPr txBox="1"/>
          <p:nvPr/>
        </p:nvSpPr>
        <p:spPr>
          <a:xfrm>
            <a:off x="6604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чувствительность при пороге 0.5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5DE603-E244-A8EC-C0CF-B2724BB54958}"/>
              </a:ext>
            </a:extLst>
          </p:cNvPr>
          <p:cNvSpPr txBox="1"/>
          <p:nvPr/>
        </p:nvSpPr>
        <p:spPr>
          <a:xfrm>
            <a:off x="9271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480989-402D-5F18-FD5B-3E1DD2660FC8}"/>
              </a:ext>
            </a:extLst>
          </p:cNvPr>
          <p:cNvSpPr txBox="1"/>
          <p:nvPr/>
        </p:nvSpPr>
        <p:spPr>
          <a:xfrm>
            <a:off x="9271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сбалансированная точность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208D4E-5EA3-AEFE-3021-25B0089FEFF3}"/>
              </a:ext>
            </a:extLst>
          </p:cNvPr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Бутстрэп групп, 2000 повторов. На обучающих данных AUC 0.92 — поэтому считаем только вне выборки.</a:t>
            </a:r>
          </a:p>
        </p:txBody>
      </p:sp>
    </p:spTree>
    <p:extLst>
      <p:ext uri="{BB962C8B-B14F-4D97-AF65-F5344CB8AC3E}">
        <p14:creationId xmlns:p14="http://schemas.microsoft.com/office/powerpoint/2010/main" val="1664137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CFA246-10E7-AC12-29BC-82F5FC380339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Старение отделяется, соматоформные — хуже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9C008E-0468-AADF-38B5-5359B9E43A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508" y="1142999"/>
            <a:ext cx="9114985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DA28FA-ED18-F5B6-0925-91D635674D80}"/>
              </a:ext>
            </a:extLst>
          </p:cNvPr>
          <p:cNvSpPr txBox="1"/>
          <p:nvPr/>
        </p:nvSpPr>
        <p:spPr>
          <a:xfrm>
            <a:off x="762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BAF7A"/>
                </a:solidFill>
                <a:latin typeface="Cambria" panose="02040503050406030204" pitchFamily="18" charset="0"/>
              </a:rPr>
              <a:t>0.87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0A6AE5-06D9-D721-591B-0BD2929A58BE}"/>
              </a:ext>
            </a:extLst>
          </p:cNvPr>
          <p:cNvSpPr txBox="1"/>
          <p:nvPr/>
        </p:nvSpPr>
        <p:spPr>
          <a:xfrm>
            <a:off x="762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нормы 65+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5C5F56-238C-248C-9555-F970AE93B305}"/>
              </a:ext>
            </a:extLst>
          </p:cNvPr>
          <p:cNvSpPr txBox="1"/>
          <p:nvPr/>
        </p:nvSpPr>
        <p:spPr>
          <a:xfrm>
            <a:off x="4318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EB6834"/>
                </a:solidFill>
                <a:latin typeface="Cambria" panose="02040503050406030204" pitchFamily="18" charset="0"/>
              </a:rPr>
              <a:t>0.61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10C1FD-B1A0-A67A-9314-F70C812480A2}"/>
              </a:ext>
            </a:extLst>
          </p:cNvPr>
          <p:cNvSpPr txBox="1"/>
          <p:nvPr/>
        </p:nvSpPr>
        <p:spPr>
          <a:xfrm>
            <a:off x="4318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соматоформные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43B4E-400B-DC05-2E64-A3C3142DDA49}"/>
              </a:ext>
            </a:extLst>
          </p:cNvPr>
          <p:cNvSpPr txBox="1"/>
          <p:nvPr/>
        </p:nvSpPr>
        <p:spPr>
          <a:xfrm>
            <a:off x="7874000" y="5232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У ПТСР и соматоформных общий профиль гипервозбуждения (плоский спектр и бета на T4). Ложноположительные — с сохранной затылочной альфой.</a:t>
            </a:r>
          </a:p>
        </p:txBody>
      </p:sp>
    </p:spTree>
    <p:extLst>
      <p:ext uri="{BB962C8B-B14F-4D97-AF65-F5344CB8AC3E}">
        <p14:creationId xmlns:p14="http://schemas.microsoft.com/office/powerpoint/2010/main" val="1757457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D9469E-3A01-6D70-7083-BF498AB4CEBB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Что результат не объясняет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14790AD-2E5E-32FA-FC27-21647E5012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99" y="1066799"/>
            <a:ext cx="10108602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6EBDCEE1-D8D3-8BCF-6C6B-93B31A4DF08D}"/>
              </a:ext>
            </a:extLst>
          </p:cNvPr>
          <p:cNvSpPr/>
          <p:nvPr/>
        </p:nvSpPr>
        <p:spPr>
          <a:xfrm>
            <a:off x="5080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E9EA9062-79B1-5B07-314B-53C29ADB376C}"/>
              </a:ext>
            </a:extLst>
          </p:cNvPr>
          <p:cNvSpPr/>
          <p:nvPr/>
        </p:nvSpPr>
        <p:spPr>
          <a:xfrm>
            <a:off x="6858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C28F4C-88FE-1FA4-B9F0-AD4B0B0385C9}"/>
              </a:ext>
            </a:extLst>
          </p:cNvPr>
          <p:cNvSpPr txBox="1"/>
          <p:nvPr/>
        </p:nvSpPr>
        <p:spPr>
          <a:xfrm>
            <a:off x="6858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Формат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DE16D3-25A3-EECF-CB0C-6E29A428CBE5}"/>
              </a:ext>
            </a:extLst>
          </p:cNvPr>
          <p:cNvSpPr txBox="1"/>
          <p:nvPr/>
        </p:nvSpPr>
        <p:spPr>
          <a:xfrm>
            <a:off x="6858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формата B AUC 0.84, метаданные — 0.00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6B70634-741B-FB96-1D22-7323F8A6A702}"/>
              </a:ext>
            </a:extLst>
          </p:cNvPr>
          <p:cNvSpPr/>
          <p:nvPr/>
        </p:nvSpPr>
        <p:spPr>
          <a:xfrm>
            <a:off x="27686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F7BFFF8-A063-7193-9959-B98509320DB3}"/>
              </a:ext>
            </a:extLst>
          </p:cNvPr>
          <p:cNvSpPr/>
          <p:nvPr/>
        </p:nvSpPr>
        <p:spPr>
          <a:xfrm>
            <a:off x="29464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9E6F8-AA5B-919F-576E-3D05145829F2}"/>
              </a:ext>
            </a:extLst>
          </p:cNvPr>
          <p:cNvSpPr txBox="1"/>
          <p:nvPr/>
        </p:nvSpPr>
        <p:spPr>
          <a:xfrm>
            <a:off x="29464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Качество записи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F32243-4EBB-0AE6-0BD0-3D5A79796215}"/>
              </a:ext>
            </a:extLst>
          </p:cNvPr>
          <p:cNvSpPr txBox="1"/>
          <p:nvPr/>
        </p:nvSpPr>
        <p:spPr>
          <a:xfrm>
            <a:off x="29464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модель на качестве — AUC 0.50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91B1E37B-F10D-A41E-B3BD-4D713C4F4BE7}"/>
              </a:ext>
            </a:extLst>
          </p:cNvPr>
          <p:cNvSpPr/>
          <p:nvPr/>
        </p:nvSpPr>
        <p:spPr>
          <a:xfrm>
            <a:off x="50292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1DC2E5-E0DA-4A5B-1018-3DE3125270BD}"/>
              </a:ext>
            </a:extLst>
          </p:cNvPr>
          <p:cNvSpPr/>
          <p:nvPr/>
        </p:nvSpPr>
        <p:spPr>
          <a:xfrm>
            <a:off x="52070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E4839C-2C91-302D-5ACD-9CE36A92B4CC}"/>
              </a:ext>
            </a:extLst>
          </p:cNvPr>
          <p:cNvSpPr txBox="1"/>
          <p:nvPr/>
        </p:nvSpPr>
        <p:spPr>
          <a:xfrm>
            <a:off x="52070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Возраст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60354-1993-363E-291D-36FF4993F72B}"/>
              </a:ext>
            </a:extLst>
          </p:cNvPr>
          <p:cNvSpPr txBox="1"/>
          <p:nvPr/>
        </p:nvSpPr>
        <p:spPr>
          <a:xfrm>
            <a:off x="52070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партии R² ≈ 0, P не связана с возрастом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53DAAD4-563B-634B-BE6B-C110EA6DFBBF}"/>
              </a:ext>
            </a:extLst>
          </p:cNvPr>
          <p:cNvSpPr/>
          <p:nvPr/>
        </p:nvSpPr>
        <p:spPr>
          <a:xfrm>
            <a:off x="72898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66359C7B-4FFC-CC24-4543-74A20175D946}"/>
              </a:ext>
            </a:extLst>
          </p:cNvPr>
          <p:cNvSpPr/>
          <p:nvPr/>
        </p:nvSpPr>
        <p:spPr>
          <a:xfrm>
            <a:off x="74676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D0A92-25DF-A1AE-4845-5CF55FE004BA}"/>
              </a:ext>
            </a:extLst>
          </p:cNvPr>
          <p:cNvSpPr txBox="1"/>
          <p:nvPr/>
        </p:nvSpPr>
        <p:spPr>
          <a:xfrm>
            <a:off x="74676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Поведение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9521BE-30D1-4AFC-CB64-CAB328D633CB}"/>
              </a:ext>
            </a:extLst>
          </p:cNvPr>
          <p:cNvSpPr txBox="1"/>
          <p:nvPr/>
        </p:nvSpPr>
        <p:spPr>
          <a:xfrm>
            <a:off x="74676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P не растёт со временем решения таблиц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9AFCA15C-8B26-6BB5-0367-2498F75CAC36}"/>
              </a:ext>
            </a:extLst>
          </p:cNvPr>
          <p:cNvSpPr/>
          <p:nvPr/>
        </p:nvSpPr>
        <p:spPr>
          <a:xfrm>
            <a:off x="95504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5B8E6471-198B-D2EB-A2C1-F9AEFCDF2548}"/>
              </a:ext>
            </a:extLst>
          </p:cNvPr>
          <p:cNvSpPr/>
          <p:nvPr/>
        </p:nvSpPr>
        <p:spPr>
          <a:xfrm>
            <a:off x="9728200" y="4622800"/>
            <a:ext cx="355600" cy="355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!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F8B7D-1EF4-45BD-6680-86DAEE2ACF1F}"/>
              </a:ext>
            </a:extLst>
          </p:cNvPr>
          <p:cNvSpPr txBox="1"/>
          <p:nvPr/>
        </p:nvSpPr>
        <p:spPr>
          <a:xfrm>
            <a:off x="97282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Ограничение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FF39E6-834C-EB87-0BE1-48EFE4F757CA}"/>
              </a:ext>
            </a:extLst>
          </p:cNvPr>
          <p:cNvSpPr txBox="1"/>
          <p:nvPr/>
        </p:nvSpPr>
        <p:spPr>
          <a:xfrm>
            <a:off x="97282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без T3/T4 AUC против молодых норм A/B — 0.57</a:t>
            </a:r>
          </a:p>
        </p:txBody>
      </p:sp>
    </p:spTree>
    <p:extLst>
      <p:ext uri="{BB962C8B-B14F-4D97-AF65-F5344CB8AC3E}">
        <p14:creationId xmlns:p14="http://schemas.microsoft.com/office/powerpoint/2010/main" val="274396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96AF09-E522-3967-2604-A13F6CA582CB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 поведением и без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710C39-3149-002B-D6F6-512156D6C2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417" y="1041399"/>
            <a:ext cx="9195166" cy="406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AC2071-CF94-1E0E-25AC-7ADA22689DEE}"/>
              </a:ext>
            </a:extLst>
          </p:cNvPr>
          <p:cNvSpPr txBox="1"/>
          <p:nvPr/>
        </p:nvSpPr>
        <p:spPr>
          <a:xfrm>
            <a:off x="762000" y="5270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0.75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2BB25-408A-A754-F84A-01183FC144D9}"/>
              </a:ext>
            </a:extLst>
          </p:cNvPr>
          <p:cNvSpPr txBox="1"/>
          <p:nvPr/>
        </p:nvSpPr>
        <p:spPr>
          <a:xfrm>
            <a:off x="762000" y="5930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ЭЭГ + время решения таблиц (0.61 и 0.64 по отдельности)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361DF6-D13E-631C-54AD-BD98EB8C6214}"/>
              </a:ext>
            </a:extLst>
          </p:cNvPr>
          <p:cNvSpPr txBox="1"/>
          <p:nvPr/>
        </p:nvSpPr>
        <p:spPr>
          <a:xfrm>
            <a:off x="5080000" y="5334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поведение отделяет молодых норм, но пожилых принимает за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ЭЭГ отделяет пожилых — сигналы дополняют друг друга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сдаём только ЭЭГ: у 85 из 229 нет времени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269269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E9B1E-F13E-9311-DEB6-5F3AA3C38032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Бонус: слуховой ответ без меток стимулов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09D16C8-7A93-7781-7562-FC0F4FA26C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17600"/>
            <a:ext cx="11176000" cy="2906699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38AECE2-ED14-AF99-4F28-1B80B7CAAB88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BD967AC-8AC7-EE29-24A9-8C5A9D8A4E40}"/>
              </a:ext>
            </a:extLst>
          </p:cNvPr>
          <p:cNvSpPr/>
          <p:nvPr/>
        </p:nvSpPr>
        <p:spPr>
          <a:xfrm>
            <a:off x="73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показано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EDF930-C836-23AA-A2D9-4BD04E7F289F}"/>
              </a:ext>
            </a:extLst>
          </p:cNvPr>
          <p:cNvSpPr txBox="1"/>
          <p:nvPr/>
        </p:nvSpPr>
        <p:spPr>
          <a:xfrm>
            <a:off x="73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удары метронома в покое: p = 0.0005, фронтальный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DB8E5AE-5847-9A1F-FD14-FCB9D7669EEA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EDEEE039-3E28-7122-251B-E0139FAA6248}"/>
              </a:ext>
            </a:extLst>
          </p:cNvPr>
          <p:cNvSpPr/>
          <p:nvPr/>
        </p:nvSpPr>
        <p:spPr>
          <a:xfrm>
            <a:off x="454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проверено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C885D-9A1C-C235-49C6-63F8B757B327}"/>
              </a:ext>
            </a:extLst>
          </p:cNvPr>
          <p:cNvSpPr txBox="1"/>
          <p:nvPr/>
        </p:nvSpPr>
        <p:spPr>
          <a:xfrm>
            <a:off x="454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метод на открытых данных ERP CORE и в гибридной симуляции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C5A148AF-F535-DD98-48D6-8D6A852B4D05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643183E-8E4F-D7FC-C693-FF7C2F8A3F29}"/>
              </a:ext>
            </a:extLst>
          </p:cNvPr>
          <p:cNvSpPr/>
          <p:nvPr/>
        </p:nvSpPr>
        <p:spPr>
          <a:xfrm>
            <a:off x="835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не показано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4B38BF-36A8-6934-E920-1C8844275001}"/>
              </a:ext>
            </a:extLst>
          </p:cNvPr>
          <p:cNvSpPr txBox="1"/>
          <p:nvPr/>
        </p:nvSpPr>
        <p:spPr>
          <a:xfrm>
            <a:off x="835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девиант (MMN/P3a): p = 0.048 при пороге 0.025</a:t>
            </a:r>
          </a:p>
        </p:txBody>
      </p:sp>
    </p:spTree>
    <p:extLst>
      <p:ext uri="{BB962C8B-B14F-4D97-AF65-F5344CB8AC3E}">
        <p14:creationId xmlns:p14="http://schemas.microsoft.com/office/powerpoint/2010/main" val="2018637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065B71-78CA-4599-7971-D22D63BD8419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400" b="1">
                <a:solidFill>
                  <a:srgbClr val="FFFFFF"/>
                </a:solidFill>
                <a:latin typeface="Cambria" panose="02040503050406030204" pitchFamily="18" charset="0"/>
              </a:rPr>
              <a:t>Выводы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327A308D-BB75-C626-6B11-A87261A609AC}"/>
              </a:ext>
            </a:extLst>
          </p:cNvPr>
          <p:cNvSpPr/>
          <p:nvPr/>
        </p:nvSpPr>
        <p:spPr>
          <a:xfrm>
            <a:off x="762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23000-BD4F-29D5-3D02-C721433EC624}"/>
              </a:ext>
            </a:extLst>
          </p:cNvPr>
          <p:cNvSpPr txBox="1"/>
          <p:nvPr/>
        </p:nvSpPr>
        <p:spPr>
          <a:xfrm>
            <a:off x="762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работает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A3F93-0212-4C6D-3D88-10BABCC15CF8}"/>
              </a:ext>
            </a:extLst>
          </p:cNvPr>
          <p:cNvSpPr txBox="1"/>
          <p:nvPr/>
        </p:nvSpPr>
        <p:spPr>
          <a:xfrm>
            <a:off x="762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AUC 0.86 вне выборки, чувствительность 0.84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надёжное отделение нормального старения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без утечки: группы дубликатов, выбор внутри фолдов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F30100AC-6469-7736-877A-08BF17A923BA}"/>
              </a:ext>
            </a:extLst>
          </p:cNvPr>
          <p:cNvSpPr/>
          <p:nvPr/>
        </p:nvSpPr>
        <p:spPr>
          <a:xfrm>
            <a:off x="4445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2B82E8-AFC7-F3D0-657D-16B6435941A9}"/>
              </a:ext>
            </a:extLst>
          </p:cNvPr>
          <p:cNvSpPr txBox="1"/>
          <p:nvPr/>
        </p:nvSpPr>
        <p:spPr>
          <a:xfrm>
            <a:off x="4445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Ограничения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E8AB67-8301-23D2-B4A5-ADE73E12CF7E}"/>
              </a:ext>
            </a:extLst>
          </p:cNvPr>
          <p:cNvSpPr txBox="1"/>
          <p:nvPr/>
        </p:nvSpPr>
        <p:spPr>
          <a:xfrm>
            <a:off x="4445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 молодыми нормами — опора на T3/T4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соматоформные: общий профиль, специфичность 0.61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когорты различаются не только диагнозом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27B32BED-EC52-9D4D-FF81-7C164655F217}"/>
              </a:ext>
            </a:extLst>
          </p:cNvPr>
          <p:cNvSpPr/>
          <p:nvPr/>
        </p:nvSpPr>
        <p:spPr>
          <a:xfrm>
            <a:off x="8128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E9914B-4614-08A5-52F8-057072D6AB15}"/>
              </a:ext>
            </a:extLst>
          </p:cNvPr>
          <p:cNvSpPr txBox="1"/>
          <p:nvPr/>
        </p:nvSpPr>
        <p:spPr>
          <a:xfrm>
            <a:off x="8128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дальше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F7731-8E80-A59C-D332-94FAC62DA023}"/>
              </a:ext>
            </a:extLst>
          </p:cNvPr>
          <p:cNvSpPr txBox="1"/>
          <p:nvPr/>
        </p:nvSpPr>
        <p:spPr>
          <a:xfrm>
            <a:off x="8128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контроль с боевой травмой без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одна гарнитура и экспорт для всех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шкалы тяжести, лекарства, ЧМТ, сон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5ADC56-FC7F-247E-004D-A1FEEE6DDE5F}"/>
              </a:ext>
            </a:extLst>
          </p:cNvPr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Код, ноутбуки, аудит данных и клиническая интерпретация — в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264383194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1288</Words>
  <Application>Microsoft Office PowerPoint</Application>
  <PresentationFormat>Произвольный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Игорь Яцун</dc:creator>
  <cp:lastModifiedBy>Игорь Яцун</cp:lastModifiedBy>
  <cp:revision>1</cp:revision>
  <dcterms:created xsi:type="dcterms:W3CDTF">2026-09-27T14:55:14Z</dcterms:created>
  <dcterms:modified xsi:type="dcterms:W3CDTF">2026-09-27T14:55:15Z</dcterms:modified>
</cp:coreProperties>
</file>