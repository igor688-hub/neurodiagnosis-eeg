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AA1972-85C6-46E6-BCDC-0D282712E8F4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0A806C-E4AA-4014-807C-EBAD5FEA37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030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Задача: по записи сухой ЭЭГ на 6 каналах выдать вероятность принадлежности к ПТСР. Мы сдаём модель только на минуте покоя с закрытыми глазами и покажем не только метрики, но и то, на чём модель держится, а на чём нет. O2 выделен серым: мы его не используем.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9503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Первое, что мы нашли: способ выгрузки почти совпадает с меткой. Все ПТСР в формате B, большинство норм — в формате C, который вообще не похож на типичную ЭЭГ. Правило «формат B — значит ПТСР» без единого признака сигнала даёт AUC 0.985. Поэтому высокий AUC мы не считаем доказательством и дальше всегда показываем результаты по стратам.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52937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Конвейер простой и одинаковый для обучения и инференса: ресэмплинг к 125 герцам, фильтр 40 герц, окна по 4 секунды с отбраковкой артефактов, спектр и 23 признака, которые не зависят от усиления канала. Модель — логистическая регрессия: на 25 пациентах нужна простая и объяснимая модель. Утечки нет: записи-дубликаты объединены в группы, валидация leave-one-group-out, и весь выбор делается внутри фолда.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1683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схеме головы — насколько каждый признак отличает ПТСР от молодых норм: красное — выше у ПТСР, синее — ниже. Ожидаемого по литературе ослабления альфы у ПТСР нет: альфа работает на отделение пожилых. Спектр у ПТСР немного площе и лобной теты чуть больше — это согласуется с гипервозбуждением и нарушениями сна, но эффекты маленькие и неспецифичные.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59039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Таблица, которую требует ТЗ: признак, отведение, диапазон, направление при ПТСР и механизм. Самый весомый признак — наклон спектра на височных отведениях; он согласуется с литературой, но на T3 сильно зависит от партии регистрации. Альфа у ПТСР не снижена и работает на отделение пожилых. Надёжно у ПТСР сдвинуты только наклон и бета на T4, и оба так же сдвинуты у соматоформных; такой же профиль дают бензодиазепины, а сведений о терапии у нас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3409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Все метрики вне выборки: каждого испытуемого предсказывает модель, которая его не видела. AUC против норм моложе 65 — 0.86 с интервалом от 0.80 до 0.92. Если убрать нетипичный формат C — 0.77, а специфичность на этих сопоставимых нормах — всего 0.52; это честная цифра для практики. Чувствительность при пороге 0.5 — 0.84: порог стоит в точке, где чувствительность равна специфичности на группах проверки, а нормам 65+ и соматоформным при обучении можно давать повышенный вес — это подняло и специфичность, и AUC.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1754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Каждая точка — испытуемый. Пожилых модель отделяет хорошо: специфичность 0.87, потому что у них ослаблена и замедлена альфа. Соматоформные — самая трудная группа, 0.61. Мы проверили каждый признак: всё, что надёжно отличает ПТСР от нормы, так же сдвинуто и у соматоформных. Это общий клинический профиль, а не маркер травмы. При этом соматоформные получают даже меньшую вероятность, чем здоровые нормы того же формата, — значит, их отделяет что-то другое, и главный кандидат — пол: все пациенты с ПТСР мужчины, а среди соматоформных есть женщины.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2015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ТЗ требует три проверки, мы сделали больше. Формат: внутри одного формата B модель различает ПТСР и 65 норм с AUC 0.84, а модель на метаданных — ноль. Качество записи само по себе ничего не даёт. Возраст внутри партии признаки не предсказывают. От времени решения таблиц вероятность не зависит. Честное ограничение: различение с молодыми нормами держится на височных отведениях; без них AUC против норм A/B — 0.57.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1772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Обязательное сравнение: на 142 испытуемых с годным временем решения. Поведение отделяет ПТСР от молодых норм, но пожилые решают медленнее всех и выглядят как ПТСР. ЭЭГ делает наоборот. Вместе — 0.75. В индексах Шульте–Горбова у ПТСР равномерно сниженный темп при нормальной врабатываемости и без истощаемости — это не астенический профиль, как при ЧМТ. Мы сдаём модель только на ЭЭГ: задача про ЭЭГ-диагностику, и у 85 испытуемых обучения времени решения просто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80765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Меток стимулов нет, поэтому мы сворачиваем запись по 4-секундным тактам и ищем фазу на одной половине записи, а проверяем на другой. Ответ на удары метронома в покое найден надёжно, он фронтальный — как слуховой N1 при ушном референте. Метод проверен на открытых данных ERP CORE: аппаратный фильтр 2 герца искажает MMN, и метод видит только ответ крупнее 1.1–1.5 микровольта. Ответ на девиант в подтверждающем тесте не прошёл заранее заданный порог — мы так и пишем.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4480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Итог. Модель на минуте покоя даёт AUC 0.86 вне выборки и надёжно отделяет нормальное старение. Ограничения мы показываем открыто: с молодыми нормами модель держится на височных отведениях, соматоформных различает хуже, а когорты отличаются не только диагнозом. Для настоящего биомаркера нужны контроль с боевой травмой без ПТСР и одинаковые условия регистрации.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0A806C-E4AA-4014-807C-EBAD5FEA3779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0763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3C1A63-B63F-6448-5FF9-7457E65DC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947AD67-34D9-A031-770C-F40EB877F8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1A3676-62B0-3B38-13FA-57C90FF02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D32EBD-C2DE-6B39-7A36-8EA2BD98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A5FE08-5C5A-7726-6D92-D559BF05C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4270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9CC642-AAC8-F0E9-54E6-5512EA651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2F4F33D-54C3-4289-CCDC-33593B1B7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B276FA-884F-9466-5552-512F0C1EC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36BC054-73C6-AF05-8318-C7EFBE86A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E4ED2D1-B0B9-D288-077E-440111684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7605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6B06E4-1704-9359-0F27-100FB354F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9BC013F-F0C8-FDAB-9E03-E60511D4F7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B10CAC-AB1E-A4B4-5097-64DA46239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FE90FD-323F-55DC-01C7-FA432E9FD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A586D3-0E20-FB01-7965-46A2C17CA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4071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366C15-40E6-C173-3D91-FDFF6510D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B3D70E-69A7-5745-1E01-F8D8785C3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950E927-07F2-783F-0000-EC61EEA0E1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47AD51-647F-7D91-5AF3-6DEC50C5B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16308B5-79BA-A6AA-C0BF-2553AC68D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EC80F9-D752-A212-36C3-6FDE66961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1372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9852FF-07FE-1A47-B658-CD3B54EC6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1CDA91-8AC4-9269-AB30-F534E35AF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38B72B0-8CF1-80F8-A790-FFEEB51C4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8E4E607-7C0E-A4A8-791D-C544C6C91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54C4EF6-6BAB-DDB7-4A93-32227B6E7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7FA3C4D-0F35-F65F-1D5F-B81959624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E7FEA32-D177-E7B6-2AB0-A7A2C6516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1CC88C2-3131-0D27-C9B1-A2EF4AB22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7450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631F34-7C59-D984-A696-3B47C080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17E4BE2-243C-6438-9F8F-3EF50A9FD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70B225-2C7D-4151-4058-CE84DBCF5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4B2ABB6-4EFB-4281-075F-EAEEAA297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0163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8E6CEA6-296D-B7C8-DF86-1FB60807E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9FDFA67-0AF2-6B71-91B1-65A6A46ED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0D4E505-5B91-CCD7-D225-5CE726404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9066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E8B5AA-6485-2A48-2711-899BAFC2D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8FF94D9-EE68-DC1F-C41A-09D92A935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4545C9A-491A-E83B-CD37-7914BF67E5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8DF9BFA-DA51-7B8B-4E72-A6650CE93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310784-0FA9-DFB7-7E13-D63D3E9E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80236B5-F430-E112-4E40-729FABA68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887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D3C79B-3BAF-C547-173E-9AA3E62CD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E102200-3A85-138D-F2DC-FAD7E07DD4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B13C52-3857-4E0B-1FFD-2FDB8D604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40BE715-22D6-6675-D678-196ED4C9A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ACCB8B2-DEA5-C007-3C7C-0DFE5169D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63DBF68-461B-EB16-CA7F-3538FEEE8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324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FFEE7C-6069-BFD2-862F-85CD1F70C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76174A8-3692-0BD2-1B1A-53FB51B4D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62ED52-D41C-6B80-3E73-B8AFA8729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018328-99F7-BDD4-DF9C-F96FE6623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274399D-53AE-345F-886C-982C0297E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161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BF1CE2A-5126-5DC3-9AAE-AC65947E26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1AD4938-2FD7-3F92-5FD8-A97DE263BE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F2A1FA8-8CD7-449D-A51C-5BE1212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DD2A7D-707E-62F2-1FC5-4D572E88FA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A876C0-0BC6-7933-F8E6-7696B4256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6224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4EAB2-8D60-87A0-8EEB-22BAE6F4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B58AFC-FDBD-F60C-ED39-FFB7005A3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45E4400-E46D-C10A-873D-11C1256087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13BAB-2F40-4C9F-9315-0045E09C09F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133D19-E48D-B4F9-597F-128245F0ED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FE1AEC-7113-09D7-A043-DE47F9647A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D9F5E-E54D-4DE1-B539-7084078D4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0847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5CFB45-0A47-2F09-E55E-06FDDA872D36}"/>
              </a:ext>
            </a:extLst>
          </p:cNvPr>
          <p:cNvSpPr txBox="1"/>
          <p:nvPr/>
        </p:nvSpPr>
        <p:spPr>
          <a:xfrm>
            <a:off x="762000" y="889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Хакатон · нейрофизиологическая диагностика ПТСР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B743A1-426A-9DE3-0D9E-DC64E2DB5EDD}"/>
              </a:ext>
            </a:extLst>
          </p:cNvPr>
          <p:cNvSpPr txBox="1"/>
          <p:nvPr/>
        </p:nvSpPr>
        <p:spPr>
          <a:xfrm>
            <a:off x="762000" y="1905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FFFFFF"/>
                </a:solidFill>
                <a:latin typeface="Cambria" panose="02040503050406030204" pitchFamily="18" charset="0"/>
              </a:rPr>
              <a:t>ПТСР по минуте сухой ЭЭГ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F6E962-44A7-987C-AD07-59CD93386051}"/>
              </a:ext>
            </a:extLst>
          </p:cNvPr>
          <p:cNvSpPr txBox="1"/>
          <p:nvPr/>
        </p:nvSpPr>
        <p:spPr>
          <a:xfrm>
            <a:off x="762000" y="34925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>
                <a:solidFill>
                  <a:srgbClr val="C9D3E3"/>
                </a:solidFill>
                <a:latin typeface="Calibri" panose="020F0502020204030204" pitchFamily="34" charset="0"/>
              </a:rPr>
              <a:t>6 каналов, только покой с закрытыми глазами: что модель различает и на чём держится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AA8E3-85E3-C153-93FB-B03F7CA40620}"/>
              </a:ext>
            </a:extLst>
          </p:cNvPr>
          <p:cNvSpPr txBox="1"/>
          <p:nvPr/>
        </p:nvSpPr>
        <p:spPr>
          <a:xfrm>
            <a:off x="762000" y="55880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229 испытуемых · 23 признака · вложенная валидация по группам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97FF39BA-4B17-2995-4898-F0FFC6D50DCB}"/>
              </a:ext>
            </a:extLst>
          </p:cNvPr>
          <p:cNvSpPr/>
          <p:nvPr/>
        </p:nvSpPr>
        <p:spPr>
          <a:xfrm>
            <a:off x="7747000" y="1651000"/>
            <a:ext cx="3810000" cy="38100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20E7BA2E-5F27-BA28-CF97-C84B0AB036B6}"/>
              </a:ext>
            </a:extLst>
          </p:cNvPr>
          <p:cNvSpPr/>
          <p:nvPr/>
        </p:nvSpPr>
        <p:spPr>
          <a:xfrm>
            <a:off x="9423400" y="1346200"/>
            <a:ext cx="457200" cy="381000"/>
          </a:xfrm>
          <a:prstGeom prst="triangl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877A6323-5125-28D4-471A-1E9CE3CEB1E2}"/>
              </a:ext>
            </a:extLst>
          </p:cNvPr>
          <p:cNvSpPr/>
          <p:nvPr/>
        </p:nvSpPr>
        <p:spPr>
          <a:xfrm>
            <a:off x="75755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89A9BBD-C65D-8767-124C-C203BF97FE20}"/>
              </a:ext>
            </a:extLst>
          </p:cNvPr>
          <p:cNvSpPr/>
          <p:nvPr/>
        </p:nvSpPr>
        <p:spPr>
          <a:xfrm>
            <a:off x="11461750" y="3251200"/>
            <a:ext cx="266700" cy="609600"/>
          </a:xfrm>
          <a:prstGeom prst="ellipse">
            <a:avLst/>
          </a:prstGeom>
          <a:noFill/>
          <a:ln w="25400" cap="flat" cmpd="sng" algn="ctr">
            <a:solidFill>
              <a:srgbClr val="C9D3E3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9EB3632-073E-D152-DA06-7B120EDFC22D}"/>
              </a:ext>
            </a:extLst>
          </p:cNvPr>
          <p:cNvSpPr/>
          <p:nvPr/>
        </p:nvSpPr>
        <p:spPr>
          <a:xfrm>
            <a:off x="8756650" y="4775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87003849-33A3-6E20-0832-469DE572C591}"/>
              </a:ext>
            </a:extLst>
          </p:cNvPr>
          <p:cNvSpPr/>
          <p:nvPr/>
        </p:nvSpPr>
        <p:spPr>
          <a:xfrm>
            <a:off x="9937750" y="4775200"/>
            <a:ext cx="609600" cy="609600"/>
          </a:xfrm>
          <a:prstGeom prst="ellipse">
            <a:avLst/>
          </a:prstGeom>
          <a:solidFill>
            <a:srgbClr val="C9D3E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O2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5BC7A9E-0136-79D8-77AB-71138B52F3B6}"/>
              </a:ext>
            </a:extLst>
          </p:cNvPr>
          <p:cNvSpPr/>
          <p:nvPr/>
        </p:nvSpPr>
        <p:spPr>
          <a:xfrm>
            <a:off x="109474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T4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819C63C-12F1-50F2-95D7-26B472CE5107}"/>
              </a:ext>
            </a:extLst>
          </p:cNvPr>
          <p:cNvSpPr/>
          <p:nvPr/>
        </p:nvSpPr>
        <p:spPr>
          <a:xfrm>
            <a:off x="99377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Fp2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46C8E81-ED18-4748-849E-750D9169BEDC}"/>
              </a:ext>
            </a:extLst>
          </p:cNvPr>
          <p:cNvSpPr/>
          <p:nvPr/>
        </p:nvSpPr>
        <p:spPr>
          <a:xfrm>
            <a:off x="7747000" y="3251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T3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D8532372-5113-DA95-9831-A4C554893795}"/>
              </a:ext>
            </a:extLst>
          </p:cNvPr>
          <p:cNvSpPr/>
          <p:nvPr/>
        </p:nvSpPr>
        <p:spPr>
          <a:xfrm>
            <a:off x="8756650" y="1727200"/>
            <a:ext cx="609600" cy="609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Fp1</a:t>
            </a:r>
            <a:endParaRPr lang="ru-RU" sz="2200" b="1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796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16AD30-FDDB-3AC9-05F1-0EBA6615972F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Данные подсказывают ответ — и это ловушка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8BCCC534-9EC5-61A0-6B73-5F561FC8D0B7}"/>
              </a:ext>
            </a:extLst>
          </p:cNvPr>
          <p:cNvSpPr/>
          <p:nvPr/>
        </p:nvSpPr>
        <p:spPr>
          <a:xfrm>
            <a:off x="508000" y="1270000"/>
            <a:ext cx="5080000" cy="4826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21D235-8FC8-407A-F0E8-C96139686B12}"/>
              </a:ext>
            </a:extLst>
          </p:cNvPr>
          <p:cNvSpPr txBox="1"/>
          <p:nvPr/>
        </p:nvSpPr>
        <p:spPr>
          <a:xfrm>
            <a:off x="889000" y="15875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7200" b="1">
                <a:solidFill>
                  <a:srgbClr val="EB6834"/>
                </a:solidFill>
                <a:latin typeface="Cambria" panose="02040503050406030204" pitchFamily="18" charset="0"/>
              </a:rPr>
              <a:t>0.985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621D45-03EF-55EF-3A55-A3B2F51D2070}"/>
              </a:ext>
            </a:extLst>
          </p:cNvPr>
          <p:cNvSpPr txBox="1"/>
          <p:nvPr/>
        </p:nvSpPr>
        <p:spPr>
          <a:xfrm>
            <a:off x="889000" y="26035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правила «формат B → ПТСР»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без анализа сигнала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26828C-A464-D577-60F1-2887E39E4106}"/>
              </a:ext>
            </a:extLst>
          </p:cNvPr>
          <p:cNvSpPr txBox="1"/>
          <p:nvPr/>
        </p:nvSpPr>
        <p:spPr>
          <a:xfrm>
            <a:off x="889000" y="34290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все 25 ПТСР выгружены в формате B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45 из 67 норм — формат C: нет межканальной связи и альфы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1B1B1B"/>
                </a:solidFill>
                <a:latin typeface="Calibri" panose="020F0502020204030204" pitchFamily="34" charset="0"/>
              </a:rPr>
              <a:t>дополнительная партия норм: копии каналов, другой O2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7FF7E-9B6C-8971-3159-D1AA72AEEBE9}"/>
              </a:ext>
            </a:extLst>
          </p:cNvPr>
          <p:cNvSpPr txBox="1"/>
          <p:nvPr/>
        </p:nvSpPr>
        <p:spPr>
          <a:xfrm>
            <a:off x="6223000" y="1397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229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9C7559-C2A2-27B4-8033-5AF6F895BDBA}"/>
              </a:ext>
            </a:extLst>
          </p:cNvPr>
          <p:cNvSpPr txBox="1"/>
          <p:nvPr/>
        </p:nvSpPr>
        <p:spPr>
          <a:xfrm>
            <a:off x="6223000" y="2006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испытуемых → 221 независимая группа (копии записей объединены)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25146E-2FE2-816C-76B2-8B305C2C9C18}"/>
              </a:ext>
            </a:extLst>
          </p:cNvPr>
          <p:cNvSpPr txBox="1"/>
          <p:nvPr/>
        </p:nvSpPr>
        <p:spPr>
          <a:xfrm>
            <a:off x="6223000" y="285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0A3887-1E9F-5B91-3799-2BB5996BBD3D}"/>
              </a:ext>
            </a:extLst>
          </p:cNvPr>
          <p:cNvSpPr txBox="1"/>
          <p:nvPr/>
        </p:nvSpPr>
        <p:spPr>
          <a:xfrm>
            <a:off x="6223000" y="34671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формата выгрузки EDF, почти совпадающих с диагнозом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D3086C-E38A-BB20-3A4D-40252137E733}"/>
              </a:ext>
            </a:extLst>
          </p:cNvPr>
          <p:cNvSpPr txBox="1"/>
          <p:nvPr/>
        </p:nvSpPr>
        <p:spPr>
          <a:xfrm>
            <a:off x="6223000" y="4318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4213D"/>
                </a:solidFill>
                <a:latin typeface="Cambria" panose="02040503050406030204" pitchFamily="18" charset="0"/>
              </a:rPr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10432A-AF53-AF80-23AB-47864C09BD85}"/>
              </a:ext>
            </a:extLst>
          </p:cNvPr>
          <p:cNvSpPr txBox="1"/>
          <p:nvPr/>
        </p:nvSpPr>
        <p:spPr>
          <a:xfrm>
            <a:off x="6223000" y="4927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сухих электродов, референт на левом ухе, без Fz/Cz/Pz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599B3C-4B82-A6A0-170F-727EC78EE57E}"/>
              </a:ext>
            </a:extLst>
          </p:cNvPr>
          <p:cNvSpPr txBox="1"/>
          <p:nvPr/>
        </p:nvSpPr>
        <p:spPr>
          <a:xfrm>
            <a:off x="508000" y="62484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Высокий AUC ≠ физиология. Каждый результат проверяем по стратам «когорта × формат × партия».</a:t>
            </a:r>
          </a:p>
        </p:txBody>
      </p:sp>
    </p:spTree>
    <p:extLst>
      <p:ext uri="{BB962C8B-B14F-4D97-AF65-F5344CB8AC3E}">
        <p14:creationId xmlns:p14="http://schemas.microsoft.com/office/powerpoint/2010/main" val="298523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EFCF7E-BCA7-89C0-72C9-8E4A309F2152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Конвейер и валидация без утечки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7238F9B3-F5DE-B723-569A-C7C057FFE9F4}"/>
              </a:ext>
            </a:extLst>
          </p:cNvPr>
          <p:cNvSpPr/>
          <p:nvPr/>
        </p:nvSpPr>
        <p:spPr>
          <a:xfrm>
            <a:off x="50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Овал 3">
            <a:extLst>
              <a:ext uri="{FF2B5EF4-FFF2-40B4-BE49-F238E27FC236}">
                <a16:creationId xmlns:a16="http://schemas.microsoft.com/office/drawing/2014/main" id="{D3F0CFA3-3A8A-3118-08EF-5D3BDCF62A0A}"/>
              </a:ext>
            </a:extLst>
          </p:cNvPr>
          <p:cNvSpPr/>
          <p:nvPr/>
        </p:nvSpPr>
        <p:spPr>
          <a:xfrm>
            <a:off x="66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9E37D8-8085-B8D0-AD96-1858DC0F4301}"/>
              </a:ext>
            </a:extLst>
          </p:cNvPr>
          <p:cNvSpPr txBox="1"/>
          <p:nvPr/>
        </p:nvSpPr>
        <p:spPr>
          <a:xfrm>
            <a:off x="66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4213D"/>
                </a:solidFill>
                <a:latin typeface="Calibri" panose="020F0502020204030204" pitchFamily="34" charset="0"/>
              </a:rPr>
              <a:t>EDF</a:t>
            </a:r>
            <a:endParaRPr lang="ru-RU" sz="1700" b="1">
              <a:solidFill>
                <a:srgbClr val="14213D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081BF6-8319-7C1C-1F6C-B878587FFA61}"/>
              </a:ext>
            </a:extLst>
          </p:cNvPr>
          <p:cNvSpPr txBox="1"/>
          <p:nvPr/>
        </p:nvSpPr>
        <p:spPr>
          <a:xfrm>
            <a:off x="66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6 каналов по имени, мкВ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9E5E2F43-D23A-ADF9-2E27-52C00281613A}"/>
              </a:ext>
            </a:extLst>
          </p:cNvPr>
          <p:cNvSpPr/>
          <p:nvPr/>
        </p:nvSpPr>
        <p:spPr>
          <a:xfrm>
            <a:off x="241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1B780208-9753-585E-0E97-9B54AA58429D}"/>
              </a:ext>
            </a:extLst>
          </p:cNvPr>
          <p:cNvSpPr/>
          <p:nvPr/>
        </p:nvSpPr>
        <p:spPr>
          <a:xfrm>
            <a:off x="256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87685D-4D8A-3EBB-6C08-598E7C8959D4}"/>
              </a:ext>
            </a:extLst>
          </p:cNvPr>
          <p:cNvSpPr txBox="1"/>
          <p:nvPr/>
        </p:nvSpPr>
        <p:spPr>
          <a:xfrm>
            <a:off x="256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125 Гц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CED64B-C56E-3FC2-5EF6-A827922D6C44}"/>
              </a:ext>
            </a:extLst>
          </p:cNvPr>
          <p:cNvSpPr txBox="1"/>
          <p:nvPr/>
        </p:nvSpPr>
        <p:spPr>
          <a:xfrm>
            <a:off x="256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ресэмплинг, ФНЧ 40 Гц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E971CA12-D25B-F858-8F8A-A56BA68C3DE8}"/>
              </a:ext>
            </a:extLst>
          </p:cNvPr>
          <p:cNvSpPr/>
          <p:nvPr/>
        </p:nvSpPr>
        <p:spPr>
          <a:xfrm>
            <a:off x="431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7D373C01-F908-2C69-D962-F40D88282006}"/>
              </a:ext>
            </a:extLst>
          </p:cNvPr>
          <p:cNvSpPr/>
          <p:nvPr/>
        </p:nvSpPr>
        <p:spPr>
          <a:xfrm>
            <a:off x="447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97C617-DEA4-D40F-758F-D0ACCA320933}"/>
              </a:ext>
            </a:extLst>
          </p:cNvPr>
          <p:cNvSpPr txBox="1"/>
          <p:nvPr/>
        </p:nvSpPr>
        <p:spPr>
          <a:xfrm>
            <a:off x="447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Окна 4 с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C98442-0A18-CBB3-8F21-02DE51D0FAD0}"/>
              </a:ext>
            </a:extLst>
          </p:cNvPr>
          <p:cNvSpPr txBox="1"/>
          <p:nvPr/>
        </p:nvSpPr>
        <p:spPr>
          <a:xfrm>
            <a:off x="447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отбраковка по общим порогам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45FFBC9-F1CE-BCC8-D526-364E20711B79}"/>
              </a:ext>
            </a:extLst>
          </p:cNvPr>
          <p:cNvSpPr/>
          <p:nvPr/>
        </p:nvSpPr>
        <p:spPr>
          <a:xfrm>
            <a:off x="622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94105B85-D85C-999A-0A0F-9112D548F197}"/>
              </a:ext>
            </a:extLst>
          </p:cNvPr>
          <p:cNvSpPr/>
          <p:nvPr/>
        </p:nvSpPr>
        <p:spPr>
          <a:xfrm>
            <a:off x="637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65782F-BB19-818D-9E3E-0803D2E565AB}"/>
              </a:ext>
            </a:extLst>
          </p:cNvPr>
          <p:cNvSpPr txBox="1"/>
          <p:nvPr/>
        </p:nvSpPr>
        <p:spPr>
          <a:xfrm>
            <a:off x="637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Спектр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1A0872-B8D3-F7C1-C6A2-25D758BFB1D9}"/>
              </a:ext>
            </a:extLst>
          </p:cNvPr>
          <p:cNvSpPr txBox="1"/>
          <p:nvPr/>
        </p:nvSpPr>
        <p:spPr>
          <a:xfrm>
            <a:off x="637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лог-среднее периодограмм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72572D47-8D66-B492-7D8D-AEFB9BB82133}"/>
              </a:ext>
            </a:extLst>
          </p:cNvPr>
          <p:cNvSpPr/>
          <p:nvPr/>
        </p:nvSpPr>
        <p:spPr>
          <a:xfrm>
            <a:off x="8128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3B5DEF59-AB29-1A35-AC76-C84606D73DE2}"/>
              </a:ext>
            </a:extLst>
          </p:cNvPr>
          <p:cNvSpPr/>
          <p:nvPr/>
        </p:nvSpPr>
        <p:spPr>
          <a:xfrm>
            <a:off x="8280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C58DC2-B06E-9751-75FB-928AD2D26BF9}"/>
              </a:ext>
            </a:extLst>
          </p:cNvPr>
          <p:cNvSpPr txBox="1"/>
          <p:nvPr/>
        </p:nvSpPr>
        <p:spPr>
          <a:xfrm>
            <a:off x="8280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23 признака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F2CC27-E5F2-0071-A493-7247D7C425AD}"/>
              </a:ext>
            </a:extLst>
          </p:cNvPr>
          <p:cNvSpPr txBox="1"/>
          <p:nvPr/>
        </p:nvSpPr>
        <p:spPr>
          <a:xfrm>
            <a:off x="8280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доли ритмов, альфа-пик, наклон</a:t>
            </a: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ED7E5935-1E2F-9458-4361-0C149A294450}"/>
              </a:ext>
            </a:extLst>
          </p:cNvPr>
          <p:cNvSpPr/>
          <p:nvPr/>
        </p:nvSpPr>
        <p:spPr>
          <a:xfrm>
            <a:off x="10033000" y="1397000"/>
            <a:ext cx="1727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80F3C566-1A07-572D-A17C-15C8EF52E554}"/>
              </a:ext>
            </a:extLst>
          </p:cNvPr>
          <p:cNvSpPr/>
          <p:nvPr/>
        </p:nvSpPr>
        <p:spPr>
          <a:xfrm>
            <a:off x="10185400" y="1549400"/>
            <a:ext cx="381000" cy="3810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400" b="1">
                <a:solidFill>
                  <a:srgbClr val="FFFFFF"/>
                </a:solidFill>
                <a:latin typeface="Calibri" panose="020F0502020204030204" pitchFamily="34" charset="0"/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22C742-9E87-EC9E-8781-35DEA6D404C5}"/>
              </a:ext>
            </a:extLst>
          </p:cNvPr>
          <p:cNvSpPr txBox="1"/>
          <p:nvPr/>
        </p:nvSpPr>
        <p:spPr>
          <a:xfrm>
            <a:off x="10185400" y="2108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Модель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689912-58BE-31BE-DA57-55D4864357E1}"/>
              </a:ext>
            </a:extLst>
          </p:cNvPr>
          <p:cNvSpPr txBox="1"/>
          <p:nvPr/>
        </p:nvSpPr>
        <p:spPr>
          <a:xfrm>
            <a:off x="10185400" y="24892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логрегрессия </a:t>
            </a:r>
            <a:r>
              <a:rPr lang="en-US" sz="1300">
                <a:solidFill>
                  <a:srgbClr val="52514E"/>
                </a:solidFill>
                <a:latin typeface="Calibri" panose="020F0502020204030204" pitchFamily="34" charset="0"/>
              </a:rPr>
              <a:t>L2 + </a:t>
            </a:r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калибровка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F9C82DC6-E784-0985-B873-64EA1AD9A8E8}"/>
              </a:ext>
            </a:extLst>
          </p:cNvPr>
          <p:cNvSpPr/>
          <p:nvPr/>
        </p:nvSpPr>
        <p:spPr>
          <a:xfrm>
            <a:off x="508000" y="3810000"/>
            <a:ext cx="11176000" cy="241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811D96-57E9-5806-63D7-C4CF98A70266}"/>
              </a:ext>
            </a:extLst>
          </p:cNvPr>
          <p:cNvSpPr txBox="1"/>
          <p:nvPr/>
        </p:nvSpPr>
        <p:spPr>
          <a:xfrm>
            <a:off x="889000" y="4089400"/>
            <a:ext cx="381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Валидация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346C9-20D8-A064-F376-2B5E65C29533}"/>
              </a:ext>
            </a:extLst>
          </p:cNvPr>
          <p:cNvSpPr txBox="1"/>
          <p:nvPr/>
        </p:nvSpPr>
        <p:spPr>
          <a:xfrm>
            <a:off x="889000" y="45974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внешний цикл: leave-one-group-out по группам дубликатов — 221 фолд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выбор признаков, C, отрицательного класса и калибровки — только внутри фолда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критерий выбора повторяет формулу оценки ТЗ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FFFFFF"/>
                </a:solidFill>
                <a:latin typeface="Calibri" panose="020F0502020204030204" pitchFamily="34" charset="0"/>
              </a:rPr>
              <a:t>8 протоколов фиксировались до запуска; показаны и неудачные</a:t>
            </a:r>
          </a:p>
        </p:txBody>
      </p:sp>
    </p:spTree>
    <p:extLst>
      <p:ext uri="{BB962C8B-B14F-4D97-AF65-F5344CB8AC3E}">
        <p14:creationId xmlns:p14="http://schemas.microsoft.com/office/powerpoint/2010/main" val="1446469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21987D-97DF-91ED-7B44-1BE0E81E32CF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Признаки и физиология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355FF18-4C9C-4BE3-58F1-EB600EF5E7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895" y="1117599"/>
            <a:ext cx="11072211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F847AFE5-7EE0-2F76-FF45-BE8AA935535D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F805DE-DBD4-32E4-C07A-2D32083BD851}"/>
              </a:ext>
            </a:extLst>
          </p:cNvPr>
          <p:cNvSpPr txBox="1"/>
          <p:nvPr/>
        </p:nvSpPr>
        <p:spPr>
          <a:xfrm>
            <a:off x="73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Затылочная альфа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A38616-C139-7527-C2EA-9DDB521D9E3C}"/>
              </a:ext>
            </a:extLst>
          </p:cNvPr>
          <p:cNvSpPr txBox="1"/>
          <p:nvPr/>
        </p:nvSpPr>
        <p:spPr>
          <a:xfrm>
            <a:off x="73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у ПТСР не снижена — отделяет пожилых с возрастным ослаблением альфы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587C4E60-7F1F-0151-A243-7FB6F3326C05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22788B-D163-5C28-CF0C-C2BB92EE1B36}"/>
              </a:ext>
            </a:extLst>
          </p:cNvPr>
          <p:cNvSpPr txBox="1"/>
          <p:nvPr/>
        </p:nvSpPr>
        <p:spPr>
          <a:xfrm>
            <a:off x="454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Наклон спектра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DE0AA-AD60-1332-594A-6769A43095A9}"/>
              </a:ext>
            </a:extLst>
          </p:cNvPr>
          <p:cNvSpPr txBox="1"/>
          <p:nvPr/>
        </p:nvSpPr>
        <p:spPr>
          <a:xfrm>
            <a:off x="454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площе на O1, T3, T4 — гипервозбуждение, но так же при старении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F9B3AB64-BE00-852A-E976-3A595C9D0CE6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3E72C2-7862-8E83-F665-A67BBF4FF35F}"/>
              </a:ext>
            </a:extLst>
          </p:cNvPr>
          <p:cNvSpPr txBox="1"/>
          <p:nvPr/>
        </p:nvSpPr>
        <p:spPr>
          <a:xfrm>
            <a:off x="8356600" y="4775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 b="1">
                <a:solidFill>
                  <a:srgbClr val="14213D"/>
                </a:solidFill>
                <a:latin typeface="Calibri" panose="020F0502020204030204" pitchFamily="34" charset="0"/>
              </a:rPr>
              <a:t>Лобная тета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DD7B8F-5FC0-13B5-0B91-806CD8E5B5C0}"/>
              </a:ext>
            </a:extLst>
          </p:cNvPr>
          <p:cNvSpPr txBox="1"/>
          <p:nvPr/>
        </p:nvSpPr>
        <p:spPr>
          <a:xfrm>
            <a:off x="8356600" y="518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52514E"/>
                </a:solidFill>
                <a:latin typeface="Calibri" panose="020F0502020204030204" pitchFamily="34" charset="0"/>
              </a:rPr>
              <a:t>чуть выше — сниженное бодрствование, нарушения сна</a:t>
            </a:r>
          </a:p>
        </p:txBody>
      </p:sp>
    </p:spTree>
    <p:extLst>
      <p:ext uri="{BB962C8B-B14F-4D97-AF65-F5344CB8AC3E}">
        <p14:creationId xmlns:p14="http://schemas.microsoft.com/office/powerpoint/2010/main" val="318267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1DE721-876A-6BAB-4CEA-2233E07D0C83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Признаки: направление и механизм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7CA42CC5-BB0F-CC51-7DDF-83D66787BB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083566"/>
              </p:ext>
            </p:extLst>
          </p:nvPr>
        </p:nvGraphicFramePr>
        <p:xfrm>
          <a:off x="508000" y="1143000"/>
          <a:ext cx="11176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64119150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467808906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792973550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1246222988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Признак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Отведение · диапазон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При ПТСР*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Механизм и ограничения</a:t>
                      </a:r>
                    </a:p>
                  </a:txBody>
                  <a:tcPr marL="101600" marR="76200" marT="50800" marB="50800">
                    <a:solidFill>
                      <a:srgbClr val="1421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59054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наклон спектра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T3, T4 · 3–30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↓ площе (0.90 / 0.96)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уплощение при ПТСР (Kovacevic, 2025); на T3 зависит от партии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873409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доля беты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T3, T4 · 13–30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T3 ≈, T4 ↑</a:t>
                      </a:r>
                      <a:endParaRPr lang="ru-RU" sz="1300" b="0">
                        <a:solidFill>
                          <a:srgbClr val="1B1B1B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T4 — общий с соматоформными; возможен след бензодиазепинов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136751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доля альфы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8–13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отделяет пожилых с возрастным ослаблением альфы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459715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доля теты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Fp1, T3, T4, O1 · 4–8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↑ слегка (−0.40 / −0.47)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сниженное бодрствование, нарушения сна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42981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наклон спектра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3–30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↓ площе (0.72 / 0.78)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баланс возбуждения и торможения; так же при старении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224938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частота альфа-пика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O1 · 8–13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 (9.95 / 9.69 Гц)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замедляется со старением</a:t>
                      </a:r>
                    </a:p>
                  </a:txBody>
                  <a:tcPr marL="101600" marR="76200"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82745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lang="ru-RU" sz="1300" b="1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лобная асимметрия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Fp2 − Fp1 · 8–13 </a:t>
                      </a:r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Гц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≈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300" b="0">
                          <a:solidFill>
                            <a:srgbClr val="1B1B1B"/>
                          </a:solidFill>
                          <a:latin typeface="Calibri" panose="020F0502020204030204" pitchFamily="34" charset="0"/>
                        </a:rPr>
                        <a:t>модель Davidson; классически F3/F4, прироста не дала</a:t>
                      </a:r>
                    </a:p>
                  </a:txBody>
                  <a:tcPr marL="101600" marR="76200" marT="50800" marB="50800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19833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469AF84-65BD-1570-7880-9618B39C2A6F}"/>
              </a:ext>
            </a:extLst>
          </p:cNvPr>
          <p:cNvSpPr txBox="1"/>
          <p:nvPr/>
        </p:nvSpPr>
        <p:spPr>
          <a:xfrm>
            <a:off x="508000" y="59690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* медиана ПТСР / нормы A; ↑/↓ — относительно молодых норм; строки упорядочены по весу в модели. Надёжно (95% ДИ) сдвинуты только наклон и бета на T4 — и оба так же у соматоформных.</a:t>
            </a:r>
          </a:p>
        </p:txBody>
      </p:sp>
    </p:spTree>
    <p:extLst>
      <p:ext uri="{BB962C8B-B14F-4D97-AF65-F5344CB8AC3E}">
        <p14:creationId xmlns:p14="http://schemas.microsoft.com/office/powerpoint/2010/main" val="3233817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4633CB-12BB-3505-7DF7-58198AE47875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Результат вне выборки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65BC06-713A-916E-B07D-B2CAF8D17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99" y="1092199"/>
            <a:ext cx="5334000" cy="52299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25FD20-3DD4-427E-4366-501702DEE2A1}"/>
              </a:ext>
            </a:extLst>
          </p:cNvPr>
          <p:cNvSpPr txBox="1"/>
          <p:nvPr/>
        </p:nvSpPr>
        <p:spPr>
          <a:xfrm>
            <a:off x="6604000" y="1270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800" b="1">
                <a:solidFill>
                  <a:srgbClr val="EB6834"/>
                </a:solidFill>
                <a:latin typeface="Cambria" panose="02040503050406030204" pitchFamily="18" charset="0"/>
              </a:rPr>
              <a:t>0.86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64826E-25C6-82C1-E495-D219A80D5933}"/>
              </a:ext>
            </a:extLst>
          </p:cNvPr>
          <p:cNvSpPr txBox="1"/>
          <p:nvPr/>
        </p:nvSpPr>
        <p:spPr>
          <a:xfrm>
            <a:off x="6604000" y="1981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ПТСР / нормы моложе 65 лет</a:t>
            </a:r>
          </a:p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95% ДИ 0.80–0.92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AF27C4-2769-B960-FFB1-9DC87E8EBA95}"/>
              </a:ext>
            </a:extLst>
          </p:cNvPr>
          <p:cNvSpPr txBox="1"/>
          <p:nvPr/>
        </p:nvSpPr>
        <p:spPr>
          <a:xfrm>
            <a:off x="6604000" y="2730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0.77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F86AF-01A2-A435-541A-C0139AE6EC25}"/>
              </a:ext>
            </a:extLst>
          </p:cNvPr>
          <p:cNvSpPr txBox="1"/>
          <p:nvPr/>
        </p:nvSpPr>
        <p:spPr>
          <a:xfrm>
            <a:off x="6604000" y="32893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AUC без формата C (нормы A, B, доп. партия)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D82C3-2714-8AE2-8859-0109376FDFD4}"/>
              </a:ext>
            </a:extLst>
          </p:cNvPr>
          <p:cNvSpPr txBox="1"/>
          <p:nvPr/>
        </p:nvSpPr>
        <p:spPr>
          <a:xfrm>
            <a:off x="6604000" y="3937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0.84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51EEBC-F0AE-7E48-1489-ACB09BAD2E77}"/>
              </a:ext>
            </a:extLst>
          </p:cNvPr>
          <p:cNvSpPr txBox="1"/>
          <p:nvPr/>
        </p:nvSpPr>
        <p:spPr>
          <a:xfrm>
            <a:off x="6604000" y="449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чувствительность при пороге 0.5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8949F6-E99C-A764-738E-0AB2451FBA50}"/>
              </a:ext>
            </a:extLst>
          </p:cNvPr>
          <p:cNvSpPr txBox="1"/>
          <p:nvPr/>
        </p:nvSpPr>
        <p:spPr>
          <a:xfrm>
            <a:off x="9271000" y="3937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14213D"/>
                </a:solidFill>
                <a:latin typeface="Cambria" panose="02040503050406030204" pitchFamily="18" charset="0"/>
              </a:rPr>
              <a:t>0.78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85D8BE-080C-B3AD-2C03-0011691D3349}"/>
              </a:ext>
            </a:extLst>
          </p:cNvPr>
          <p:cNvSpPr txBox="1"/>
          <p:nvPr/>
        </p:nvSpPr>
        <p:spPr>
          <a:xfrm>
            <a:off x="9271000" y="449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сбалансированная точность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9BF282-5BC6-79F6-F6FD-F37227CD354E}"/>
              </a:ext>
            </a:extLst>
          </p:cNvPr>
          <p:cNvSpPr txBox="1"/>
          <p:nvPr/>
        </p:nvSpPr>
        <p:spPr>
          <a:xfrm>
            <a:off x="6604000" y="53975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 на сопоставимых молодых нормах (без формата C) — 0.52, LR+ 1.7. Бутстрэп групп, 2000 повторов; на обучающих данных AUC 0.92 — поэтому только вне выборки.</a:t>
            </a:r>
          </a:p>
        </p:txBody>
      </p:sp>
    </p:spTree>
    <p:extLst>
      <p:ext uri="{BB962C8B-B14F-4D97-AF65-F5344CB8AC3E}">
        <p14:creationId xmlns:p14="http://schemas.microsoft.com/office/powerpoint/2010/main" val="1496734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7FC293-A6B2-704D-46BC-B1FEA9AD4365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Старение отделяется, соматоформные — хуже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3586E34-41F5-832F-F2FE-BFB4935765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8508" y="1142999"/>
            <a:ext cx="9114985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A171FE-666E-DE7C-5C04-BD4C841B3B42}"/>
              </a:ext>
            </a:extLst>
          </p:cNvPr>
          <p:cNvSpPr txBox="1"/>
          <p:nvPr/>
        </p:nvSpPr>
        <p:spPr>
          <a:xfrm>
            <a:off x="762000" y="5207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1BAF7A"/>
                </a:solidFill>
                <a:latin typeface="Cambria" panose="02040503050406030204" pitchFamily="18" charset="0"/>
              </a:rPr>
              <a:t>0.87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DA065-05D9-036D-547A-53014B84FF76}"/>
              </a:ext>
            </a:extLst>
          </p:cNvPr>
          <p:cNvSpPr txBox="1"/>
          <p:nvPr/>
        </p:nvSpPr>
        <p:spPr>
          <a:xfrm>
            <a:off x="762000" y="5816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 нормы 65+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6D993C-9DA4-4887-FFC6-FFC8F165267A}"/>
              </a:ext>
            </a:extLst>
          </p:cNvPr>
          <p:cNvSpPr txBox="1"/>
          <p:nvPr/>
        </p:nvSpPr>
        <p:spPr>
          <a:xfrm>
            <a:off x="4318000" y="5207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000" b="1">
                <a:solidFill>
                  <a:srgbClr val="EB6834"/>
                </a:solidFill>
                <a:latin typeface="Cambria" panose="02040503050406030204" pitchFamily="18" charset="0"/>
              </a:rPr>
              <a:t>0.61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D56066-70EF-2F51-1059-1A1305E67E99}"/>
              </a:ext>
            </a:extLst>
          </p:cNvPr>
          <p:cNvSpPr txBox="1"/>
          <p:nvPr/>
        </p:nvSpPr>
        <p:spPr>
          <a:xfrm>
            <a:off x="4318000" y="5816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специфичность, соматоформные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864A66-B25E-5D5B-B377-0B237E446403}"/>
              </a:ext>
            </a:extLst>
          </p:cNvPr>
          <p:cNvSpPr txBox="1"/>
          <p:nvPr/>
        </p:nvSpPr>
        <p:spPr>
          <a:xfrm>
            <a:off x="7874000" y="5232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Сдвиг признаков у ПТСР и соматоформных общий, но P у соматоформных ниже, чем у нормы A: их отделяет не клиника. Пол не учтён — ПТСР только мужчины.</a:t>
            </a:r>
          </a:p>
        </p:txBody>
      </p:sp>
    </p:spTree>
    <p:extLst>
      <p:ext uri="{BB962C8B-B14F-4D97-AF65-F5344CB8AC3E}">
        <p14:creationId xmlns:p14="http://schemas.microsoft.com/office/powerpoint/2010/main" val="1380711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5FEDB1-9E51-E9CD-AA78-F8C95F692FB0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Что результат не объясняет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87FE12A-4B9D-A52F-3420-BA135044A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699" y="1066799"/>
            <a:ext cx="10108602" cy="3175000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4D96C3F0-20D5-35B8-690A-25426EF0A2A6}"/>
              </a:ext>
            </a:extLst>
          </p:cNvPr>
          <p:cNvSpPr/>
          <p:nvPr/>
        </p:nvSpPr>
        <p:spPr>
          <a:xfrm>
            <a:off x="5080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9898ED02-94E0-A8C8-8C0F-BBCD303096C8}"/>
              </a:ext>
            </a:extLst>
          </p:cNvPr>
          <p:cNvSpPr/>
          <p:nvPr/>
        </p:nvSpPr>
        <p:spPr>
          <a:xfrm>
            <a:off x="6858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08B141-13D0-4FB8-56FC-758903F80679}"/>
              </a:ext>
            </a:extLst>
          </p:cNvPr>
          <p:cNvSpPr txBox="1"/>
          <p:nvPr/>
        </p:nvSpPr>
        <p:spPr>
          <a:xfrm>
            <a:off x="6858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Формат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E73B4-E813-9CF5-A595-50CBBC75389C}"/>
              </a:ext>
            </a:extLst>
          </p:cNvPr>
          <p:cNvSpPr txBox="1"/>
          <p:nvPr/>
        </p:nvSpPr>
        <p:spPr>
          <a:xfrm>
            <a:off x="6858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формата B AUC 0.84, метаданные — 0.00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C7527511-576E-5934-27F0-27A4A2758F05}"/>
              </a:ext>
            </a:extLst>
          </p:cNvPr>
          <p:cNvSpPr/>
          <p:nvPr/>
        </p:nvSpPr>
        <p:spPr>
          <a:xfrm>
            <a:off x="27686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6C206B70-8F91-B68C-47F1-F278A8F87701}"/>
              </a:ext>
            </a:extLst>
          </p:cNvPr>
          <p:cNvSpPr/>
          <p:nvPr/>
        </p:nvSpPr>
        <p:spPr>
          <a:xfrm>
            <a:off x="29464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D0D685-AD60-9ECE-E92E-83C52E69D050}"/>
              </a:ext>
            </a:extLst>
          </p:cNvPr>
          <p:cNvSpPr txBox="1"/>
          <p:nvPr/>
        </p:nvSpPr>
        <p:spPr>
          <a:xfrm>
            <a:off x="29464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Качество записи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966E1B-C5E5-51EF-3C53-68B582F69716}"/>
              </a:ext>
            </a:extLst>
          </p:cNvPr>
          <p:cNvSpPr txBox="1"/>
          <p:nvPr/>
        </p:nvSpPr>
        <p:spPr>
          <a:xfrm>
            <a:off x="29464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модель на качестве — AUC 0.50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C4403C1-B191-7871-7D19-E7DFE64603BB}"/>
              </a:ext>
            </a:extLst>
          </p:cNvPr>
          <p:cNvSpPr/>
          <p:nvPr/>
        </p:nvSpPr>
        <p:spPr>
          <a:xfrm>
            <a:off x="50292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A048B278-42FA-A184-F5D8-62936F2ED26B}"/>
              </a:ext>
            </a:extLst>
          </p:cNvPr>
          <p:cNvSpPr/>
          <p:nvPr/>
        </p:nvSpPr>
        <p:spPr>
          <a:xfrm>
            <a:off x="52070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FC6ADB-9474-501E-0A4E-A990AC3E1D45}"/>
              </a:ext>
            </a:extLst>
          </p:cNvPr>
          <p:cNvSpPr txBox="1"/>
          <p:nvPr/>
        </p:nvSpPr>
        <p:spPr>
          <a:xfrm>
            <a:off x="52070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Возраст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5CED49-D707-5754-3342-D4A8E03F0253}"/>
              </a:ext>
            </a:extLst>
          </p:cNvPr>
          <p:cNvSpPr txBox="1"/>
          <p:nvPr/>
        </p:nvSpPr>
        <p:spPr>
          <a:xfrm>
            <a:off x="52070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внутри партии R² ≈ 0, P не связана с возрастом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F4D0A56-9DE6-09AC-DC0E-9C36491F0389}"/>
              </a:ext>
            </a:extLst>
          </p:cNvPr>
          <p:cNvSpPr/>
          <p:nvPr/>
        </p:nvSpPr>
        <p:spPr>
          <a:xfrm>
            <a:off x="72898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418D3E9-C429-3063-9163-52B2F0309BB3}"/>
              </a:ext>
            </a:extLst>
          </p:cNvPr>
          <p:cNvSpPr/>
          <p:nvPr/>
        </p:nvSpPr>
        <p:spPr>
          <a:xfrm>
            <a:off x="7467600" y="4622800"/>
            <a:ext cx="355600" cy="355600"/>
          </a:xfrm>
          <a:prstGeom prst="ellipse">
            <a:avLst/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5B147C-40F8-BF81-CD6A-DF31E92C9662}"/>
              </a:ext>
            </a:extLst>
          </p:cNvPr>
          <p:cNvSpPr txBox="1"/>
          <p:nvPr/>
        </p:nvSpPr>
        <p:spPr>
          <a:xfrm>
            <a:off x="74676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Поведение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A6EA67-4647-D520-EE2F-46DF57A5EEEA}"/>
              </a:ext>
            </a:extLst>
          </p:cNvPr>
          <p:cNvSpPr txBox="1"/>
          <p:nvPr/>
        </p:nvSpPr>
        <p:spPr>
          <a:xfrm>
            <a:off x="74676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P не растёт со временем решения таблиц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B846F8CF-8113-B4B0-0079-D317E076CCFA}"/>
              </a:ext>
            </a:extLst>
          </p:cNvPr>
          <p:cNvSpPr/>
          <p:nvPr/>
        </p:nvSpPr>
        <p:spPr>
          <a:xfrm>
            <a:off x="9550400" y="4445000"/>
            <a:ext cx="2108200" cy="1905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70D3A477-5EDF-B112-539A-8745FD58DB34}"/>
              </a:ext>
            </a:extLst>
          </p:cNvPr>
          <p:cNvSpPr/>
          <p:nvPr/>
        </p:nvSpPr>
        <p:spPr>
          <a:xfrm>
            <a:off x="9728200" y="4622800"/>
            <a:ext cx="355600" cy="3556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!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20697C-9FE1-DCCE-ECFF-CA81D46BA1D2}"/>
              </a:ext>
            </a:extLst>
          </p:cNvPr>
          <p:cNvSpPr txBox="1"/>
          <p:nvPr/>
        </p:nvSpPr>
        <p:spPr>
          <a:xfrm>
            <a:off x="9728200" y="51054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 b="1">
                <a:solidFill>
                  <a:srgbClr val="14213D"/>
                </a:solidFill>
                <a:latin typeface="Calibri" panose="020F0502020204030204" pitchFamily="34" charset="0"/>
              </a:rPr>
              <a:t>Ограничение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F0818-3109-C818-0995-DD4496B6A2DC}"/>
              </a:ext>
            </a:extLst>
          </p:cNvPr>
          <p:cNvSpPr txBox="1"/>
          <p:nvPr/>
        </p:nvSpPr>
        <p:spPr>
          <a:xfrm>
            <a:off x="9728200" y="54356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52514E"/>
                </a:solidFill>
                <a:latin typeface="Calibri" panose="020F0502020204030204" pitchFamily="34" charset="0"/>
              </a:rPr>
              <a:t>без T3/T4 AUC против молодых норм A/B — 0.57</a:t>
            </a:r>
          </a:p>
        </p:txBody>
      </p:sp>
    </p:spTree>
    <p:extLst>
      <p:ext uri="{BB962C8B-B14F-4D97-AF65-F5344CB8AC3E}">
        <p14:creationId xmlns:p14="http://schemas.microsoft.com/office/powerpoint/2010/main" val="3364014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02BD4A-E075-81DC-9536-093EEDD83FC7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С поведением и без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A869E7F-D30E-D605-4A19-9CC51E7054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417" y="1041399"/>
            <a:ext cx="9195166" cy="4064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BA38E51-7872-AFE6-420A-6CDC900E15A7}"/>
              </a:ext>
            </a:extLst>
          </p:cNvPr>
          <p:cNvSpPr txBox="1"/>
          <p:nvPr/>
        </p:nvSpPr>
        <p:spPr>
          <a:xfrm>
            <a:off x="762000" y="52705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>
                <a:solidFill>
                  <a:srgbClr val="EB6834"/>
                </a:solidFill>
                <a:latin typeface="Cambria" panose="02040503050406030204" pitchFamily="18" charset="0"/>
              </a:rPr>
              <a:t>0.75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6664F1-321C-1089-DE02-E810B503C356}"/>
              </a:ext>
            </a:extLst>
          </p:cNvPr>
          <p:cNvSpPr txBox="1"/>
          <p:nvPr/>
        </p:nvSpPr>
        <p:spPr>
          <a:xfrm>
            <a:off x="762000" y="59309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52514E"/>
                </a:solidFill>
                <a:latin typeface="Calibri" panose="020F0502020204030204" pitchFamily="34" charset="0"/>
              </a:rPr>
              <a:t>ЭЭГ + время решения таблиц (0.61 и 0.64 по отдельности)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D2F4DB-75C3-10E1-1F94-19767ACF2FA3}"/>
              </a:ext>
            </a:extLst>
          </p:cNvPr>
          <p:cNvSpPr txBox="1"/>
          <p:nvPr/>
        </p:nvSpPr>
        <p:spPr>
          <a:xfrm>
            <a:off x="5080000" y="52705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Шульте–Горбов: темп ниже в 1.3 раза, врабатываемость как у нормы, без истощаемости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поведение отделяет молодых норм, ЭЭГ — пожилых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сдаём только ЭЭГ: у 85 из 229 нет времени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428882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3A4145-F277-2688-57B8-0B25BC541A81}"/>
              </a:ext>
            </a:extLst>
          </p:cNvPr>
          <p:cNvSpPr txBox="1"/>
          <p:nvPr/>
        </p:nvSpPr>
        <p:spPr>
          <a:xfrm>
            <a:off x="508000" y="330200"/>
            <a:ext cx="1117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>
                <a:solidFill>
                  <a:srgbClr val="14213D"/>
                </a:solidFill>
                <a:latin typeface="Cambria" panose="02040503050406030204" pitchFamily="18" charset="0"/>
              </a:rPr>
              <a:t>Бонус: слуховой ответ без меток стимулов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7E2EF35-A1E8-3E5C-FDB3-0E69C48BE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117600"/>
            <a:ext cx="11176000" cy="2906699"/>
          </a:xfrm>
          <a:prstGeom prst="rect">
            <a:avLst/>
          </a:prstGeom>
        </p:spPr>
      </p:pic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D438111A-BB3D-CCFC-1F5A-DA5187C5E050}"/>
              </a:ext>
            </a:extLst>
          </p:cNvPr>
          <p:cNvSpPr/>
          <p:nvPr/>
        </p:nvSpPr>
        <p:spPr>
          <a:xfrm>
            <a:off x="50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3FD9EEB-F8E0-7DBC-B68B-685D7FA4DF55}"/>
              </a:ext>
            </a:extLst>
          </p:cNvPr>
          <p:cNvSpPr/>
          <p:nvPr/>
        </p:nvSpPr>
        <p:spPr>
          <a:xfrm>
            <a:off x="73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1BAF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показано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599924-D22A-A2E2-D836-32F958296D25}"/>
              </a:ext>
            </a:extLst>
          </p:cNvPr>
          <p:cNvSpPr txBox="1"/>
          <p:nvPr/>
        </p:nvSpPr>
        <p:spPr>
          <a:xfrm>
            <a:off x="73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удары метронома в покое: p = 0.0005, фронтальный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0946725-C99D-4C74-67A9-845E0F99E879}"/>
              </a:ext>
            </a:extLst>
          </p:cNvPr>
          <p:cNvSpPr/>
          <p:nvPr/>
        </p:nvSpPr>
        <p:spPr>
          <a:xfrm>
            <a:off x="431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339E05C-2545-93B5-996C-D256867C74B9}"/>
              </a:ext>
            </a:extLst>
          </p:cNvPr>
          <p:cNvSpPr/>
          <p:nvPr/>
        </p:nvSpPr>
        <p:spPr>
          <a:xfrm>
            <a:off x="454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проверено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EA09DC-3BDC-E800-0A11-462EE184FC32}"/>
              </a:ext>
            </a:extLst>
          </p:cNvPr>
          <p:cNvSpPr txBox="1"/>
          <p:nvPr/>
        </p:nvSpPr>
        <p:spPr>
          <a:xfrm>
            <a:off x="454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метод на открытых данных ERP CORE и в гибридной симуляции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F2CD3F32-715C-057F-9170-DE188D2FAB5A}"/>
              </a:ext>
            </a:extLst>
          </p:cNvPr>
          <p:cNvSpPr/>
          <p:nvPr/>
        </p:nvSpPr>
        <p:spPr>
          <a:xfrm>
            <a:off x="8128000" y="4572000"/>
            <a:ext cx="3556000" cy="1651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91B03528-D4A5-A1DE-B632-AA03C9470B40}"/>
              </a:ext>
            </a:extLst>
          </p:cNvPr>
          <p:cNvSpPr/>
          <p:nvPr/>
        </p:nvSpPr>
        <p:spPr>
          <a:xfrm>
            <a:off x="8356600" y="4775200"/>
            <a:ext cx="1397000" cy="33020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300" b="1">
                <a:solidFill>
                  <a:srgbClr val="FFFFFF"/>
                </a:solidFill>
                <a:latin typeface="Calibri" panose="020F0502020204030204" pitchFamily="34" charset="0"/>
              </a:rPr>
              <a:t>не показано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23C6C6-A95B-BAC8-6262-99AD3E963673}"/>
              </a:ext>
            </a:extLst>
          </p:cNvPr>
          <p:cNvSpPr txBox="1"/>
          <p:nvPr/>
        </p:nvSpPr>
        <p:spPr>
          <a:xfrm>
            <a:off x="8356600" y="5257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1B1B1B"/>
                </a:solidFill>
                <a:latin typeface="Calibri" panose="020F0502020204030204" pitchFamily="34" charset="0"/>
              </a:rPr>
              <a:t>ответ на девиант (MMN/P3a): p = 0.048 при пороге 0.025</a:t>
            </a:r>
          </a:p>
        </p:txBody>
      </p:sp>
    </p:spTree>
    <p:extLst>
      <p:ext uri="{BB962C8B-B14F-4D97-AF65-F5344CB8AC3E}">
        <p14:creationId xmlns:p14="http://schemas.microsoft.com/office/powerpoint/2010/main" val="15388030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3F8390-1B2F-B3DC-BF6E-6ABF30C52A6C}"/>
              </a:ext>
            </a:extLst>
          </p:cNvPr>
          <p:cNvSpPr txBox="1"/>
          <p:nvPr/>
        </p:nvSpPr>
        <p:spPr>
          <a:xfrm>
            <a:off x="762000" y="508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400" b="1">
                <a:solidFill>
                  <a:srgbClr val="FFFFFF"/>
                </a:solidFill>
                <a:latin typeface="Cambria" panose="02040503050406030204" pitchFamily="18" charset="0"/>
              </a:rPr>
              <a:t>Выводы</a:t>
            </a:r>
          </a:p>
        </p:txBody>
      </p:sp>
      <p:sp>
        <p:nvSpPr>
          <p:cNvPr id="3" name="Овал 2">
            <a:extLst>
              <a:ext uri="{FF2B5EF4-FFF2-40B4-BE49-F238E27FC236}">
                <a16:creationId xmlns:a16="http://schemas.microsoft.com/office/drawing/2014/main" id="{F6E3E787-0741-003C-4E5C-F6D248036A82}"/>
              </a:ext>
            </a:extLst>
          </p:cNvPr>
          <p:cNvSpPr/>
          <p:nvPr/>
        </p:nvSpPr>
        <p:spPr>
          <a:xfrm>
            <a:off x="762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FAEFD6-1852-D452-54F4-CE810142A118}"/>
              </a:ext>
            </a:extLst>
          </p:cNvPr>
          <p:cNvSpPr txBox="1"/>
          <p:nvPr/>
        </p:nvSpPr>
        <p:spPr>
          <a:xfrm>
            <a:off x="762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работает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B3031A-12A4-313B-30ED-877035EC131E}"/>
              </a:ext>
            </a:extLst>
          </p:cNvPr>
          <p:cNvSpPr txBox="1"/>
          <p:nvPr/>
        </p:nvSpPr>
        <p:spPr>
          <a:xfrm>
            <a:off x="762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AUC 0.86 вне выборки, чувствительность 0.84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надёжное отделение нормального старения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без утечки: группы дубликатов, выбор внутри фолдов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6F8F5F7F-C29D-397D-949C-F9E4EC086558}"/>
              </a:ext>
            </a:extLst>
          </p:cNvPr>
          <p:cNvSpPr/>
          <p:nvPr/>
        </p:nvSpPr>
        <p:spPr>
          <a:xfrm>
            <a:off x="4445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8E7BC-33FD-B9AF-9C47-95DF558A1CEC}"/>
              </a:ext>
            </a:extLst>
          </p:cNvPr>
          <p:cNvSpPr txBox="1"/>
          <p:nvPr/>
        </p:nvSpPr>
        <p:spPr>
          <a:xfrm>
            <a:off x="4445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Ограничения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81E5E7-B4F7-C2F8-7616-FF61F884F3B2}"/>
              </a:ext>
            </a:extLst>
          </p:cNvPr>
          <p:cNvSpPr txBox="1"/>
          <p:nvPr/>
        </p:nvSpPr>
        <p:spPr>
          <a:xfrm>
            <a:off x="4445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молодые нормы: опора на T3/T4, специфичность 0.52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соматоформные: 0.61, пол не учтён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когорты различаются не только диагнозом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9A979A59-F34C-9BE4-91C1-F762357C0663}"/>
              </a:ext>
            </a:extLst>
          </p:cNvPr>
          <p:cNvSpPr/>
          <p:nvPr/>
        </p:nvSpPr>
        <p:spPr>
          <a:xfrm>
            <a:off x="8128000" y="1524000"/>
            <a:ext cx="431800" cy="431800"/>
          </a:xfrm>
          <a:prstGeom prst="ellipse">
            <a:avLst/>
          </a:prstGeom>
          <a:solidFill>
            <a:srgbClr val="EB683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ru-RU" sz="150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8C393F-7E1E-5CA9-3DA2-562B051C2ABB}"/>
              </a:ext>
            </a:extLst>
          </p:cNvPr>
          <p:cNvSpPr txBox="1"/>
          <p:nvPr/>
        </p:nvSpPr>
        <p:spPr>
          <a:xfrm>
            <a:off x="8128000" y="2133600"/>
            <a:ext cx="330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b="1">
                <a:solidFill>
                  <a:srgbClr val="FFFFFF"/>
                </a:solidFill>
                <a:latin typeface="Cambria" panose="02040503050406030204" pitchFamily="18" charset="0"/>
              </a:rPr>
              <a:t>Что дальше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FF6DEC-78B0-758A-55F8-A20AC85B358B}"/>
              </a:ext>
            </a:extLst>
          </p:cNvPr>
          <p:cNvSpPr txBox="1"/>
          <p:nvPr/>
        </p:nvSpPr>
        <p:spPr>
          <a:xfrm>
            <a:off x="8128000" y="2667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контроль с боевой травмой без ПТСР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одна гарнитура и экспорт для всех</a:t>
            </a:r>
          </a:p>
          <a:p>
            <a:pPr marL="177800" indent="-177800">
              <a:spcAft>
                <a:spcPts val="600"/>
              </a:spcAft>
              <a:buFont typeface="+mj-lt"/>
              <a:buChar char="•"/>
            </a:pPr>
            <a:r>
              <a:rPr lang="ru-RU" sz="1500">
                <a:solidFill>
                  <a:srgbClr val="C9D3E3"/>
                </a:solidFill>
                <a:latin typeface="Calibri" panose="020F0502020204030204" pitchFamily="34" charset="0"/>
              </a:rPr>
              <a:t>шкалы тяжести, лекарства, ЧМТ, сон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DB9901-2770-6563-5E23-F02ADD56DECA}"/>
              </a:ext>
            </a:extLst>
          </p:cNvPr>
          <p:cNvSpPr txBox="1"/>
          <p:nvPr/>
        </p:nvSpPr>
        <p:spPr>
          <a:xfrm>
            <a:off x="762000" y="596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C9D3E3"/>
                </a:solidFill>
                <a:latin typeface="Calibri" panose="020F0502020204030204" pitchFamily="34" charset="0"/>
              </a:rPr>
              <a:t>Код, ноутбуки, аудит данных и клиническая интерпретация — в репозитории.</a:t>
            </a:r>
          </a:p>
        </p:txBody>
      </p:sp>
    </p:spTree>
    <p:extLst>
      <p:ext uri="{BB962C8B-B14F-4D97-AF65-F5344CB8AC3E}">
        <p14:creationId xmlns:p14="http://schemas.microsoft.com/office/powerpoint/2010/main" val="57238145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1691</Words>
  <Application>Microsoft Office PowerPoint</Application>
  <PresentationFormat>Произвольный</PresentationFormat>
  <Paragraphs>174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Cambria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Игорь Яцун</dc:creator>
  <cp:lastModifiedBy>Игорь Яцун</cp:lastModifiedBy>
  <cp:revision>1</cp:revision>
  <dcterms:created xsi:type="dcterms:W3CDTF">2026-09-27T16:01:19Z</dcterms:created>
  <dcterms:modified xsi:type="dcterms:W3CDTF">2026-09-27T16:01:19Z</dcterms:modified>
</cp:coreProperties>
</file>