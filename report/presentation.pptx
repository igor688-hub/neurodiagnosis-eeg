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1E26FC-69FF-4BCD-B43C-1CAF476BDC61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997A01-E33E-495B-A415-C74D1A0E12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6381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Задача: по записи сухой ЭЭГ на 6 каналах выдать вероятность принадлежности к ПТСР. Мы сдаём модель только на минуте покоя с закрытыми глазами и покажем не только метрики, но и то, на чём модель держится, а на чём нет. O2 выделен серым: мы его не используем.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97A01-E33E-495B-A415-C74D1A0E1274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26239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Первое, что мы нашли: способ выгрузки почти совпадает с меткой. Все ПТСР в формате B, большинство норм — в формате C, с нетипичным сигналом. Правило «формат B — значит ПТСР» без единого признака сигнала даёт AUC 0.985. Поэтому высокий AUC мы не считаем доказательством и дальше всегда показываем результаты по стратам.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97A01-E33E-495B-A415-C74D1A0E1274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21744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Конвейер простой и одинаковый для обучения и инференса: ресэмплинг к 125 герцам, фильтр 40 герц, окна по 4 секунды с отбраковкой артефактов, спектр и 23 признака, которые не зависят от усиления канала. Модель — логистическая регрессия: на 25 пациентах нужна простая и объяснимая модель. Утечки нет: записи-дубликаты объединены в группы, валидация leave-one-group-out, и весь выбор делается внутри фолда.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97A01-E33E-495B-A415-C74D1A0E1274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10644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На схеме головы — насколько каждый признак отличает ПТСР от молодых норм: красное — выше у ПТСР, синее — ниже. Ожидаемого по литературе ослабления альфы у ПТСР нет: альфа работает на отделение пожилых. Спектр у ПТСР немного площе и лобной теты чуть больше — это согласуется с гипервозбуждением и нарушениями сна, но эффекты маленькие и неспецифичные.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97A01-E33E-495B-A415-C74D1A0E1274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07862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Таблица, которую требует ТЗ: признак, отведение, диапазон, направление при ПТСР и механизм. Самый весомый признак — наклон спектра на височных отведениях; он согласуется с литературой, но на T3 сильно зависит от партии регистрации. Альфа у ПТСР не снижена и работает на отделение пожилых. Надёжно у ПТСР сдвинуты только наклон и бета на T4, и оба так же сдвинуты у соматоформных; такой же профиль дают бензодиазепины, а сведений о терапии у нас нет.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97A01-E33E-495B-A415-C74D1A0E1274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81971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Все метрики вне выборки: каждого испытуемого предсказывает модель, которая его не видела. AUC против норм моложе 65 — 0.86 с интервалом от 0.80 до 0.92. Если убрать нетипичный формат C — 0.77. Специфичность на молодых нормах 0.72, но по партиям она разная: на норме A — 0.45. Чувствительность при пороге 0.5 — 0.84: порог стоит в точке, где чувствительность равна специфичности на группах проверки, а нормам 65+ и соматоформным при обучении можно давать повышенный вес — это подняло и специфичность, и AUC.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97A01-E33E-495B-A415-C74D1A0E1274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45214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Каждая точка — испытуемый. Пожилых модель отделяет хорошо: специфичность 0.87, потому что у них ослаблена и замедлена альфа. Соматоформные — самая трудная группа, 0.61. Мы проверили каждый признак: всё, что надёжно отличает ПТСР от нормы, так же сдвинуто и у соматоформных. Это общий клинический профиль, а не маркер травмы. При этом соматоформные получают даже меньшую вероятность, чем здоровые нормы того же формата, — значит, их отделяет что-то другое, и главный кандидат — пол: все пациенты с ПТСР мужчины, а среди соматоформных есть женщины.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97A01-E33E-495B-A415-C74D1A0E1274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96578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ТЗ требует три проверки, мы сделали больше. Формат: внутри одного формата B модель различает ПТСР и 65 норм с AUC 0.84, а модель на метаданных — ноль. Качество записи само по себе ничего не даёт. Возраст внутри партии признаки не предсказывают. От времени решения таблиц вероятность не зависит. Честное ограничение: различение с молодыми нормами держится на височных отведениях; без них AUC против норм A/B — 0.57.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97A01-E33E-495B-A415-C74D1A0E1274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18774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Обязательное сравнение: на 142 испытуемых с годным временем решения. Поведение отделяет ПТСР от молодых норм, но пожилые решают медленнее всех и выглядят как ПТСР. ЭЭГ делает наоборот. Вместе — 0.75. В индексах Шульте–Горбова у ПТСР равномерно сниженный темп при нормальной врабатываемости и без истощаемости — это не астенический профиль, как при ЧМТ. Мы сдаём модель только на ЭЭГ: задача про ЭЭГ-диагностику, и у 85 испытуемых обучения времени решения просто нет.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97A01-E33E-495B-A415-C74D1A0E1274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50402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Меток стимулов нет, поэтому мы сворачиваем запись по 4-секундным тактам и ищем фазу на одной половине записи, а проверяем на другой. Ответ на удары метронома в покое найден надёжно, он фронтальный — как слуховой N1 при ушном референте. Метод проверен на открытых данных ERP CORE: аппаратный фильтр 2 герца искажает MMN, и метод видит только ответ крупнее 1.1–1.5 микровольта. Ответ на девиант в подтверждающем тесте не прошёл заранее заданный порог — мы так и пишем.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97A01-E33E-495B-A415-C74D1A0E1274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9006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Итог. Модель на минуте покоя даёт AUC 0.86 вне выборки и надёжно отделяет нормальное старение. Ограничения мы показываем открыто: с молодыми нормами модель держится на височных отведениях, соматоформных различает хуже, а когорты отличаются не только диагнозом. Для настоящего биомаркера нужны контроль с боевой травмой без ПТСР и одинаковые условия регистрации.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97A01-E33E-495B-A415-C74D1A0E1274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76015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09D5D4-F179-5BA4-395E-D6EE8FCD09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88C8689-6A91-CC32-DB23-5CBBA371E7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57A4CF9-314E-8374-A58B-E820B0F03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8FFEB-E879-4FDF-9D96-2182B35409E6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B0335FB-480F-ACF2-EE6C-CDD043D9A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C0BCBB-4DE9-85F2-55A9-56FE4C92B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C1C88-F033-4FE0-A8AC-6BB6689B41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5179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D5246C-DE97-ABF5-BB01-383C8B05C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E5B778-AB24-E951-01BA-52BBA05C33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6CA64F-AFFB-D4A5-B966-81F0B0D48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8FFEB-E879-4FDF-9D96-2182B35409E6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40E1B33-AC34-5C6D-83EF-4B80084B0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5A2005-2D7F-F7CA-2608-CD196F3D5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C1C88-F033-4FE0-A8AC-6BB6689B41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421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FC97E5-4344-BEDC-A166-2844794FB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83A9FA8-231E-C5C5-AFA8-5908D5EC1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5F8CC5F-01F9-1A8D-1C67-B94FD3C3F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8FFEB-E879-4FDF-9D96-2182B35409E6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0B0197A-6F77-4AF8-40B2-6EC420846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209390-9C41-5528-8149-8884196C3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C1C88-F033-4FE0-A8AC-6BB6689B41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0716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4A2DFB-479E-25CE-7519-F9C6E9A9B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6B8B31-7C7C-41FC-F0FF-12BC6316E0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1F5980F-F4E3-3A3C-CA43-1E8047BF53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0571402-F46D-3CA3-39B5-69D2629FC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8FFEB-E879-4FDF-9D96-2182B35409E6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CAF1FAC-F3F1-8634-7165-C25F0BC79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5CB6081-A246-4CA0-7BF0-24C8FED6A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C1C88-F033-4FE0-A8AC-6BB6689B41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0814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404523-8531-822B-3E64-5C621A14C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226CBF-F795-2E8D-F1BB-27636D6A8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C482B51-33DA-61AD-592B-8B3CC05797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58F23F7-78C7-7A46-125F-3D3AEE006F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F99B467-AE88-C3B6-BF1D-EDC5BE4AFF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D8647CE-4650-2911-6519-244348CF3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8FFEB-E879-4FDF-9D96-2182B35409E6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002A4AC-C228-7978-898D-A1E2CBAF9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B7FBD64-FBF3-D1C2-319F-970041993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C1C88-F033-4FE0-A8AC-6BB6689B41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6830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9BFF19-EE3C-BABE-CE13-91B78467D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A9871B4-4F8E-F3FF-C3DE-A5552DAA0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8FFEB-E879-4FDF-9D96-2182B35409E6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A8B771A-6C53-760F-B104-954D2C5DC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C4A6113-4B1F-8933-4210-E74BF1B17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C1C88-F033-4FE0-A8AC-6BB6689B41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8524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0B09CFB-302C-3225-3567-5408A2E36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8FFEB-E879-4FDF-9D96-2182B35409E6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2E5CE70-D195-A4E2-BCF0-4AE4AF6F7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62C73F1-F072-976D-6EE9-6C11A00F0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C1C88-F033-4FE0-A8AC-6BB6689B41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5459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ECA47D-E3DA-1AAE-D437-D1CF36B4E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F78904-E390-2895-C674-0C5D6A06B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2BA94E8-C1D9-8456-79B6-F13B795714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2C16C10-8A21-9D76-CD0D-98CEE967F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8FFEB-E879-4FDF-9D96-2182B35409E6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6775494-6FE1-B397-5357-A799C11FD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CD31864-C14C-3843-56C5-382DF0A0A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C1C88-F033-4FE0-A8AC-6BB6689B41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6287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5E2526-F7D7-724F-2450-2798B37DC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5BF8137-DCB0-F471-2B49-67DC8B296C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36581C6-D9F0-1CA8-EC2A-DE6712B4D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C100A6C-6CF8-5AF5-C6CB-0DECCE1DF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8FFEB-E879-4FDF-9D96-2182B35409E6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B914347-BBE4-E3AF-8676-05C118F84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89EA60-E393-1ED3-7255-997E47EF2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C1C88-F033-4FE0-A8AC-6BB6689B41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2564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F2BBC9-B6D2-8869-E87A-FE8DBEE77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599D561-134A-4ACB-6648-007B7340E9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2EB702B-27A8-ED11-4917-2FE8FE9F8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8FFEB-E879-4FDF-9D96-2182B35409E6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A99F9E4-8AD4-842F-7EE5-B200F99CE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27BBFBD-AEF9-16CC-B321-29B36E795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C1C88-F033-4FE0-A8AC-6BB6689B41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6133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0E7FA2A-6D4B-4754-5615-D34BD2510E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EE19824-6DE3-9D8E-1CAA-B9AB915397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8E40EB-B23D-F22F-1784-C22EDD5A4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8FFEB-E879-4FDF-9D96-2182B35409E6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F472256-D52A-7171-6FDB-349CFE1DC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0ADF3FC-15F7-8C96-5B9B-0F4FB8BBA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C1C88-F033-4FE0-A8AC-6BB6689B41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2178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258E95-4E84-241D-18BB-9A31B110B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A98DDC6-D2A5-E747-1915-87282200C4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257EAE2-5AF7-8AB4-5D46-888F3DB8C7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8FFEB-E879-4FDF-9D96-2182B35409E6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86ED23-BAD2-D98A-DD45-6BF426344F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09B0583-CFCE-64FD-9ADE-358EEA7662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1C1C88-F033-4FE0-A8AC-6BB6689B41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577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B61710-DCAA-EF30-A22E-7727E120F645}"/>
              </a:ext>
            </a:extLst>
          </p:cNvPr>
          <p:cNvSpPr txBox="1"/>
          <p:nvPr/>
        </p:nvSpPr>
        <p:spPr>
          <a:xfrm>
            <a:off x="762000" y="8890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400">
                <a:solidFill>
                  <a:srgbClr val="C9D3E3"/>
                </a:solidFill>
                <a:latin typeface="Calibri" panose="020F0502020204030204" pitchFamily="34" charset="0"/>
              </a:rPr>
              <a:t>Хакатон · нейрофизиологическая диагностика ПТСР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AB9CE4-1DD7-7F62-26A5-FF65A0771999}"/>
              </a:ext>
            </a:extLst>
          </p:cNvPr>
          <p:cNvSpPr txBox="1"/>
          <p:nvPr/>
        </p:nvSpPr>
        <p:spPr>
          <a:xfrm>
            <a:off x="762000" y="19050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4400" b="1">
                <a:solidFill>
                  <a:srgbClr val="FFFFFF"/>
                </a:solidFill>
                <a:latin typeface="Cambria" panose="02040503050406030204" pitchFamily="18" charset="0"/>
              </a:rPr>
              <a:t>ПТСР по минуте сухой ЭЭГ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E299B8-FACA-8D18-AEB1-95A0B39C8243}"/>
              </a:ext>
            </a:extLst>
          </p:cNvPr>
          <p:cNvSpPr txBox="1"/>
          <p:nvPr/>
        </p:nvSpPr>
        <p:spPr>
          <a:xfrm>
            <a:off x="762000" y="3492500"/>
            <a:ext cx="685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2000">
                <a:solidFill>
                  <a:srgbClr val="C9D3E3"/>
                </a:solidFill>
                <a:latin typeface="Calibri" panose="020F0502020204030204" pitchFamily="34" charset="0"/>
              </a:rPr>
              <a:t>6 каналов, только покой с закрытыми глазами: что модель различает и на чём держится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86C5F5-EC75-4FF1-8FAC-E9C15AB4779A}"/>
              </a:ext>
            </a:extLst>
          </p:cNvPr>
          <p:cNvSpPr txBox="1"/>
          <p:nvPr/>
        </p:nvSpPr>
        <p:spPr>
          <a:xfrm>
            <a:off x="762000" y="55880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400">
                <a:solidFill>
                  <a:srgbClr val="C9D3E3"/>
                </a:solidFill>
                <a:latin typeface="Calibri" panose="020F0502020204030204" pitchFamily="34" charset="0"/>
              </a:rPr>
              <a:t>229 испытуемых · 23 признака · вложенная валидация по группам</a:t>
            </a: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E258BAD7-E8FC-34C6-409F-4BFFC2327FF5}"/>
              </a:ext>
            </a:extLst>
          </p:cNvPr>
          <p:cNvSpPr/>
          <p:nvPr/>
        </p:nvSpPr>
        <p:spPr>
          <a:xfrm>
            <a:off x="7747000" y="1651000"/>
            <a:ext cx="3810000" cy="3810000"/>
          </a:xfrm>
          <a:prstGeom prst="ellipse">
            <a:avLst/>
          </a:prstGeom>
          <a:noFill/>
          <a:ln w="25400" cap="flat" cmpd="sng" algn="ctr">
            <a:solidFill>
              <a:srgbClr val="C9D3E3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Равнобедренный треугольник 6">
            <a:extLst>
              <a:ext uri="{FF2B5EF4-FFF2-40B4-BE49-F238E27FC236}">
                <a16:creationId xmlns:a16="http://schemas.microsoft.com/office/drawing/2014/main" id="{C7F0800D-2657-5B16-BCC8-4B65CBC61979}"/>
              </a:ext>
            </a:extLst>
          </p:cNvPr>
          <p:cNvSpPr/>
          <p:nvPr/>
        </p:nvSpPr>
        <p:spPr>
          <a:xfrm>
            <a:off x="9423400" y="1346200"/>
            <a:ext cx="457200" cy="381000"/>
          </a:xfrm>
          <a:prstGeom prst="triangle">
            <a:avLst/>
          </a:prstGeom>
          <a:noFill/>
          <a:ln w="25400" cap="flat" cmpd="sng" algn="ctr">
            <a:solidFill>
              <a:srgbClr val="C9D3E3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F263A5D2-ADEC-2286-5151-9E502101D411}"/>
              </a:ext>
            </a:extLst>
          </p:cNvPr>
          <p:cNvSpPr/>
          <p:nvPr/>
        </p:nvSpPr>
        <p:spPr>
          <a:xfrm>
            <a:off x="7575550" y="3251200"/>
            <a:ext cx="266700" cy="609600"/>
          </a:xfrm>
          <a:prstGeom prst="ellipse">
            <a:avLst/>
          </a:prstGeom>
          <a:noFill/>
          <a:ln w="25400" cap="flat" cmpd="sng" algn="ctr">
            <a:solidFill>
              <a:srgbClr val="C9D3E3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FDE2DC66-372A-5BE7-526F-D44FCADA6509}"/>
              </a:ext>
            </a:extLst>
          </p:cNvPr>
          <p:cNvSpPr/>
          <p:nvPr/>
        </p:nvSpPr>
        <p:spPr>
          <a:xfrm>
            <a:off x="11461750" y="3251200"/>
            <a:ext cx="266700" cy="609600"/>
          </a:xfrm>
          <a:prstGeom prst="ellipse">
            <a:avLst/>
          </a:prstGeom>
          <a:noFill/>
          <a:ln w="25400" cap="flat" cmpd="sng" algn="ctr">
            <a:solidFill>
              <a:srgbClr val="C9D3E3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3DF45ACB-335C-B734-C189-8603B663B08F}"/>
              </a:ext>
            </a:extLst>
          </p:cNvPr>
          <p:cNvSpPr/>
          <p:nvPr/>
        </p:nvSpPr>
        <p:spPr>
          <a:xfrm>
            <a:off x="8756650" y="4775200"/>
            <a:ext cx="609600" cy="609600"/>
          </a:xfrm>
          <a:prstGeom prst="ellipse">
            <a:avLst/>
          </a:prstGeom>
          <a:solidFill>
            <a:srgbClr val="EB68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Calibri" panose="020F0502020204030204" pitchFamily="34" charset="0"/>
              </a:rPr>
              <a:t>O1</a:t>
            </a:r>
            <a:endParaRPr lang="ru-RU" sz="22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BD5C3B98-DAD5-88B9-4F73-CE6C93F99C52}"/>
              </a:ext>
            </a:extLst>
          </p:cNvPr>
          <p:cNvSpPr/>
          <p:nvPr/>
        </p:nvSpPr>
        <p:spPr>
          <a:xfrm>
            <a:off x="9937750" y="4775200"/>
            <a:ext cx="609600" cy="609600"/>
          </a:xfrm>
          <a:prstGeom prst="ellipse">
            <a:avLst/>
          </a:prstGeom>
          <a:solidFill>
            <a:srgbClr val="C9D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Calibri" panose="020F0502020204030204" pitchFamily="34" charset="0"/>
              </a:rPr>
              <a:t>O2</a:t>
            </a:r>
            <a:endParaRPr lang="ru-RU" sz="22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7657425E-A39D-4CDA-022B-067AC390C24F}"/>
              </a:ext>
            </a:extLst>
          </p:cNvPr>
          <p:cNvSpPr/>
          <p:nvPr/>
        </p:nvSpPr>
        <p:spPr>
          <a:xfrm>
            <a:off x="10947400" y="3251200"/>
            <a:ext cx="609600" cy="609600"/>
          </a:xfrm>
          <a:prstGeom prst="ellipse">
            <a:avLst/>
          </a:prstGeom>
          <a:solidFill>
            <a:srgbClr val="EB68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Calibri" panose="020F0502020204030204" pitchFamily="34" charset="0"/>
              </a:rPr>
              <a:t>T4</a:t>
            </a:r>
            <a:endParaRPr lang="ru-RU" sz="22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49202A97-D9B4-E3C7-C38E-7E38B00ABC67}"/>
              </a:ext>
            </a:extLst>
          </p:cNvPr>
          <p:cNvSpPr/>
          <p:nvPr/>
        </p:nvSpPr>
        <p:spPr>
          <a:xfrm>
            <a:off x="9937750" y="1727200"/>
            <a:ext cx="609600" cy="609600"/>
          </a:xfrm>
          <a:prstGeom prst="ellipse">
            <a:avLst/>
          </a:prstGeom>
          <a:solidFill>
            <a:srgbClr val="EB68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Calibri" panose="020F0502020204030204" pitchFamily="34" charset="0"/>
              </a:rPr>
              <a:t>Fp2</a:t>
            </a:r>
            <a:endParaRPr lang="ru-RU" sz="22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C7C6BFCA-1060-E79E-986F-4FFBD21866DD}"/>
              </a:ext>
            </a:extLst>
          </p:cNvPr>
          <p:cNvSpPr/>
          <p:nvPr/>
        </p:nvSpPr>
        <p:spPr>
          <a:xfrm>
            <a:off x="7747000" y="3251200"/>
            <a:ext cx="609600" cy="609600"/>
          </a:xfrm>
          <a:prstGeom prst="ellipse">
            <a:avLst/>
          </a:prstGeom>
          <a:solidFill>
            <a:srgbClr val="EB68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Calibri" panose="020F0502020204030204" pitchFamily="34" charset="0"/>
              </a:rPr>
              <a:t>T3</a:t>
            </a:r>
            <a:endParaRPr lang="ru-RU" sz="22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5D9504A3-80D2-4CC7-8652-123A7B5E3085}"/>
              </a:ext>
            </a:extLst>
          </p:cNvPr>
          <p:cNvSpPr/>
          <p:nvPr/>
        </p:nvSpPr>
        <p:spPr>
          <a:xfrm>
            <a:off x="8756650" y="1727200"/>
            <a:ext cx="609600" cy="609600"/>
          </a:xfrm>
          <a:prstGeom prst="ellipse">
            <a:avLst/>
          </a:prstGeom>
          <a:solidFill>
            <a:srgbClr val="EB68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Calibri" panose="020F0502020204030204" pitchFamily="34" charset="0"/>
              </a:rPr>
              <a:t>Fp1</a:t>
            </a:r>
            <a:endParaRPr lang="ru-RU" sz="22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6681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E1C4AF-D9AF-2245-C1E0-6ADB9D8C88E5}"/>
              </a:ext>
            </a:extLst>
          </p:cNvPr>
          <p:cNvSpPr txBox="1"/>
          <p:nvPr/>
        </p:nvSpPr>
        <p:spPr>
          <a:xfrm>
            <a:off x="508000" y="3302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000" b="1">
                <a:solidFill>
                  <a:srgbClr val="14213D"/>
                </a:solidFill>
                <a:latin typeface="Cambria" panose="02040503050406030204" pitchFamily="18" charset="0"/>
              </a:rPr>
              <a:t>Данные подсказывают ответ — и это ловушка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0DF226E1-093E-C420-64C9-0768A69F5EE7}"/>
              </a:ext>
            </a:extLst>
          </p:cNvPr>
          <p:cNvSpPr/>
          <p:nvPr/>
        </p:nvSpPr>
        <p:spPr>
          <a:xfrm>
            <a:off x="508000" y="1270000"/>
            <a:ext cx="5080000" cy="48260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3EED2B-D579-A251-D249-6F88F9CC2681}"/>
              </a:ext>
            </a:extLst>
          </p:cNvPr>
          <p:cNvSpPr txBox="1"/>
          <p:nvPr/>
        </p:nvSpPr>
        <p:spPr>
          <a:xfrm>
            <a:off x="889000" y="15875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7200" b="1">
                <a:solidFill>
                  <a:srgbClr val="EB6834"/>
                </a:solidFill>
                <a:latin typeface="Cambria" panose="02040503050406030204" pitchFamily="18" charset="0"/>
              </a:rPr>
              <a:t>0.985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4EA277-C124-E0FB-5F3F-98797BF5F7AB}"/>
              </a:ext>
            </a:extLst>
          </p:cNvPr>
          <p:cNvSpPr txBox="1"/>
          <p:nvPr/>
        </p:nvSpPr>
        <p:spPr>
          <a:xfrm>
            <a:off x="889000" y="26035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300">
                <a:solidFill>
                  <a:srgbClr val="52514E"/>
                </a:solidFill>
                <a:latin typeface="Calibri" panose="020F0502020204030204" pitchFamily="34" charset="0"/>
              </a:rPr>
              <a:t>AUC правила «формат B → ПТСР»</a:t>
            </a:r>
          </a:p>
          <a:p>
            <a:r>
              <a:rPr lang="ru-RU" sz="1300">
                <a:solidFill>
                  <a:srgbClr val="52514E"/>
                </a:solidFill>
                <a:latin typeface="Calibri" panose="020F0502020204030204" pitchFamily="34" charset="0"/>
              </a:rPr>
              <a:t>без анализа сигнала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9425BB-353D-05FB-E38A-0884AC6CFAA7}"/>
              </a:ext>
            </a:extLst>
          </p:cNvPr>
          <p:cNvSpPr txBox="1"/>
          <p:nvPr/>
        </p:nvSpPr>
        <p:spPr>
          <a:xfrm>
            <a:off x="889000" y="3429000"/>
            <a:ext cx="444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ru-RU" sz="1500">
                <a:solidFill>
                  <a:srgbClr val="1B1B1B"/>
                </a:solidFill>
                <a:latin typeface="Calibri" panose="020F0502020204030204" pitchFamily="34" charset="0"/>
              </a:rPr>
              <a:t>все 25 ПТСР выгружены в формате B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ru-RU" sz="1500">
                <a:solidFill>
                  <a:srgbClr val="1B1B1B"/>
                </a:solidFill>
                <a:latin typeface="Calibri" panose="020F0502020204030204" pitchFamily="34" charset="0"/>
              </a:rPr>
              <a:t>45 из 67 норм — формат C: нет межканальной связи и альфы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ru-RU" sz="1500">
                <a:solidFill>
                  <a:srgbClr val="1B1B1B"/>
                </a:solidFill>
                <a:latin typeface="Calibri" panose="020F0502020204030204" pitchFamily="34" charset="0"/>
              </a:rPr>
              <a:t>дополнительная партия норм: копии каналов, другой O2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FBDCF0-A694-6FE2-B9CE-4EEA1757A019}"/>
              </a:ext>
            </a:extLst>
          </p:cNvPr>
          <p:cNvSpPr txBox="1"/>
          <p:nvPr/>
        </p:nvSpPr>
        <p:spPr>
          <a:xfrm>
            <a:off x="6223000" y="13970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4000" b="1">
                <a:solidFill>
                  <a:srgbClr val="14213D"/>
                </a:solidFill>
                <a:latin typeface="Cambria" panose="02040503050406030204" pitchFamily="18" charset="0"/>
              </a:rPr>
              <a:t>229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90D69E-7E60-6451-18CB-5398681AF26B}"/>
              </a:ext>
            </a:extLst>
          </p:cNvPr>
          <p:cNvSpPr txBox="1"/>
          <p:nvPr/>
        </p:nvSpPr>
        <p:spPr>
          <a:xfrm>
            <a:off x="6223000" y="20066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300">
                <a:solidFill>
                  <a:srgbClr val="52514E"/>
                </a:solidFill>
                <a:latin typeface="Calibri" panose="020F0502020204030204" pitchFamily="34" charset="0"/>
              </a:rPr>
              <a:t>испытуемых → 221 независимая группа (копии записей объединены)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9975A0-113A-3980-1B6E-8FBD67EF75A2}"/>
              </a:ext>
            </a:extLst>
          </p:cNvPr>
          <p:cNvSpPr txBox="1"/>
          <p:nvPr/>
        </p:nvSpPr>
        <p:spPr>
          <a:xfrm>
            <a:off x="6223000" y="28575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4000" b="1">
                <a:solidFill>
                  <a:srgbClr val="14213D"/>
                </a:solidFill>
                <a:latin typeface="Cambria" panose="02040503050406030204" pitchFamily="18" charset="0"/>
              </a:rPr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26A39A-CBF0-17A8-D563-AE434F6513EC}"/>
              </a:ext>
            </a:extLst>
          </p:cNvPr>
          <p:cNvSpPr txBox="1"/>
          <p:nvPr/>
        </p:nvSpPr>
        <p:spPr>
          <a:xfrm>
            <a:off x="6223000" y="34671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300">
                <a:solidFill>
                  <a:srgbClr val="52514E"/>
                </a:solidFill>
                <a:latin typeface="Calibri" panose="020F0502020204030204" pitchFamily="34" charset="0"/>
              </a:rPr>
              <a:t>формата выгрузки EDF, почти совпадающих с диагнозом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60BAF4-0AB3-D949-1DF3-819AF0A9C529}"/>
              </a:ext>
            </a:extLst>
          </p:cNvPr>
          <p:cNvSpPr txBox="1"/>
          <p:nvPr/>
        </p:nvSpPr>
        <p:spPr>
          <a:xfrm>
            <a:off x="6223000" y="43180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4000" b="1">
                <a:solidFill>
                  <a:srgbClr val="14213D"/>
                </a:solidFill>
                <a:latin typeface="Cambria" panose="02040503050406030204" pitchFamily="18" charset="0"/>
              </a:rPr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72F0BB-4953-B8C6-4989-0C64F73525D2}"/>
              </a:ext>
            </a:extLst>
          </p:cNvPr>
          <p:cNvSpPr txBox="1"/>
          <p:nvPr/>
        </p:nvSpPr>
        <p:spPr>
          <a:xfrm>
            <a:off x="6223000" y="49276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300">
                <a:solidFill>
                  <a:srgbClr val="52514E"/>
                </a:solidFill>
                <a:latin typeface="Calibri" panose="020F0502020204030204" pitchFamily="34" charset="0"/>
              </a:rPr>
              <a:t>сухих электродов, референт на левом ухе, без Fz/Cz/Pz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75A779-7833-4EC7-013D-AEB1F09588FF}"/>
              </a:ext>
            </a:extLst>
          </p:cNvPr>
          <p:cNvSpPr txBox="1"/>
          <p:nvPr/>
        </p:nvSpPr>
        <p:spPr>
          <a:xfrm>
            <a:off x="508000" y="62484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 b="1">
                <a:solidFill>
                  <a:srgbClr val="14213D"/>
                </a:solidFill>
                <a:latin typeface="Calibri" panose="020F0502020204030204" pitchFamily="34" charset="0"/>
              </a:rPr>
              <a:t>Высокий AUC ≠ физиология. Каждый результат проверяем по стратам «когорта × формат × партия».</a:t>
            </a:r>
          </a:p>
        </p:txBody>
      </p:sp>
    </p:spTree>
    <p:extLst>
      <p:ext uri="{BB962C8B-B14F-4D97-AF65-F5344CB8AC3E}">
        <p14:creationId xmlns:p14="http://schemas.microsoft.com/office/powerpoint/2010/main" val="524155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342418-5649-2506-054E-4CAE30B735BC}"/>
              </a:ext>
            </a:extLst>
          </p:cNvPr>
          <p:cNvSpPr txBox="1"/>
          <p:nvPr/>
        </p:nvSpPr>
        <p:spPr>
          <a:xfrm>
            <a:off x="508000" y="3302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000" b="1">
                <a:solidFill>
                  <a:srgbClr val="14213D"/>
                </a:solidFill>
                <a:latin typeface="Cambria" panose="02040503050406030204" pitchFamily="18" charset="0"/>
              </a:rPr>
              <a:t>Конвейер и валидация без утечки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42712A30-E59F-1E02-2312-F59F4EBFBCCB}"/>
              </a:ext>
            </a:extLst>
          </p:cNvPr>
          <p:cNvSpPr/>
          <p:nvPr/>
        </p:nvSpPr>
        <p:spPr>
          <a:xfrm>
            <a:off x="508000" y="1397000"/>
            <a:ext cx="1727200" cy="19050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67690691-AC7F-0590-4FC2-46910CA3F28B}"/>
              </a:ext>
            </a:extLst>
          </p:cNvPr>
          <p:cNvSpPr/>
          <p:nvPr/>
        </p:nvSpPr>
        <p:spPr>
          <a:xfrm>
            <a:off x="660400" y="1549400"/>
            <a:ext cx="381000" cy="381000"/>
          </a:xfrm>
          <a:prstGeom prst="ellipse">
            <a:avLst/>
          </a:prstGeom>
          <a:solidFill>
            <a:srgbClr val="EB68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E01C6A-01BE-5476-3BA6-14F9C0E73055}"/>
              </a:ext>
            </a:extLst>
          </p:cNvPr>
          <p:cNvSpPr txBox="1"/>
          <p:nvPr/>
        </p:nvSpPr>
        <p:spPr>
          <a:xfrm>
            <a:off x="660400" y="2108200"/>
            <a:ext cx="1473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>
                <a:solidFill>
                  <a:srgbClr val="14213D"/>
                </a:solidFill>
                <a:latin typeface="Calibri" panose="020F0502020204030204" pitchFamily="34" charset="0"/>
              </a:rPr>
              <a:t>EDF</a:t>
            </a:r>
            <a:endParaRPr lang="ru-RU" sz="1700" b="1">
              <a:solidFill>
                <a:srgbClr val="14213D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BF0840-5071-7528-F174-815A6A3980F5}"/>
              </a:ext>
            </a:extLst>
          </p:cNvPr>
          <p:cNvSpPr txBox="1"/>
          <p:nvPr/>
        </p:nvSpPr>
        <p:spPr>
          <a:xfrm>
            <a:off x="660400" y="2489200"/>
            <a:ext cx="1473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300">
                <a:solidFill>
                  <a:srgbClr val="52514E"/>
                </a:solidFill>
                <a:latin typeface="Calibri" panose="020F0502020204030204" pitchFamily="34" charset="0"/>
              </a:rPr>
              <a:t>6 каналов по имени, мкВ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B69A7875-8AD2-39C6-EF58-DEB3572A39E2}"/>
              </a:ext>
            </a:extLst>
          </p:cNvPr>
          <p:cNvSpPr/>
          <p:nvPr/>
        </p:nvSpPr>
        <p:spPr>
          <a:xfrm>
            <a:off x="2413000" y="1397000"/>
            <a:ext cx="1727200" cy="19050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95186EEF-B7C9-09FE-CE19-07C92376D9BB}"/>
              </a:ext>
            </a:extLst>
          </p:cNvPr>
          <p:cNvSpPr/>
          <p:nvPr/>
        </p:nvSpPr>
        <p:spPr>
          <a:xfrm>
            <a:off x="2565400" y="1549400"/>
            <a:ext cx="381000" cy="381000"/>
          </a:xfrm>
          <a:prstGeom prst="ellipse">
            <a:avLst/>
          </a:prstGeom>
          <a:solidFill>
            <a:srgbClr val="EB68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4564DE-64A6-B6C0-0D7E-AD99309C7DB8}"/>
              </a:ext>
            </a:extLst>
          </p:cNvPr>
          <p:cNvSpPr txBox="1"/>
          <p:nvPr/>
        </p:nvSpPr>
        <p:spPr>
          <a:xfrm>
            <a:off x="2565400" y="2108200"/>
            <a:ext cx="1473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700" b="1">
                <a:solidFill>
                  <a:srgbClr val="14213D"/>
                </a:solidFill>
                <a:latin typeface="Calibri" panose="020F0502020204030204" pitchFamily="34" charset="0"/>
              </a:rPr>
              <a:t>125 Гц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E1ADB6-82AA-6C1E-DA2C-6B3DEE2724D5}"/>
              </a:ext>
            </a:extLst>
          </p:cNvPr>
          <p:cNvSpPr txBox="1"/>
          <p:nvPr/>
        </p:nvSpPr>
        <p:spPr>
          <a:xfrm>
            <a:off x="2565400" y="2489200"/>
            <a:ext cx="1473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300">
                <a:solidFill>
                  <a:srgbClr val="52514E"/>
                </a:solidFill>
                <a:latin typeface="Calibri" panose="020F0502020204030204" pitchFamily="34" charset="0"/>
              </a:rPr>
              <a:t>ресэмплинг, ФНЧ 40 Гц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AB786A4D-96DC-D7DD-FE42-CCBF77F82DAC}"/>
              </a:ext>
            </a:extLst>
          </p:cNvPr>
          <p:cNvSpPr/>
          <p:nvPr/>
        </p:nvSpPr>
        <p:spPr>
          <a:xfrm>
            <a:off x="4318000" y="1397000"/>
            <a:ext cx="1727200" cy="19050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0F74791E-811A-976D-1DB5-866728B62132}"/>
              </a:ext>
            </a:extLst>
          </p:cNvPr>
          <p:cNvSpPr/>
          <p:nvPr/>
        </p:nvSpPr>
        <p:spPr>
          <a:xfrm>
            <a:off x="4470400" y="1549400"/>
            <a:ext cx="381000" cy="381000"/>
          </a:xfrm>
          <a:prstGeom prst="ellipse">
            <a:avLst/>
          </a:prstGeom>
          <a:solidFill>
            <a:srgbClr val="EB68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  <a:latin typeface="Calibri" panose="020F0502020204030204" pitchFamily="34" charset="0"/>
              </a:rPr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67C42B-EE5F-9E38-049E-7BA4928AB572}"/>
              </a:ext>
            </a:extLst>
          </p:cNvPr>
          <p:cNvSpPr txBox="1"/>
          <p:nvPr/>
        </p:nvSpPr>
        <p:spPr>
          <a:xfrm>
            <a:off x="4470400" y="2108200"/>
            <a:ext cx="1473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700" b="1">
                <a:solidFill>
                  <a:srgbClr val="14213D"/>
                </a:solidFill>
                <a:latin typeface="Calibri" panose="020F0502020204030204" pitchFamily="34" charset="0"/>
              </a:rPr>
              <a:t>Окна 4 с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90E002-F704-5CC5-AB09-ADA929DD483F}"/>
              </a:ext>
            </a:extLst>
          </p:cNvPr>
          <p:cNvSpPr txBox="1"/>
          <p:nvPr/>
        </p:nvSpPr>
        <p:spPr>
          <a:xfrm>
            <a:off x="4470400" y="2489200"/>
            <a:ext cx="1473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300">
                <a:solidFill>
                  <a:srgbClr val="52514E"/>
                </a:solidFill>
                <a:latin typeface="Calibri" panose="020F0502020204030204" pitchFamily="34" charset="0"/>
              </a:rPr>
              <a:t>отбраковка по общим порогам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9DF9F4A5-E0D2-92C0-9FF1-610ED0151C37}"/>
              </a:ext>
            </a:extLst>
          </p:cNvPr>
          <p:cNvSpPr/>
          <p:nvPr/>
        </p:nvSpPr>
        <p:spPr>
          <a:xfrm>
            <a:off x="6223000" y="1397000"/>
            <a:ext cx="1727200" cy="19050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72F0F59D-8B0E-8CBE-84BF-AC156C249944}"/>
              </a:ext>
            </a:extLst>
          </p:cNvPr>
          <p:cNvSpPr/>
          <p:nvPr/>
        </p:nvSpPr>
        <p:spPr>
          <a:xfrm>
            <a:off x="6375400" y="1549400"/>
            <a:ext cx="381000" cy="381000"/>
          </a:xfrm>
          <a:prstGeom prst="ellipse">
            <a:avLst/>
          </a:prstGeom>
          <a:solidFill>
            <a:srgbClr val="EB68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  <a:latin typeface="Calibri" panose="020F0502020204030204" pitchFamily="34" charset="0"/>
              </a:rPr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974C61-FFE3-FEF7-F0E2-DCC58587B034}"/>
              </a:ext>
            </a:extLst>
          </p:cNvPr>
          <p:cNvSpPr txBox="1"/>
          <p:nvPr/>
        </p:nvSpPr>
        <p:spPr>
          <a:xfrm>
            <a:off x="6375400" y="2108200"/>
            <a:ext cx="1473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700" b="1">
                <a:solidFill>
                  <a:srgbClr val="14213D"/>
                </a:solidFill>
                <a:latin typeface="Calibri" panose="020F0502020204030204" pitchFamily="34" charset="0"/>
              </a:rPr>
              <a:t>Спектр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B82D69B-0FB9-C81B-C0EA-FCBD46E2A0AB}"/>
              </a:ext>
            </a:extLst>
          </p:cNvPr>
          <p:cNvSpPr txBox="1"/>
          <p:nvPr/>
        </p:nvSpPr>
        <p:spPr>
          <a:xfrm>
            <a:off x="6375400" y="2489200"/>
            <a:ext cx="1473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300">
                <a:solidFill>
                  <a:srgbClr val="52514E"/>
                </a:solidFill>
                <a:latin typeface="Calibri" panose="020F0502020204030204" pitchFamily="34" charset="0"/>
              </a:rPr>
              <a:t>лог-среднее периодограмм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66244A4B-67A7-B369-8C2B-AD8A15A5506C}"/>
              </a:ext>
            </a:extLst>
          </p:cNvPr>
          <p:cNvSpPr/>
          <p:nvPr/>
        </p:nvSpPr>
        <p:spPr>
          <a:xfrm>
            <a:off x="8128000" y="1397000"/>
            <a:ext cx="1727200" cy="19050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E8F86056-CB64-FD4E-74EA-48FC0F03590F}"/>
              </a:ext>
            </a:extLst>
          </p:cNvPr>
          <p:cNvSpPr/>
          <p:nvPr/>
        </p:nvSpPr>
        <p:spPr>
          <a:xfrm>
            <a:off x="8280400" y="1549400"/>
            <a:ext cx="381000" cy="381000"/>
          </a:xfrm>
          <a:prstGeom prst="ellipse">
            <a:avLst/>
          </a:prstGeom>
          <a:solidFill>
            <a:srgbClr val="EB68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  <a:latin typeface="Calibri" panose="020F0502020204030204" pitchFamily="34" charset="0"/>
              </a:rPr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744D8E-383C-01EA-1529-F1FEDD0F060C}"/>
              </a:ext>
            </a:extLst>
          </p:cNvPr>
          <p:cNvSpPr txBox="1"/>
          <p:nvPr/>
        </p:nvSpPr>
        <p:spPr>
          <a:xfrm>
            <a:off x="8280400" y="2108200"/>
            <a:ext cx="1473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700" b="1">
                <a:solidFill>
                  <a:srgbClr val="14213D"/>
                </a:solidFill>
                <a:latin typeface="Calibri" panose="020F0502020204030204" pitchFamily="34" charset="0"/>
              </a:rPr>
              <a:t>23 признака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835E12-7B52-5DD7-D066-C05BBAFED793}"/>
              </a:ext>
            </a:extLst>
          </p:cNvPr>
          <p:cNvSpPr txBox="1"/>
          <p:nvPr/>
        </p:nvSpPr>
        <p:spPr>
          <a:xfrm>
            <a:off x="8280400" y="2489200"/>
            <a:ext cx="1473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300">
                <a:solidFill>
                  <a:srgbClr val="52514E"/>
                </a:solidFill>
                <a:latin typeface="Calibri" panose="020F0502020204030204" pitchFamily="34" charset="0"/>
              </a:rPr>
              <a:t>доли ритмов, альфа-пик, наклон</a:t>
            </a: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6BF5F4DB-FF97-6D7A-8A04-56EC4E7BEFF4}"/>
              </a:ext>
            </a:extLst>
          </p:cNvPr>
          <p:cNvSpPr/>
          <p:nvPr/>
        </p:nvSpPr>
        <p:spPr>
          <a:xfrm>
            <a:off x="10033000" y="1397000"/>
            <a:ext cx="1727200" cy="19050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FCD17F70-94F3-2076-1FF2-9EACB7127B84}"/>
              </a:ext>
            </a:extLst>
          </p:cNvPr>
          <p:cNvSpPr/>
          <p:nvPr/>
        </p:nvSpPr>
        <p:spPr>
          <a:xfrm>
            <a:off x="10185400" y="1549400"/>
            <a:ext cx="381000" cy="381000"/>
          </a:xfrm>
          <a:prstGeom prst="ellipse">
            <a:avLst/>
          </a:prstGeom>
          <a:solidFill>
            <a:srgbClr val="EB68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  <a:latin typeface="Calibri" panose="020F0502020204030204" pitchFamily="34" charset="0"/>
              </a:rPr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915050C-1F50-F641-41E8-BC34FD859351}"/>
              </a:ext>
            </a:extLst>
          </p:cNvPr>
          <p:cNvSpPr txBox="1"/>
          <p:nvPr/>
        </p:nvSpPr>
        <p:spPr>
          <a:xfrm>
            <a:off x="10185400" y="2108200"/>
            <a:ext cx="1473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700" b="1">
                <a:solidFill>
                  <a:srgbClr val="14213D"/>
                </a:solidFill>
                <a:latin typeface="Calibri" panose="020F0502020204030204" pitchFamily="34" charset="0"/>
              </a:rPr>
              <a:t>Модель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55A8D60-0808-4CE6-103D-9D7721844D8B}"/>
              </a:ext>
            </a:extLst>
          </p:cNvPr>
          <p:cNvSpPr txBox="1"/>
          <p:nvPr/>
        </p:nvSpPr>
        <p:spPr>
          <a:xfrm>
            <a:off x="10185400" y="2489200"/>
            <a:ext cx="1473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300">
                <a:solidFill>
                  <a:srgbClr val="52514E"/>
                </a:solidFill>
                <a:latin typeface="Calibri" panose="020F0502020204030204" pitchFamily="34" charset="0"/>
              </a:rPr>
              <a:t>логрегрессия </a:t>
            </a:r>
            <a:r>
              <a:rPr lang="en-US" sz="1300">
                <a:solidFill>
                  <a:srgbClr val="52514E"/>
                </a:solidFill>
                <a:latin typeface="Calibri" panose="020F0502020204030204" pitchFamily="34" charset="0"/>
              </a:rPr>
              <a:t>L2 + </a:t>
            </a:r>
            <a:r>
              <a:rPr lang="ru-RU" sz="1300">
                <a:solidFill>
                  <a:srgbClr val="52514E"/>
                </a:solidFill>
                <a:latin typeface="Calibri" panose="020F0502020204030204" pitchFamily="34" charset="0"/>
              </a:rPr>
              <a:t>калибровка</a:t>
            </a: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61F81C21-D2A3-8FAC-C515-5D55C5324279}"/>
              </a:ext>
            </a:extLst>
          </p:cNvPr>
          <p:cNvSpPr/>
          <p:nvPr/>
        </p:nvSpPr>
        <p:spPr>
          <a:xfrm>
            <a:off x="508000" y="3810000"/>
            <a:ext cx="11176000" cy="2413000"/>
          </a:xfrm>
          <a:prstGeom prst="roundRect">
            <a:avLst>
              <a:gd name="adj" fmla="val 8000"/>
            </a:avLst>
          </a:prstGeom>
          <a:solidFill>
            <a:srgbClr val="1421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F13DD6-534E-B8BD-33F7-07C97C7DE546}"/>
              </a:ext>
            </a:extLst>
          </p:cNvPr>
          <p:cNvSpPr txBox="1"/>
          <p:nvPr/>
        </p:nvSpPr>
        <p:spPr>
          <a:xfrm>
            <a:off x="889000" y="4089400"/>
            <a:ext cx="3810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2000" b="1">
                <a:solidFill>
                  <a:srgbClr val="FFFFFF"/>
                </a:solidFill>
                <a:latin typeface="Cambria" panose="02040503050406030204" pitchFamily="18" charset="0"/>
              </a:rPr>
              <a:t>Валидация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C5A5E96-933D-B481-3EDE-8584910EACBB}"/>
              </a:ext>
            </a:extLst>
          </p:cNvPr>
          <p:cNvSpPr txBox="1"/>
          <p:nvPr/>
        </p:nvSpPr>
        <p:spPr>
          <a:xfrm>
            <a:off x="889000" y="45974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ru-RU" sz="1500">
                <a:solidFill>
                  <a:srgbClr val="FFFFFF"/>
                </a:solidFill>
                <a:latin typeface="Calibri" panose="020F0502020204030204" pitchFamily="34" charset="0"/>
              </a:rPr>
              <a:t>внешний цикл: leave-one-group-out по группам дубликатов — 221 фолд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ru-RU" sz="1500">
                <a:solidFill>
                  <a:srgbClr val="FFFFFF"/>
                </a:solidFill>
                <a:latin typeface="Calibri" panose="020F0502020204030204" pitchFamily="34" charset="0"/>
              </a:rPr>
              <a:t>выбор признаков, C, отрицательного класса и калибровки — только внутри фолда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ru-RU" sz="1500">
                <a:solidFill>
                  <a:srgbClr val="FFFFFF"/>
                </a:solidFill>
                <a:latin typeface="Calibri" panose="020F0502020204030204" pitchFamily="34" charset="0"/>
              </a:rPr>
              <a:t>критерий выбора повторяет формулу оценки ТЗ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ru-RU" sz="1500">
                <a:solidFill>
                  <a:srgbClr val="FFFFFF"/>
                </a:solidFill>
                <a:latin typeface="Calibri" panose="020F0502020204030204" pitchFamily="34" charset="0"/>
              </a:rPr>
              <a:t>8 протоколов фиксировались до запуска; показаны и неудачные</a:t>
            </a:r>
          </a:p>
        </p:txBody>
      </p:sp>
    </p:spTree>
    <p:extLst>
      <p:ext uri="{BB962C8B-B14F-4D97-AF65-F5344CB8AC3E}">
        <p14:creationId xmlns:p14="http://schemas.microsoft.com/office/powerpoint/2010/main" val="3116972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6E4CA4-2459-F5E0-EEA4-5A736EEE6175}"/>
              </a:ext>
            </a:extLst>
          </p:cNvPr>
          <p:cNvSpPr txBox="1"/>
          <p:nvPr/>
        </p:nvSpPr>
        <p:spPr>
          <a:xfrm>
            <a:off x="508000" y="3302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000" b="1">
                <a:solidFill>
                  <a:srgbClr val="14213D"/>
                </a:solidFill>
                <a:latin typeface="Cambria" panose="02040503050406030204" pitchFamily="18" charset="0"/>
              </a:rPr>
              <a:t>Признаки и физиология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9A57D8A-93AD-A002-1189-63A6189D34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895" y="1117599"/>
            <a:ext cx="11072211" cy="3175000"/>
          </a:xfrm>
          <a:prstGeom prst="rect">
            <a:avLst/>
          </a:prstGeom>
        </p:spPr>
      </p:pic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93A9FE0F-A89B-EC57-0C56-84917E70056C}"/>
              </a:ext>
            </a:extLst>
          </p:cNvPr>
          <p:cNvSpPr/>
          <p:nvPr/>
        </p:nvSpPr>
        <p:spPr>
          <a:xfrm>
            <a:off x="508000" y="4572000"/>
            <a:ext cx="3556000" cy="16510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CACC40-33A6-2424-78E5-4646F0E4AABF}"/>
              </a:ext>
            </a:extLst>
          </p:cNvPr>
          <p:cNvSpPr txBox="1"/>
          <p:nvPr/>
        </p:nvSpPr>
        <p:spPr>
          <a:xfrm>
            <a:off x="736600" y="4775200"/>
            <a:ext cx="317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700" b="1">
                <a:solidFill>
                  <a:srgbClr val="14213D"/>
                </a:solidFill>
                <a:latin typeface="Calibri" panose="020F0502020204030204" pitchFamily="34" charset="0"/>
              </a:rPr>
              <a:t>Затылочная альфа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A8758A-74B8-9E21-2D48-FCD98AA8F6C6}"/>
              </a:ext>
            </a:extLst>
          </p:cNvPr>
          <p:cNvSpPr txBox="1"/>
          <p:nvPr/>
        </p:nvSpPr>
        <p:spPr>
          <a:xfrm>
            <a:off x="736600" y="5181600"/>
            <a:ext cx="317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400">
                <a:solidFill>
                  <a:srgbClr val="52514E"/>
                </a:solidFill>
                <a:latin typeface="Calibri" panose="020F0502020204030204" pitchFamily="34" charset="0"/>
              </a:rPr>
              <a:t>у ПТСР не снижена — отделяет пожилых с возрастным ослаблением альфы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1A2462F1-AE41-6B8D-820F-4F765C3AE571}"/>
              </a:ext>
            </a:extLst>
          </p:cNvPr>
          <p:cNvSpPr/>
          <p:nvPr/>
        </p:nvSpPr>
        <p:spPr>
          <a:xfrm>
            <a:off x="4318000" y="4572000"/>
            <a:ext cx="3556000" cy="16510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03A703-C57C-23DC-01F6-96DF1AF7B5E2}"/>
              </a:ext>
            </a:extLst>
          </p:cNvPr>
          <p:cNvSpPr txBox="1"/>
          <p:nvPr/>
        </p:nvSpPr>
        <p:spPr>
          <a:xfrm>
            <a:off x="4546600" y="4775200"/>
            <a:ext cx="317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700" b="1">
                <a:solidFill>
                  <a:srgbClr val="14213D"/>
                </a:solidFill>
                <a:latin typeface="Calibri" panose="020F0502020204030204" pitchFamily="34" charset="0"/>
              </a:rPr>
              <a:t>Наклон спектра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308020-4E44-B1E2-C3A6-F5E8222CDA30}"/>
              </a:ext>
            </a:extLst>
          </p:cNvPr>
          <p:cNvSpPr txBox="1"/>
          <p:nvPr/>
        </p:nvSpPr>
        <p:spPr>
          <a:xfrm>
            <a:off x="4546600" y="5181600"/>
            <a:ext cx="317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400">
                <a:solidFill>
                  <a:srgbClr val="52514E"/>
                </a:solidFill>
                <a:latin typeface="Calibri" panose="020F0502020204030204" pitchFamily="34" charset="0"/>
              </a:rPr>
              <a:t>площе на O1, T3, T4 — гипервозбуждение, но так же при старении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1DC13A53-FE8F-508B-2821-C7E21A079441}"/>
              </a:ext>
            </a:extLst>
          </p:cNvPr>
          <p:cNvSpPr/>
          <p:nvPr/>
        </p:nvSpPr>
        <p:spPr>
          <a:xfrm>
            <a:off x="8128000" y="4572000"/>
            <a:ext cx="3556000" cy="16510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F234CD-DB54-2C7D-A20C-FB32ADFDCCE6}"/>
              </a:ext>
            </a:extLst>
          </p:cNvPr>
          <p:cNvSpPr txBox="1"/>
          <p:nvPr/>
        </p:nvSpPr>
        <p:spPr>
          <a:xfrm>
            <a:off x="8356600" y="4775200"/>
            <a:ext cx="317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700" b="1">
                <a:solidFill>
                  <a:srgbClr val="14213D"/>
                </a:solidFill>
                <a:latin typeface="Calibri" panose="020F0502020204030204" pitchFamily="34" charset="0"/>
              </a:rPr>
              <a:t>Лобная тета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649D03-34B7-9634-0FB5-6017C52D7036}"/>
              </a:ext>
            </a:extLst>
          </p:cNvPr>
          <p:cNvSpPr txBox="1"/>
          <p:nvPr/>
        </p:nvSpPr>
        <p:spPr>
          <a:xfrm>
            <a:off x="8356600" y="5181600"/>
            <a:ext cx="317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400">
                <a:solidFill>
                  <a:srgbClr val="52514E"/>
                </a:solidFill>
                <a:latin typeface="Calibri" panose="020F0502020204030204" pitchFamily="34" charset="0"/>
              </a:rPr>
              <a:t>чуть выше — сниженное бодрствование, нарушения сна</a:t>
            </a:r>
          </a:p>
        </p:txBody>
      </p:sp>
    </p:spTree>
    <p:extLst>
      <p:ext uri="{BB962C8B-B14F-4D97-AF65-F5344CB8AC3E}">
        <p14:creationId xmlns:p14="http://schemas.microsoft.com/office/powerpoint/2010/main" val="1356182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F3FD9D-502A-BDF7-D14B-14288260D96C}"/>
              </a:ext>
            </a:extLst>
          </p:cNvPr>
          <p:cNvSpPr txBox="1"/>
          <p:nvPr/>
        </p:nvSpPr>
        <p:spPr>
          <a:xfrm>
            <a:off x="508000" y="3302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000" b="1">
                <a:solidFill>
                  <a:srgbClr val="14213D"/>
                </a:solidFill>
                <a:latin typeface="Cambria" panose="02040503050406030204" pitchFamily="18" charset="0"/>
              </a:rPr>
              <a:t>Признаки: направление и механизм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D37B7E16-1AEF-1CFA-31A0-DEE93B272C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8845791"/>
              </p:ext>
            </p:extLst>
          </p:nvPr>
        </p:nvGraphicFramePr>
        <p:xfrm>
          <a:off x="508000" y="1143000"/>
          <a:ext cx="11176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125847109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4110871411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1957644847"/>
                    </a:ext>
                  </a:extLst>
                </a:gridCol>
                <a:gridCol w="4699000">
                  <a:extLst>
                    <a:ext uri="{9D8B030D-6E8A-4147-A177-3AD203B41FA5}">
                      <a16:colId xmlns:a16="http://schemas.microsoft.com/office/drawing/2014/main" val="3344666406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lang="ru-RU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Признак</a:t>
                      </a:r>
                    </a:p>
                  </a:txBody>
                  <a:tcPr marL="101600" marR="76200" marT="50800" marB="508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Отведение · диапазон</a:t>
                      </a:r>
                    </a:p>
                  </a:txBody>
                  <a:tcPr marL="101600" marR="76200" marT="50800" marB="508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При ПТСР*</a:t>
                      </a:r>
                    </a:p>
                  </a:txBody>
                  <a:tcPr marL="101600" marR="76200" marT="50800" marB="508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Механизм и ограничения</a:t>
                      </a:r>
                    </a:p>
                  </a:txBody>
                  <a:tcPr marL="101600" marR="76200" marT="50800" marB="50800"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575578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ru-RU" sz="1300" b="1">
                          <a:solidFill>
                            <a:srgbClr val="1B1B1B"/>
                          </a:solidFill>
                          <a:latin typeface="Calibri" panose="020F0502020204030204" pitchFamily="34" charset="0"/>
                        </a:rPr>
                        <a:t>наклон спектра</a:t>
                      </a:r>
                    </a:p>
                  </a:txBody>
                  <a:tcPr marL="101600" marR="76200" marT="50800" marB="508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B1B1B"/>
                          </a:solidFill>
                          <a:latin typeface="Calibri" panose="020F0502020204030204" pitchFamily="34" charset="0"/>
                        </a:rPr>
                        <a:t>T3, T4 · 3–30 </a:t>
                      </a:r>
                      <a:r>
                        <a:rPr lang="ru-RU" sz="1300" b="0">
                          <a:solidFill>
                            <a:srgbClr val="1B1B1B"/>
                          </a:solidFill>
                          <a:latin typeface="Calibri" panose="020F0502020204030204" pitchFamily="34" charset="0"/>
                        </a:rPr>
                        <a:t>Гц</a:t>
                      </a:r>
                    </a:p>
                  </a:txBody>
                  <a:tcPr marL="101600" marR="76200" marT="50800" marB="508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solidFill>
                            <a:srgbClr val="1B1B1B"/>
                          </a:solidFill>
                          <a:latin typeface="Calibri" panose="020F0502020204030204" pitchFamily="34" charset="0"/>
                        </a:rPr>
                        <a:t>↓ площе (0.90 / 0.96)</a:t>
                      </a:r>
                    </a:p>
                  </a:txBody>
                  <a:tcPr marL="101600" marR="76200" marT="50800" marB="508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solidFill>
                            <a:srgbClr val="1B1B1B"/>
                          </a:solidFill>
                          <a:latin typeface="Calibri" panose="020F0502020204030204" pitchFamily="34" charset="0"/>
                        </a:rPr>
                        <a:t>уплощение при ПТСР (Kovacevic, 2025); на T3 зависит от партии</a:t>
                      </a:r>
                    </a:p>
                  </a:txBody>
                  <a:tcPr marL="101600" marR="76200" marT="50800" marB="50800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763729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ru-RU" sz="1300" b="1">
                          <a:solidFill>
                            <a:srgbClr val="1B1B1B"/>
                          </a:solidFill>
                          <a:latin typeface="Calibri" panose="020F0502020204030204" pitchFamily="34" charset="0"/>
                        </a:rPr>
                        <a:t>доля беты</a:t>
                      </a:r>
                    </a:p>
                  </a:txBody>
                  <a:tcPr marL="1016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B1B1B"/>
                          </a:solidFill>
                          <a:latin typeface="Calibri" panose="020F0502020204030204" pitchFamily="34" charset="0"/>
                        </a:rPr>
                        <a:t>T3, T4 · 13–30 </a:t>
                      </a:r>
                      <a:r>
                        <a:rPr lang="ru-RU" sz="1300" b="0">
                          <a:solidFill>
                            <a:srgbClr val="1B1B1B"/>
                          </a:solidFill>
                          <a:latin typeface="Calibri" panose="020F0502020204030204" pitchFamily="34" charset="0"/>
                        </a:rPr>
                        <a:t>Гц</a:t>
                      </a:r>
                    </a:p>
                  </a:txBody>
                  <a:tcPr marL="1016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B1B1B"/>
                          </a:solidFill>
                          <a:latin typeface="Calibri" panose="020F0502020204030204" pitchFamily="34" charset="0"/>
                        </a:rPr>
                        <a:t>T3 ≈, T4 ↑</a:t>
                      </a:r>
                      <a:endParaRPr lang="ru-RU" sz="1300" b="0">
                        <a:solidFill>
                          <a:srgbClr val="1B1B1B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016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solidFill>
                            <a:srgbClr val="1B1B1B"/>
                          </a:solidFill>
                          <a:latin typeface="Calibri" panose="020F0502020204030204" pitchFamily="34" charset="0"/>
                        </a:rPr>
                        <a:t>T4 — общий с соматоформными; возможен след бензодиазепинов</a:t>
                      </a:r>
                    </a:p>
                  </a:txBody>
                  <a:tcPr marL="101600" marR="762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158630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ru-RU" sz="1300" b="1">
                          <a:solidFill>
                            <a:srgbClr val="1B1B1B"/>
                          </a:solidFill>
                          <a:latin typeface="Calibri" panose="020F0502020204030204" pitchFamily="34" charset="0"/>
                        </a:rPr>
                        <a:t>доля альфы</a:t>
                      </a:r>
                    </a:p>
                  </a:txBody>
                  <a:tcPr marL="101600" marR="76200" marT="50800" marB="508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B1B1B"/>
                          </a:solidFill>
                          <a:latin typeface="Calibri" panose="020F0502020204030204" pitchFamily="34" charset="0"/>
                        </a:rPr>
                        <a:t>O1 · 8–13 </a:t>
                      </a:r>
                      <a:r>
                        <a:rPr lang="ru-RU" sz="1300" b="0">
                          <a:solidFill>
                            <a:srgbClr val="1B1B1B"/>
                          </a:solidFill>
                          <a:latin typeface="Calibri" panose="020F0502020204030204" pitchFamily="34" charset="0"/>
                        </a:rPr>
                        <a:t>Гц</a:t>
                      </a:r>
                    </a:p>
                  </a:txBody>
                  <a:tcPr marL="101600" marR="76200" marT="50800" marB="508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solidFill>
                            <a:srgbClr val="1B1B1B"/>
                          </a:solidFill>
                          <a:latin typeface="Calibri" panose="020F0502020204030204" pitchFamily="34" charset="0"/>
                        </a:rPr>
                        <a:t>≈</a:t>
                      </a:r>
                    </a:p>
                  </a:txBody>
                  <a:tcPr marL="101600" marR="76200" marT="50800" marB="508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solidFill>
                            <a:srgbClr val="1B1B1B"/>
                          </a:solidFill>
                          <a:latin typeface="Calibri" panose="020F0502020204030204" pitchFamily="34" charset="0"/>
                        </a:rPr>
                        <a:t>отделяет пожилых с возрастным ослаблением альфы</a:t>
                      </a:r>
                    </a:p>
                  </a:txBody>
                  <a:tcPr marL="101600" marR="76200" marT="50800" marB="50800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7385169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ru-RU" sz="1300" b="1">
                          <a:solidFill>
                            <a:srgbClr val="1B1B1B"/>
                          </a:solidFill>
                          <a:latin typeface="Calibri" panose="020F0502020204030204" pitchFamily="34" charset="0"/>
                        </a:rPr>
                        <a:t>доля теты</a:t>
                      </a:r>
                    </a:p>
                  </a:txBody>
                  <a:tcPr marL="1016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B1B1B"/>
                          </a:solidFill>
                          <a:latin typeface="Calibri" panose="020F0502020204030204" pitchFamily="34" charset="0"/>
                        </a:rPr>
                        <a:t>Fp1, T3, T4, O1 · 4–8 </a:t>
                      </a:r>
                      <a:r>
                        <a:rPr lang="ru-RU" sz="1300" b="0">
                          <a:solidFill>
                            <a:srgbClr val="1B1B1B"/>
                          </a:solidFill>
                          <a:latin typeface="Calibri" panose="020F0502020204030204" pitchFamily="34" charset="0"/>
                        </a:rPr>
                        <a:t>Гц</a:t>
                      </a:r>
                    </a:p>
                  </a:txBody>
                  <a:tcPr marL="1016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solidFill>
                            <a:srgbClr val="1B1B1B"/>
                          </a:solidFill>
                          <a:latin typeface="Calibri" panose="020F0502020204030204" pitchFamily="34" charset="0"/>
                        </a:rPr>
                        <a:t>↑ слегка (−0.40 / −0.47)</a:t>
                      </a:r>
                    </a:p>
                  </a:txBody>
                  <a:tcPr marL="1016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solidFill>
                            <a:srgbClr val="1B1B1B"/>
                          </a:solidFill>
                          <a:latin typeface="Calibri" panose="020F0502020204030204" pitchFamily="34" charset="0"/>
                        </a:rPr>
                        <a:t>сниженное бодрствование, нарушения сна</a:t>
                      </a:r>
                    </a:p>
                  </a:txBody>
                  <a:tcPr marL="101600" marR="762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41745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ru-RU" sz="1300" b="1">
                          <a:solidFill>
                            <a:srgbClr val="1B1B1B"/>
                          </a:solidFill>
                          <a:latin typeface="Calibri" panose="020F0502020204030204" pitchFamily="34" charset="0"/>
                        </a:rPr>
                        <a:t>наклон спектра</a:t>
                      </a:r>
                    </a:p>
                  </a:txBody>
                  <a:tcPr marL="101600" marR="76200" marT="50800" marB="508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B1B1B"/>
                          </a:solidFill>
                          <a:latin typeface="Calibri" panose="020F0502020204030204" pitchFamily="34" charset="0"/>
                        </a:rPr>
                        <a:t>O1 · 3–30 </a:t>
                      </a:r>
                      <a:r>
                        <a:rPr lang="ru-RU" sz="1300" b="0">
                          <a:solidFill>
                            <a:srgbClr val="1B1B1B"/>
                          </a:solidFill>
                          <a:latin typeface="Calibri" panose="020F0502020204030204" pitchFamily="34" charset="0"/>
                        </a:rPr>
                        <a:t>Гц</a:t>
                      </a:r>
                    </a:p>
                  </a:txBody>
                  <a:tcPr marL="101600" marR="76200" marT="50800" marB="508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solidFill>
                            <a:srgbClr val="1B1B1B"/>
                          </a:solidFill>
                          <a:latin typeface="Calibri" panose="020F0502020204030204" pitchFamily="34" charset="0"/>
                        </a:rPr>
                        <a:t>↓ площе (0.72 / 0.78)</a:t>
                      </a:r>
                    </a:p>
                  </a:txBody>
                  <a:tcPr marL="101600" marR="76200" marT="50800" marB="508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solidFill>
                            <a:srgbClr val="1B1B1B"/>
                          </a:solidFill>
                          <a:latin typeface="Calibri" panose="020F0502020204030204" pitchFamily="34" charset="0"/>
                        </a:rPr>
                        <a:t>баланс возбуждения и торможения; так же при старении</a:t>
                      </a:r>
                    </a:p>
                  </a:txBody>
                  <a:tcPr marL="101600" marR="76200" marT="50800" marB="50800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853762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ru-RU" sz="1300" b="1">
                          <a:solidFill>
                            <a:srgbClr val="1B1B1B"/>
                          </a:solidFill>
                          <a:latin typeface="Calibri" panose="020F0502020204030204" pitchFamily="34" charset="0"/>
                        </a:rPr>
                        <a:t>частота альфа-пика</a:t>
                      </a:r>
                    </a:p>
                  </a:txBody>
                  <a:tcPr marL="1016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B1B1B"/>
                          </a:solidFill>
                          <a:latin typeface="Calibri" panose="020F0502020204030204" pitchFamily="34" charset="0"/>
                        </a:rPr>
                        <a:t>O1 · 8–13 </a:t>
                      </a:r>
                      <a:r>
                        <a:rPr lang="ru-RU" sz="1300" b="0">
                          <a:solidFill>
                            <a:srgbClr val="1B1B1B"/>
                          </a:solidFill>
                          <a:latin typeface="Calibri" panose="020F0502020204030204" pitchFamily="34" charset="0"/>
                        </a:rPr>
                        <a:t>Гц</a:t>
                      </a:r>
                    </a:p>
                  </a:txBody>
                  <a:tcPr marL="1016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solidFill>
                            <a:srgbClr val="1B1B1B"/>
                          </a:solidFill>
                          <a:latin typeface="Calibri" panose="020F0502020204030204" pitchFamily="34" charset="0"/>
                        </a:rPr>
                        <a:t>≈ (9.95 / 9.69 Гц)</a:t>
                      </a:r>
                    </a:p>
                  </a:txBody>
                  <a:tcPr marL="1016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solidFill>
                            <a:srgbClr val="1B1B1B"/>
                          </a:solidFill>
                          <a:latin typeface="Calibri" panose="020F0502020204030204" pitchFamily="34" charset="0"/>
                        </a:rPr>
                        <a:t>замедляется со старением</a:t>
                      </a:r>
                    </a:p>
                  </a:txBody>
                  <a:tcPr marL="101600" marR="762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961189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ru-RU" sz="1300" b="1">
                          <a:solidFill>
                            <a:srgbClr val="1B1B1B"/>
                          </a:solidFill>
                          <a:latin typeface="Calibri" panose="020F0502020204030204" pitchFamily="34" charset="0"/>
                        </a:rPr>
                        <a:t>лобная асимметрия</a:t>
                      </a:r>
                    </a:p>
                  </a:txBody>
                  <a:tcPr marL="101600" marR="76200" marT="50800" marB="508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B1B1B"/>
                          </a:solidFill>
                          <a:latin typeface="Calibri" panose="020F0502020204030204" pitchFamily="34" charset="0"/>
                        </a:rPr>
                        <a:t>Fp2 − Fp1 · 8–13 </a:t>
                      </a:r>
                      <a:r>
                        <a:rPr lang="ru-RU" sz="1300" b="0">
                          <a:solidFill>
                            <a:srgbClr val="1B1B1B"/>
                          </a:solidFill>
                          <a:latin typeface="Calibri" panose="020F0502020204030204" pitchFamily="34" charset="0"/>
                        </a:rPr>
                        <a:t>Гц</a:t>
                      </a:r>
                    </a:p>
                  </a:txBody>
                  <a:tcPr marL="101600" marR="76200" marT="50800" marB="508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solidFill>
                            <a:srgbClr val="1B1B1B"/>
                          </a:solidFill>
                          <a:latin typeface="Calibri" panose="020F0502020204030204" pitchFamily="34" charset="0"/>
                        </a:rPr>
                        <a:t>≈</a:t>
                      </a:r>
                    </a:p>
                  </a:txBody>
                  <a:tcPr marL="101600" marR="76200" marT="50800" marB="508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solidFill>
                            <a:srgbClr val="1B1B1B"/>
                          </a:solidFill>
                          <a:latin typeface="Calibri" panose="020F0502020204030204" pitchFamily="34" charset="0"/>
                        </a:rPr>
                        <a:t>модель Davidson; классически F3/F4, прироста не дала</a:t>
                      </a:r>
                    </a:p>
                  </a:txBody>
                  <a:tcPr marL="101600" marR="76200" marT="50800" marB="50800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155610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CEDD479-F123-AECE-6419-380B28381972}"/>
              </a:ext>
            </a:extLst>
          </p:cNvPr>
          <p:cNvSpPr txBox="1"/>
          <p:nvPr/>
        </p:nvSpPr>
        <p:spPr>
          <a:xfrm>
            <a:off x="508000" y="59690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200">
                <a:solidFill>
                  <a:srgbClr val="52514E"/>
                </a:solidFill>
                <a:latin typeface="Calibri" panose="020F0502020204030204" pitchFamily="34" charset="0"/>
              </a:rPr>
              <a:t>* медиана ПТСР / нормы A; ↑/↓ — относительно молодых норм; строки упорядочены по весу в модели. Надёжно (95% ДИ) сдвинуты только наклон и бета на T4 — и оба так же у соматоформных.</a:t>
            </a:r>
          </a:p>
        </p:txBody>
      </p:sp>
    </p:spTree>
    <p:extLst>
      <p:ext uri="{BB962C8B-B14F-4D97-AF65-F5344CB8AC3E}">
        <p14:creationId xmlns:p14="http://schemas.microsoft.com/office/powerpoint/2010/main" val="1193902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93B3B-C375-AE4C-B234-3B9F3AB481FC}"/>
              </a:ext>
            </a:extLst>
          </p:cNvPr>
          <p:cNvSpPr txBox="1"/>
          <p:nvPr/>
        </p:nvSpPr>
        <p:spPr>
          <a:xfrm>
            <a:off x="508000" y="3302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000" b="1">
                <a:solidFill>
                  <a:srgbClr val="14213D"/>
                </a:solidFill>
                <a:latin typeface="Cambria" panose="02040503050406030204" pitchFamily="18" charset="0"/>
              </a:rPr>
              <a:t>Результат вне выборки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74546B8-670A-3A42-9295-503D735EB2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99" y="1092199"/>
            <a:ext cx="5334000" cy="52299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E17E0B-AEA2-8959-A303-9C5709FDBED5}"/>
              </a:ext>
            </a:extLst>
          </p:cNvPr>
          <p:cNvSpPr txBox="1"/>
          <p:nvPr/>
        </p:nvSpPr>
        <p:spPr>
          <a:xfrm>
            <a:off x="6604000" y="12700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4800" b="1">
                <a:solidFill>
                  <a:srgbClr val="EB6834"/>
                </a:solidFill>
                <a:latin typeface="Cambria" panose="02040503050406030204" pitchFamily="18" charset="0"/>
              </a:rPr>
              <a:t>0.86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534DFC-12C1-A676-460F-32BF4107C977}"/>
              </a:ext>
            </a:extLst>
          </p:cNvPr>
          <p:cNvSpPr txBox="1"/>
          <p:nvPr/>
        </p:nvSpPr>
        <p:spPr>
          <a:xfrm>
            <a:off x="6604000" y="19812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300">
                <a:solidFill>
                  <a:srgbClr val="52514E"/>
                </a:solidFill>
                <a:latin typeface="Calibri" panose="020F0502020204030204" pitchFamily="34" charset="0"/>
              </a:rPr>
              <a:t>AUC ПТСР / нормы моложе 65 лет</a:t>
            </a:r>
          </a:p>
          <a:p>
            <a:r>
              <a:rPr lang="ru-RU" sz="1300">
                <a:solidFill>
                  <a:srgbClr val="52514E"/>
                </a:solidFill>
                <a:latin typeface="Calibri" panose="020F0502020204030204" pitchFamily="34" charset="0"/>
              </a:rPr>
              <a:t>95% ДИ 0.80–0.92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DC42D4-8A5B-2C8F-C288-8CF2574301B8}"/>
              </a:ext>
            </a:extLst>
          </p:cNvPr>
          <p:cNvSpPr txBox="1"/>
          <p:nvPr/>
        </p:nvSpPr>
        <p:spPr>
          <a:xfrm>
            <a:off x="6604000" y="27305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600" b="1">
                <a:solidFill>
                  <a:srgbClr val="14213D"/>
                </a:solidFill>
                <a:latin typeface="Cambria" panose="02040503050406030204" pitchFamily="18" charset="0"/>
              </a:rPr>
              <a:t>0.77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A2363F-985D-21F7-580B-F81F5D46D7A2}"/>
              </a:ext>
            </a:extLst>
          </p:cNvPr>
          <p:cNvSpPr txBox="1"/>
          <p:nvPr/>
        </p:nvSpPr>
        <p:spPr>
          <a:xfrm>
            <a:off x="6604000" y="32893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300">
                <a:solidFill>
                  <a:srgbClr val="52514E"/>
                </a:solidFill>
                <a:latin typeface="Calibri" panose="020F0502020204030204" pitchFamily="34" charset="0"/>
              </a:rPr>
              <a:t>AUC без формата C (нормы A, B, доп. партия)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E84DB6-412A-27E8-5207-DF9C96FC053D}"/>
              </a:ext>
            </a:extLst>
          </p:cNvPr>
          <p:cNvSpPr txBox="1"/>
          <p:nvPr/>
        </p:nvSpPr>
        <p:spPr>
          <a:xfrm>
            <a:off x="6604000" y="3937000"/>
            <a:ext cx="241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600" b="1">
                <a:solidFill>
                  <a:srgbClr val="14213D"/>
                </a:solidFill>
                <a:latin typeface="Cambria" panose="02040503050406030204" pitchFamily="18" charset="0"/>
              </a:rPr>
              <a:t>0.84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F381D1-E623-D22F-77EA-54308F4B67CE}"/>
              </a:ext>
            </a:extLst>
          </p:cNvPr>
          <p:cNvSpPr txBox="1"/>
          <p:nvPr/>
        </p:nvSpPr>
        <p:spPr>
          <a:xfrm>
            <a:off x="6604000" y="4495800"/>
            <a:ext cx="241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300">
                <a:solidFill>
                  <a:srgbClr val="52514E"/>
                </a:solidFill>
                <a:latin typeface="Calibri" panose="020F0502020204030204" pitchFamily="34" charset="0"/>
              </a:rPr>
              <a:t>чувствительность при пороге 0.5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F8F8F9-E9B8-2795-9539-1C15887474E5}"/>
              </a:ext>
            </a:extLst>
          </p:cNvPr>
          <p:cNvSpPr txBox="1"/>
          <p:nvPr/>
        </p:nvSpPr>
        <p:spPr>
          <a:xfrm>
            <a:off x="9271000" y="3937000"/>
            <a:ext cx="241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600" b="1">
                <a:solidFill>
                  <a:srgbClr val="14213D"/>
                </a:solidFill>
                <a:latin typeface="Cambria" panose="02040503050406030204" pitchFamily="18" charset="0"/>
              </a:rPr>
              <a:t>0.78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6DA026-5D02-6E29-BB2B-800546429C37}"/>
              </a:ext>
            </a:extLst>
          </p:cNvPr>
          <p:cNvSpPr txBox="1"/>
          <p:nvPr/>
        </p:nvSpPr>
        <p:spPr>
          <a:xfrm>
            <a:off x="9271000" y="4495800"/>
            <a:ext cx="241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300">
                <a:solidFill>
                  <a:srgbClr val="52514E"/>
                </a:solidFill>
                <a:latin typeface="Calibri" panose="020F0502020204030204" pitchFamily="34" charset="0"/>
              </a:rPr>
              <a:t>сбалансированная точность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94F838-1A91-0563-62FD-96494F043BEE}"/>
              </a:ext>
            </a:extLst>
          </p:cNvPr>
          <p:cNvSpPr txBox="1"/>
          <p:nvPr/>
        </p:nvSpPr>
        <p:spPr>
          <a:xfrm>
            <a:off x="6604000" y="53975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300">
                <a:solidFill>
                  <a:srgbClr val="52514E"/>
                </a:solidFill>
                <a:latin typeface="Calibri" panose="020F0502020204030204" pitchFamily="34" charset="0"/>
              </a:rPr>
              <a:t>Специфичность на нормах &lt; 65 — 0.72 (C 1.00, доп. партия 0.58, A 0.45). Бутстрэп групп, 2000 повторов; на обучающих данных AUC 0.92 — поэтому только вне выборки.</a:t>
            </a:r>
          </a:p>
        </p:txBody>
      </p:sp>
    </p:spTree>
    <p:extLst>
      <p:ext uri="{BB962C8B-B14F-4D97-AF65-F5344CB8AC3E}">
        <p14:creationId xmlns:p14="http://schemas.microsoft.com/office/powerpoint/2010/main" val="3807489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980B2C-15EC-36EC-337C-B121943A015A}"/>
              </a:ext>
            </a:extLst>
          </p:cNvPr>
          <p:cNvSpPr txBox="1"/>
          <p:nvPr/>
        </p:nvSpPr>
        <p:spPr>
          <a:xfrm>
            <a:off x="508000" y="3302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000" b="1">
                <a:solidFill>
                  <a:srgbClr val="14213D"/>
                </a:solidFill>
                <a:latin typeface="Cambria" panose="02040503050406030204" pitchFamily="18" charset="0"/>
              </a:rPr>
              <a:t>Старение отделяется, соматоформные — хуже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35EF1A7-AC89-E0F8-777D-B79CCAE7E4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8508" y="1142999"/>
            <a:ext cx="9114985" cy="3810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FCD42D-1460-9528-3662-CEFCA4280CA5}"/>
              </a:ext>
            </a:extLst>
          </p:cNvPr>
          <p:cNvSpPr txBox="1"/>
          <p:nvPr/>
        </p:nvSpPr>
        <p:spPr>
          <a:xfrm>
            <a:off x="762000" y="5207000"/>
            <a:ext cx="317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4000" b="1">
                <a:solidFill>
                  <a:srgbClr val="1BAF7A"/>
                </a:solidFill>
                <a:latin typeface="Cambria" panose="02040503050406030204" pitchFamily="18" charset="0"/>
              </a:rPr>
              <a:t>0.87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7D9F01-83C8-4958-36A6-4726ECDDE98A}"/>
              </a:ext>
            </a:extLst>
          </p:cNvPr>
          <p:cNvSpPr txBox="1"/>
          <p:nvPr/>
        </p:nvSpPr>
        <p:spPr>
          <a:xfrm>
            <a:off x="762000" y="5816600"/>
            <a:ext cx="317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300">
                <a:solidFill>
                  <a:srgbClr val="52514E"/>
                </a:solidFill>
                <a:latin typeface="Calibri" panose="020F0502020204030204" pitchFamily="34" charset="0"/>
              </a:rPr>
              <a:t>специфичность, нормы 65+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0A59C5-01D7-EBBE-B8AA-B82D3C9E9254}"/>
              </a:ext>
            </a:extLst>
          </p:cNvPr>
          <p:cNvSpPr txBox="1"/>
          <p:nvPr/>
        </p:nvSpPr>
        <p:spPr>
          <a:xfrm>
            <a:off x="4318000" y="5207000"/>
            <a:ext cx="317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4000" b="1">
                <a:solidFill>
                  <a:srgbClr val="EB6834"/>
                </a:solidFill>
                <a:latin typeface="Cambria" panose="02040503050406030204" pitchFamily="18" charset="0"/>
              </a:rPr>
              <a:t>0.61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676848-BD1F-E65F-FDC9-BCED9FE16035}"/>
              </a:ext>
            </a:extLst>
          </p:cNvPr>
          <p:cNvSpPr txBox="1"/>
          <p:nvPr/>
        </p:nvSpPr>
        <p:spPr>
          <a:xfrm>
            <a:off x="4318000" y="5816600"/>
            <a:ext cx="317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300">
                <a:solidFill>
                  <a:srgbClr val="52514E"/>
                </a:solidFill>
                <a:latin typeface="Calibri" panose="020F0502020204030204" pitchFamily="34" charset="0"/>
              </a:rPr>
              <a:t>специфичность, соматоформные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62DC4A-7A1D-0136-5CF6-6009C45D17E8}"/>
              </a:ext>
            </a:extLst>
          </p:cNvPr>
          <p:cNvSpPr txBox="1"/>
          <p:nvPr/>
        </p:nvSpPr>
        <p:spPr>
          <a:xfrm>
            <a:off x="7874000" y="52324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300">
                <a:solidFill>
                  <a:srgbClr val="52514E"/>
                </a:solidFill>
                <a:latin typeface="Calibri" panose="020F0502020204030204" pitchFamily="34" charset="0"/>
              </a:rPr>
              <a:t>Сдвиг признаков у ПТСР и соматоформных общий, но P у соматоформных ниже, чем у нормы A: их отделяет не клиника. Пол не учтён — ПТСР только мужчины.</a:t>
            </a:r>
          </a:p>
        </p:txBody>
      </p:sp>
    </p:spTree>
    <p:extLst>
      <p:ext uri="{BB962C8B-B14F-4D97-AF65-F5344CB8AC3E}">
        <p14:creationId xmlns:p14="http://schemas.microsoft.com/office/powerpoint/2010/main" val="1325797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BFB000-C4DD-2608-8E7D-0676009201D1}"/>
              </a:ext>
            </a:extLst>
          </p:cNvPr>
          <p:cNvSpPr txBox="1"/>
          <p:nvPr/>
        </p:nvSpPr>
        <p:spPr>
          <a:xfrm>
            <a:off x="508000" y="3302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000" b="1">
                <a:solidFill>
                  <a:srgbClr val="14213D"/>
                </a:solidFill>
                <a:latin typeface="Cambria" panose="02040503050406030204" pitchFamily="18" charset="0"/>
              </a:rPr>
              <a:t>Что результат не объясняет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FBB9394-2FB6-414D-469C-E34F8AD893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699" y="1066799"/>
            <a:ext cx="10108602" cy="3175000"/>
          </a:xfrm>
          <a:prstGeom prst="rect">
            <a:avLst/>
          </a:prstGeom>
        </p:spPr>
      </p:pic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DF57A7CD-C713-9F50-9F93-FCB5BE0985D7}"/>
              </a:ext>
            </a:extLst>
          </p:cNvPr>
          <p:cNvSpPr/>
          <p:nvPr/>
        </p:nvSpPr>
        <p:spPr>
          <a:xfrm>
            <a:off x="508000" y="4445000"/>
            <a:ext cx="2108200" cy="19050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C8EAD1F6-108D-B2C4-7CC2-598197659210}"/>
              </a:ext>
            </a:extLst>
          </p:cNvPr>
          <p:cNvSpPr/>
          <p:nvPr/>
        </p:nvSpPr>
        <p:spPr>
          <a:xfrm>
            <a:off x="685800" y="4622800"/>
            <a:ext cx="355600" cy="355600"/>
          </a:xfrm>
          <a:prstGeom prst="ellipse">
            <a:avLst/>
          </a:prstGeom>
          <a:solidFill>
            <a:srgbClr val="1BAF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ru-RU" sz="1300" b="1">
                <a:solidFill>
                  <a:srgbClr val="FFFFFF"/>
                </a:solidFill>
                <a:latin typeface="Calibri" panose="020F0502020204030204" pitchFamily="34" charset="0"/>
              </a:rPr>
              <a:t>✓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3751CA-8A35-C8A0-DC54-D096AC1DA613}"/>
              </a:ext>
            </a:extLst>
          </p:cNvPr>
          <p:cNvSpPr txBox="1"/>
          <p:nvPr/>
        </p:nvSpPr>
        <p:spPr>
          <a:xfrm>
            <a:off x="685800" y="5105400"/>
            <a:ext cx="177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 b="1">
                <a:solidFill>
                  <a:srgbClr val="14213D"/>
                </a:solidFill>
                <a:latin typeface="Calibri" panose="020F0502020204030204" pitchFamily="34" charset="0"/>
              </a:rPr>
              <a:t>Формат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395816-5A3C-48EE-08FF-201AFA8401EF}"/>
              </a:ext>
            </a:extLst>
          </p:cNvPr>
          <p:cNvSpPr txBox="1"/>
          <p:nvPr/>
        </p:nvSpPr>
        <p:spPr>
          <a:xfrm>
            <a:off x="685800" y="5435600"/>
            <a:ext cx="177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200">
                <a:solidFill>
                  <a:srgbClr val="52514E"/>
                </a:solidFill>
                <a:latin typeface="Calibri" panose="020F0502020204030204" pitchFamily="34" charset="0"/>
              </a:rPr>
              <a:t>внутри формата B AUC 0.84, метаданные — 0.00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D7C9F542-043E-7071-9285-5B9D847CC567}"/>
              </a:ext>
            </a:extLst>
          </p:cNvPr>
          <p:cNvSpPr/>
          <p:nvPr/>
        </p:nvSpPr>
        <p:spPr>
          <a:xfrm>
            <a:off x="2768600" y="4445000"/>
            <a:ext cx="2108200" cy="19050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FCD16798-FF9B-8CA5-09FC-D653A8F1A635}"/>
              </a:ext>
            </a:extLst>
          </p:cNvPr>
          <p:cNvSpPr/>
          <p:nvPr/>
        </p:nvSpPr>
        <p:spPr>
          <a:xfrm>
            <a:off x="2946400" y="4622800"/>
            <a:ext cx="355600" cy="355600"/>
          </a:xfrm>
          <a:prstGeom prst="ellipse">
            <a:avLst/>
          </a:prstGeom>
          <a:solidFill>
            <a:srgbClr val="1BAF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ru-RU" sz="1300" b="1">
                <a:solidFill>
                  <a:srgbClr val="FFFFFF"/>
                </a:solidFill>
                <a:latin typeface="Calibri" panose="020F0502020204030204" pitchFamily="34" charset="0"/>
              </a:rPr>
              <a:t>✓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280068-3960-3BB7-B3D6-F3F90C84F5E8}"/>
              </a:ext>
            </a:extLst>
          </p:cNvPr>
          <p:cNvSpPr txBox="1"/>
          <p:nvPr/>
        </p:nvSpPr>
        <p:spPr>
          <a:xfrm>
            <a:off x="2946400" y="5105400"/>
            <a:ext cx="177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 b="1">
                <a:solidFill>
                  <a:srgbClr val="14213D"/>
                </a:solidFill>
                <a:latin typeface="Calibri" panose="020F0502020204030204" pitchFamily="34" charset="0"/>
              </a:rPr>
              <a:t>Качество записи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44CADF-1663-3ED3-1A26-D4540BB16164}"/>
              </a:ext>
            </a:extLst>
          </p:cNvPr>
          <p:cNvSpPr txBox="1"/>
          <p:nvPr/>
        </p:nvSpPr>
        <p:spPr>
          <a:xfrm>
            <a:off x="2946400" y="5435600"/>
            <a:ext cx="177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200">
                <a:solidFill>
                  <a:srgbClr val="52514E"/>
                </a:solidFill>
                <a:latin typeface="Calibri" panose="020F0502020204030204" pitchFamily="34" charset="0"/>
              </a:rPr>
              <a:t>модель на качестве — AUC 0.50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7E97F003-60CC-18EF-7D2F-0884B352770D}"/>
              </a:ext>
            </a:extLst>
          </p:cNvPr>
          <p:cNvSpPr/>
          <p:nvPr/>
        </p:nvSpPr>
        <p:spPr>
          <a:xfrm>
            <a:off x="5029200" y="4445000"/>
            <a:ext cx="2108200" cy="19050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C32C14BD-60C7-7986-97A0-A22532872B78}"/>
              </a:ext>
            </a:extLst>
          </p:cNvPr>
          <p:cNvSpPr/>
          <p:nvPr/>
        </p:nvSpPr>
        <p:spPr>
          <a:xfrm>
            <a:off x="5207000" y="4622800"/>
            <a:ext cx="355600" cy="355600"/>
          </a:xfrm>
          <a:prstGeom prst="ellipse">
            <a:avLst/>
          </a:prstGeom>
          <a:solidFill>
            <a:srgbClr val="1BAF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ru-RU" sz="1300" b="1">
                <a:solidFill>
                  <a:srgbClr val="FFFFFF"/>
                </a:solidFill>
                <a:latin typeface="Calibri" panose="020F0502020204030204" pitchFamily="34" charset="0"/>
              </a:rPr>
              <a:t>✓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04E6F7-60B2-AEC0-EFFC-F8387B492A6B}"/>
              </a:ext>
            </a:extLst>
          </p:cNvPr>
          <p:cNvSpPr txBox="1"/>
          <p:nvPr/>
        </p:nvSpPr>
        <p:spPr>
          <a:xfrm>
            <a:off x="5207000" y="5105400"/>
            <a:ext cx="177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 b="1">
                <a:solidFill>
                  <a:srgbClr val="14213D"/>
                </a:solidFill>
                <a:latin typeface="Calibri" panose="020F0502020204030204" pitchFamily="34" charset="0"/>
              </a:rPr>
              <a:t>Возраст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F05421-836F-935B-46DB-885DF6797C72}"/>
              </a:ext>
            </a:extLst>
          </p:cNvPr>
          <p:cNvSpPr txBox="1"/>
          <p:nvPr/>
        </p:nvSpPr>
        <p:spPr>
          <a:xfrm>
            <a:off x="5207000" y="5435600"/>
            <a:ext cx="177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200">
                <a:solidFill>
                  <a:srgbClr val="52514E"/>
                </a:solidFill>
                <a:latin typeface="Calibri" panose="020F0502020204030204" pitchFamily="34" charset="0"/>
              </a:rPr>
              <a:t>внутри партии R² ≈ 0, P не связана с возрастом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CC00B1A6-F91C-E94A-A0AA-33D59000262C}"/>
              </a:ext>
            </a:extLst>
          </p:cNvPr>
          <p:cNvSpPr/>
          <p:nvPr/>
        </p:nvSpPr>
        <p:spPr>
          <a:xfrm>
            <a:off x="7289800" y="4445000"/>
            <a:ext cx="2108200" cy="19050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CCBD7A25-4CB7-0A29-78DA-EFE003962078}"/>
              </a:ext>
            </a:extLst>
          </p:cNvPr>
          <p:cNvSpPr/>
          <p:nvPr/>
        </p:nvSpPr>
        <p:spPr>
          <a:xfrm>
            <a:off x="7467600" y="4622800"/>
            <a:ext cx="355600" cy="355600"/>
          </a:xfrm>
          <a:prstGeom prst="ellipse">
            <a:avLst/>
          </a:prstGeom>
          <a:solidFill>
            <a:srgbClr val="1BAF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ru-RU" sz="1300" b="1">
                <a:solidFill>
                  <a:srgbClr val="FFFFFF"/>
                </a:solidFill>
                <a:latin typeface="Calibri" panose="020F0502020204030204" pitchFamily="34" charset="0"/>
              </a:rPr>
              <a:t>✓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67B6D5-FBE0-B2E7-DC4E-0DB87FF86179}"/>
              </a:ext>
            </a:extLst>
          </p:cNvPr>
          <p:cNvSpPr txBox="1"/>
          <p:nvPr/>
        </p:nvSpPr>
        <p:spPr>
          <a:xfrm>
            <a:off x="7467600" y="5105400"/>
            <a:ext cx="177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 b="1">
                <a:solidFill>
                  <a:srgbClr val="14213D"/>
                </a:solidFill>
                <a:latin typeface="Calibri" panose="020F0502020204030204" pitchFamily="34" charset="0"/>
              </a:rPr>
              <a:t>Поведение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DB0C8A-9B67-CF8A-1874-FA51BE9E9342}"/>
              </a:ext>
            </a:extLst>
          </p:cNvPr>
          <p:cNvSpPr txBox="1"/>
          <p:nvPr/>
        </p:nvSpPr>
        <p:spPr>
          <a:xfrm>
            <a:off x="7467600" y="5435600"/>
            <a:ext cx="177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200">
                <a:solidFill>
                  <a:srgbClr val="52514E"/>
                </a:solidFill>
                <a:latin typeface="Calibri" panose="020F0502020204030204" pitchFamily="34" charset="0"/>
              </a:rPr>
              <a:t>P не растёт со временем решения таблиц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345D76C8-55FE-92A8-554C-F775BF0B2898}"/>
              </a:ext>
            </a:extLst>
          </p:cNvPr>
          <p:cNvSpPr/>
          <p:nvPr/>
        </p:nvSpPr>
        <p:spPr>
          <a:xfrm>
            <a:off x="9550400" y="4445000"/>
            <a:ext cx="2108200" cy="19050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3F439AC2-7FE7-0C9C-14D3-62B745F80222}"/>
              </a:ext>
            </a:extLst>
          </p:cNvPr>
          <p:cNvSpPr/>
          <p:nvPr/>
        </p:nvSpPr>
        <p:spPr>
          <a:xfrm>
            <a:off x="9728200" y="4622800"/>
            <a:ext cx="355600" cy="355600"/>
          </a:xfrm>
          <a:prstGeom prst="ellipse">
            <a:avLst/>
          </a:prstGeom>
          <a:solidFill>
            <a:srgbClr val="EB68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ru-RU" sz="1300" b="1">
                <a:solidFill>
                  <a:srgbClr val="FFFFFF"/>
                </a:solidFill>
                <a:latin typeface="Calibri" panose="020F0502020204030204" pitchFamily="34" charset="0"/>
              </a:rPr>
              <a:t>!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E2CEF8-D708-4CED-A2AC-E62110BED555}"/>
              </a:ext>
            </a:extLst>
          </p:cNvPr>
          <p:cNvSpPr txBox="1"/>
          <p:nvPr/>
        </p:nvSpPr>
        <p:spPr>
          <a:xfrm>
            <a:off x="9728200" y="5105400"/>
            <a:ext cx="177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 b="1">
                <a:solidFill>
                  <a:srgbClr val="14213D"/>
                </a:solidFill>
                <a:latin typeface="Calibri" panose="020F0502020204030204" pitchFamily="34" charset="0"/>
              </a:rPr>
              <a:t>Ограничение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A0B28F-F33C-D760-6126-095C017EEB2E}"/>
              </a:ext>
            </a:extLst>
          </p:cNvPr>
          <p:cNvSpPr txBox="1"/>
          <p:nvPr/>
        </p:nvSpPr>
        <p:spPr>
          <a:xfrm>
            <a:off x="9728200" y="5435600"/>
            <a:ext cx="177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200">
                <a:solidFill>
                  <a:srgbClr val="52514E"/>
                </a:solidFill>
                <a:latin typeface="Calibri" panose="020F0502020204030204" pitchFamily="34" charset="0"/>
              </a:rPr>
              <a:t>без T3/T4 AUC против молодых норм A/B — 0.57</a:t>
            </a:r>
          </a:p>
        </p:txBody>
      </p:sp>
    </p:spTree>
    <p:extLst>
      <p:ext uri="{BB962C8B-B14F-4D97-AF65-F5344CB8AC3E}">
        <p14:creationId xmlns:p14="http://schemas.microsoft.com/office/powerpoint/2010/main" val="2423870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153913-A957-F803-B4E3-2FA46EDF5BEB}"/>
              </a:ext>
            </a:extLst>
          </p:cNvPr>
          <p:cNvSpPr txBox="1"/>
          <p:nvPr/>
        </p:nvSpPr>
        <p:spPr>
          <a:xfrm>
            <a:off x="508000" y="3302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000" b="1">
                <a:solidFill>
                  <a:srgbClr val="14213D"/>
                </a:solidFill>
                <a:latin typeface="Cambria" panose="02040503050406030204" pitchFamily="18" charset="0"/>
              </a:rPr>
              <a:t>С поведением и без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9CAD027-8B81-C586-1DF2-1770D03835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8417" y="1041399"/>
            <a:ext cx="9195166" cy="4064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103D1F-467B-6FFA-5DA8-ADDF9C6A91B0}"/>
              </a:ext>
            </a:extLst>
          </p:cNvPr>
          <p:cNvSpPr txBox="1"/>
          <p:nvPr/>
        </p:nvSpPr>
        <p:spPr>
          <a:xfrm>
            <a:off x="762000" y="52705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4400" b="1">
                <a:solidFill>
                  <a:srgbClr val="EB6834"/>
                </a:solidFill>
                <a:latin typeface="Cambria" panose="02040503050406030204" pitchFamily="18" charset="0"/>
              </a:rPr>
              <a:t>0.75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DC1E14-4CD5-421E-8E15-62C7B750A3D0}"/>
              </a:ext>
            </a:extLst>
          </p:cNvPr>
          <p:cNvSpPr txBox="1"/>
          <p:nvPr/>
        </p:nvSpPr>
        <p:spPr>
          <a:xfrm>
            <a:off x="762000" y="59309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300">
                <a:solidFill>
                  <a:srgbClr val="52514E"/>
                </a:solidFill>
                <a:latin typeface="Calibri" panose="020F0502020204030204" pitchFamily="34" charset="0"/>
              </a:rPr>
              <a:t>ЭЭГ + время решения таблиц (0.61 и 0.64 по отдельности)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F4E83C-AF1C-A154-C2E4-73304CFD28CD}"/>
              </a:ext>
            </a:extLst>
          </p:cNvPr>
          <p:cNvSpPr txBox="1"/>
          <p:nvPr/>
        </p:nvSpPr>
        <p:spPr>
          <a:xfrm>
            <a:off x="5080000" y="5270500"/>
            <a:ext cx="660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ru-RU" sz="1400">
                <a:solidFill>
                  <a:srgbClr val="1B1B1B"/>
                </a:solidFill>
                <a:latin typeface="Calibri" panose="020F0502020204030204" pitchFamily="34" charset="0"/>
              </a:rPr>
              <a:t>Шульте–Горбов: темп ниже в 1.3 раза, врабатываемость как у нормы, без истощаемости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ru-RU" sz="1400">
                <a:solidFill>
                  <a:srgbClr val="1B1B1B"/>
                </a:solidFill>
                <a:latin typeface="Calibri" panose="020F0502020204030204" pitchFamily="34" charset="0"/>
              </a:rPr>
              <a:t>поведение отделяет молодых норм, ЭЭГ — пожилых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ru-RU" sz="1400">
                <a:solidFill>
                  <a:srgbClr val="1B1B1B"/>
                </a:solidFill>
                <a:latin typeface="Calibri" panose="020F0502020204030204" pitchFamily="34" charset="0"/>
              </a:rPr>
              <a:t>сдаём только ЭЭГ: у 85 из 229 нет времени решения</a:t>
            </a:r>
          </a:p>
        </p:txBody>
      </p:sp>
    </p:spTree>
    <p:extLst>
      <p:ext uri="{BB962C8B-B14F-4D97-AF65-F5344CB8AC3E}">
        <p14:creationId xmlns:p14="http://schemas.microsoft.com/office/powerpoint/2010/main" val="1689997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8D4B64-1ACC-4C06-3046-45B7B18B3C06}"/>
              </a:ext>
            </a:extLst>
          </p:cNvPr>
          <p:cNvSpPr txBox="1"/>
          <p:nvPr/>
        </p:nvSpPr>
        <p:spPr>
          <a:xfrm>
            <a:off x="508000" y="3302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000" b="1">
                <a:solidFill>
                  <a:srgbClr val="14213D"/>
                </a:solidFill>
                <a:latin typeface="Cambria" panose="02040503050406030204" pitchFamily="18" charset="0"/>
              </a:rPr>
              <a:t>Бонус: слуховой ответ без меток стимулов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3976B44-FD59-BDF1-8459-9EC6335241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117600"/>
            <a:ext cx="11176000" cy="2906699"/>
          </a:xfrm>
          <a:prstGeom prst="rect">
            <a:avLst/>
          </a:prstGeom>
        </p:spPr>
      </p:pic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1E1672FE-48ED-FA4B-4B24-67B7642EC83B}"/>
              </a:ext>
            </a:extLst>
          </p:cNvPr>
          <p:cNvSpPr/>
          <p:nvPr/>
        </p:nvSpPr>
        <p:spPr>
          <a:xfrm>
            <a:off x="508000" y="4572000"/>
            <a:ext cx="3556000" cy="16510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C2B8D6B6-3DFD-577B-3996-8C52D0381A35}"/>
              </a:ext>
            </a:extLst>
          </p:cNvPr>
          <p:cNvSpPr/>
          <p:nvPr/>
        </p:nvSpPr>
        <p:spPr>
          <a:xfrm>
            <a:off x="736600" y="4775200"/>
            <a:ext cx="1397000" cy="33020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00" b="1">
                <a:solidFill>
                  <a:srgbClr val="FFFFFF"/>
                </a:solidFill>
                <a:latin typeface="Calibri" panose="020F0502020204030204" pitchFamily="34" charset="0"/>
              </a:rPr>
              <a:t>показано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20B320-6341-0DAA-B9C9-48C7C2145BF9}"/>
              </a:ext>
            </a:extLst>
          </p:cNvPr>
          <p:cNvSpPr txBox="1"/>
          <p:nvPr/>
        </p:nvSpPr>
        <p:spPr>
          <a:xfrm>
            <a:off x="736600" y="5257800"/>
            <a:ext cx="317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400">
                <a:solidFill>
                  <a:srgbClr val="1B1B1B"/>
                </a:solidFill>
                <a:latin typeface="Calibri" panose="020F0502020204030204" pitchFamily="34" charset="0"/>
              </a:rPr>
              <a:t>ответ на удары метронома в покое: p = 0.0005, фронтальный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B60A93A1-F27B-67AC-2E9C-EEF3CD1B576D}"/>
              </a:ext>
            </a:extLst>
          </p:cNvPr>
          <p:cNvSpPr/>
          <p:nvPr/>
        </p:nvSpPr>
        <p:spPr>
          <a:xfrm>
            <a:off x="4318000" y="4572000"/>
            <a:ext cx="3556000" cy="16510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EFE5AD85-3FC8-A7BE-FE13-8C4C31A217A8}"/>
              </a:ext>
            </a:extLst>
          </p:cNvPr>
          <p:cNvSpPr/>
          <p:nvPr/>
        </p:nvSpPr>
        <p:spPr>
          <a:xfrm>
            <a:off x="4546600" y="4775200"/>
            <a:ext cx="1397000" cy="330200"/>
          </a:xfrm>
          <a:prstGeom prst="roundRect">
            <a:avLst>
              <a:gd name="adj" fmla="val 8000"/>
            </a:avLst>
          </a:prstGeom>
          <a:solidFill>
            <a:srgbClr val="2A78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00" b="1">
                <a:solidFill>
                  <a:srgbClr val="FFFFFF"/>
                </a:solidFill>
                <a:latin typeface="Calibri" panose="020F0502020204030204" pitchFamily="34" charset="0"/>
              </a:rPr>
              <a:t>проверено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7D76E9-9ED3-BC10-A61D-C1990916DE4C}"/>
              </a:ext>
            </a:extLst>
          </p:cNvPr>
          <p:cNvSpPr txBox="1"/>
          <p:nvPr/>
        </p:nvSpPr>
        <p:spPr>
          <a:xfrm>
            <a:off x="4546600" y="5257800"/>
            <a:ext cx="317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400">
                <a:solidFill>
                  <a:srgbClr val="1B1B1B"/>
                </a:solidFill>
                <a:latin typeface="Calibri" panose="020F0502020204030204" pitchFamily="34" charset="0"/>
              </a:rPr>
              <a:t>метод на открытых данных ERP CORE и в гибридной симуляции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1C228E6D-1947-18CD-6937-A50621B6E3D4}"/>
              </a:ext>
            </a:extLst>
          </p:cNvPr>
          <p:cNvSpPr/>
          <p:nvPr/>
        </p:nvSpPr>
        <p:spPr>
          <a:xfrm>
            <a:off x="8128000" y="4572000"/>
            <a:ext cx="3556000" cy="16510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7DF96373-9F40-1A84-CEBC-70B6BDE3EB08}"/>
              </a:ext>
            </a:extLst>
          </p:cNvPr>
          <p:cNvSpPr/>
          <p:nvPr/>
        </p:nvSpPr>
        <p:spPr>
          <a:xfrm>
            <a:off x="8356600" y="4775200"/>
            <a:ext cx="1397000" cy="33020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00" b="1">
                <a:solidFill>
                  <a:srgbClr val="FFFFFF"/>
                </a:solidFill>
                <a:latin typeface="Calibri" panose="020F0502020204030204" pitchFamily="34" charset="0"/>
              </a:rPr>
              <a:t>не показано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A30F72-F101-27AB-282E-CCEC6A3DC6C8}"/>
              </a:ext>
            </a:extLst>
          </p:cNvPr>
          <p:cNvSpPr txBox="1"/>
          <p:nvPr/>
        </p:nvSpPr>
        <p:spPr>
          <a:xfrm>
            <a:off x="8356600" y="5257800"/>
            <a:ext cx="317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400">
                <a:solidFill>
                  <a:srgbClr val="1B1B1B"/>
                </a:solidFill>
                <a:latin typeface="Calibri" panose="020F0502020204030204" pitchFamily="34" charset="0"/>
              </a:rPr>
              <a:t>ответ на девиант (MMN/P3a): p = 0.048 при пороге 0.025</a:t>
            </a:r>
          </a:p>
        </p:txBody>
      </p:sp>
    </p:spTree>
    <p:extLst>
      <p:ext uri="{BB962C8B-B14F-4D97-AF65-F5344CB8AC3E}">
        <p14:creationId xmlns:p14="http://schemas.microsoft.com/office/powerpoint/2010/main" val="40968785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90A15D-15AE-5F2F-1F74-B8B279B10F7B}"/>
              </a:ext>
            </a:extLst>
          </p:cNvPr>
          <p:cNvSpPr txBox="1"/>
          <p:nvPr/>
        </p:nvSpPr>
        <p:spPr>
          <a:xfrm>
            <a:off x="762000" y="5080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400" b="1">
                <a:solidFill>
                  <a:srgbClr val="FFFFFF"/>
                </a:solidFill>
                <a:latin typeface="Cambria" panose="02040503050406030204" pitchFamily="18" charset="0"/>
              </a:rPr>
              <a:t>Выводы</a:t>
            </a:r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91802568-8DAC-C123-DF7D-819CC70B4734}"/>
              </a:ext>
            </a:extLst>
          </p:cNvPr>
          <p:cNvSpPr/>
          <p:nvPr/>
        </p:nvSpPr>
        <p:spPr>
          <a:xfrm>
            <a:off x="762000" y="1524000"/>
            <a:ext cx="431800" cy="431800"/>
          </a:xfrm>
          <a:prstGeom prst="ellipse">
            <a:avLst/>
          </a:prstGeom>
          <a:solidFill>
            <a:srgbClr val="EB68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ru-RU" sz="1500" b="1">
                <a:solidFill>
                  <a:srgbClr val="FFFFFF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5EBDE8-9DC9-9EBB-FC39-A688EF7945DC}"/>
              </a:ext>
            </a:extLst>
          </p:cNvPr>
          <p:cNvSpPr txBox="1"/>
          <p:nvPr/>
        </p:nvSpPr>
        <p:spPr>
          <a:xfrm>
            <a:off x="762000" y="2133600"/>
            <a:ext cx="3302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2000" b="1">
                <a:solidFill>
                  <a:srgbClr val="FFFFFF"/>
                </a:solidFill>
                <a:latin typeface="Cambria" panose="02040503050406030204" pitchFamily="18" charset="0"/>
              </a:rPr>
              <a:t>Что работает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F3814A-0C14-EF53-E293-4D6B8C77330B}"/>
              </a:ext>
            </a:extLst>
          </p:cNvPr>
          <p:cNvSpPr txBox="1"/>
          <p:nvPr/>
        </p:nvSpPr>
        <p:spPr>
          <a:xfrm>
            <a:off x="762000" y="2667000"/>
            <a:ext cx="330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ru-RU" sz="1500">
                <a:solidFill>
                  <a:srgbClr val="C9D3E3"/>
                </a:solidFill>
                <a:latin typeface="Calibri" panose="020F0502020204030204" pitchFamily="34" charset="0"/>
              </a:rPr>
              <a:t>AUC 0.86 вне выборки, чувствительность 0.84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ru-RU" sz="1500">
                <a:solidFill>
                  <a:srgbClr val="C9D3E3"/>
                </a:solidFill>
                <a:latin typeface="Calibri" panose="020F0502020204030204" pitchFamily="34" charset="0"/>
              </a:rPr>
              <a:t>надёжное отделение нормального старения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ru-RU" sz="1500">
                <a:solidFill>
                  <a:srgbClr val="C9D3E3"/>
                </a:solidFill>
                <a:latin typeface="Calibri" panose="020F0502020204030204" pitchFamily="34" charset="0"/>
              </a:rPr>
              <a:t>без утечки: группы дубликатов, выбор внутри фолдов</a:t>
            </a: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AEC52232-6671-6082-0805-8E2992364832}"/>
              </a:ext>
            </a:extLst>
          </p:cNvPr>
          <p:cNvSpPr/>
          <p:nvPr/>
        </p:nvSpPr>
        <p:spPr>
          <a:xfrm>
            <a:off x="4445000" y="1524000"/>
            <a:ext cx="431800" cy="431800"/>
          </a:xfrm>
          <a:prstGeom prst="ellipse">
            <a:avLst/>
          </a:prstGeom>
          <a:solidFill>
            <a:srgbClr val="EB68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ru-RU" sz="1500" b="1">
                <a:solidFill>
                  <a:srgbClr val="FFFFFF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E47E48-B1A0-87D5-B453-E14610090802}"/>
              </a:ext>
            </a:extLst>
          </p:cNvPr>
          <p:cNvSpPr txBox="1"/>
          <p:nvPr/>
        </p:nvSpPr>
        <p:spPr>
          <a:xfrm>
            <a:off x="4445000" y="2133600"/>
            <a:ext cx="3302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2000" b="1">
                <a:solidFill>
                  <a:srgbClr val="FFFFFF"/>
                </a:solidFill>
                <a:latin typeface="Cambria" panose="02040503050406030204" pitchFamily="18" charset="0"/>
              </a:rPr>
              <a:t>Ограничения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99E3C1-C60A-B0AC-AB09-926B0B0AF78D}"/>
              </a:ext>
            </a:extLst>
          </p:cNvPr>
          <p:cNvSpPr txBox="1"/>
          <p:nvPr/>
        </p:nvSpPr>
        <p:spPr>
          <a:xfrm>
            <a:off x="4445000" y="2667000"/>
            <a:ext cx="330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ru-RU" sz="1500">
                <a:solidFill>
                  <a:srgbClr val="C9D3E3"/>
                </a:solidFill>
                <a:latin typeface="Calibri" panose="020F0502020204030204" pitchFamily="34" charset="0"/>
              </a:rPr>
              <a:t>молодые нормы A/B: опора на T3/T4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ru-RU" sz="1500">
                <a:solidFill>
                  <a:srgbClr val="C9D3E3"/>
                </a:solidFill>
                <a:latin typeface="Calibri" panose="020F0502020204030204" pitchFamily="34" charset="0"/>
              </a:rPr>
              <a:t>соматоформные: 0.61, пол не учтён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ru-RU" sz="1500">
                <a:solidFill>
                  <a:srgbClr val="C9D3E3"/>
                </a:solidFill>
                <a:latin typeface="Calibri" panose="020F0502020204030204" pitchFamily="34" charset="0"/>
              </a:rPr>
              <a:t>когорты различаются не только диагнозом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E91658B5-966E-D956-9572-94A156C09557}"/>
              </a:ext>
            </a:extLst>
          </p:cNvPr>
          <p:cNvSpPr/>
          <p:nvPr/>
        </p:nvSpPr>
        <p:spPr>
          <a:xfrm>
            <a:off x="8128000" y="1524000"/>
            <a:ext cx="431800" cy="431800"/>
          </a:xfrm>
          <a:prstGeom prst="ellipse">
            <a:avLst/>
          </a:prstGeom>
          <a:solidFill>
            <a:srgbClr val="EB68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ru-RU" sz="1500" b="1">
                <a:solidFill>
                  <a:srgbClr val="FFFFFF"/>
                </a:solidFill>
                <a:latin typeface="Calibri" panose="020F0502020204030204" pitchFamily="34" charset="0"/>
              </a:rPr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86A681-B74A-76F2-9150-CB3E908F560C}"/>
              </a:ext>
            </a:extLst>
          </p:cNvPr>
          <p:cNvSpPr txBox="1"/>
          <p:nvPr/>
        </p:nvSpPr>
        <p:spPr>
          <a:xfrm>
            <a:off x="8128000" y="2133600"/>
            <a:ext cx="3302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2000" b="1">
                <a:solidFill>
                  <a:srgbClr val="FFFFFF"/>
                </a:solidFill>
                <a:latin typeface="Cambria" panose="02040503050406030204" pitchFamily="18" charset="0"/>
              </a:rPr>
              <a:t>Что дальше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9456F8-18D6-83BE-901D-DE2B88BEC4B9}"/>
              </a:ext>
            </a:extLst>
          </p:cNvPr>
          <p:cNvSpPr txBox="1"/>
          <p:nvPr/>
        </p:nvSpPr>
        <p:spPr>
          <a:xfrm>
            <a:off x="8128000" y="2667000"/>
            <a:ext cx="330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ru-RU" sz="1500">
                <a:solidFill>
                  <a:srgbClr val="C9D3E3"/>
                </a:solidFill>
                <a:latin typeface="Calibri" panose="020F0502020204030204" pitchFamily="34" charset="0"/>
              </a:rPr>
              <a:t>контроль с боевой травмой без ПТСР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ru-RU" sz="1500">
                <a:solidFill>
                  <a:srgbClr val="C9D3E3"/>
                </a:solidFill>
                <a:latin typeface="Calibri" panose="020F0502020204030204" pitchFamily="34" charset="0"/>
              </a:rPr>
              <a:t>одна гарнитура и экспорт для всех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ru-RU" sz="1500">
                <a:solidFill>
                  <a:srgbClr val="C9D3E3"/>
                </a:solidFill>
                <a:latin typeface="Calibri" panose="020F0502020204030204" pitchFamily="34" charset="0"/>
              </a:rPr>
              <a:t>шкалы тяжести, лекарства, ЧМТ, сон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49790C-480B-DEFC-59E5-0C41280BB450}"/>
              </a:ext>
            </a:extLst>
          </p:cNvPr>
          <p:cNvSpPr txBox="1"/>
          <p:nvPr/>
        </p:nvSpPr>
        <p:spPr>
          <a:xfrm>
            <a:off x="762000" y="59690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400">
                <a:solidFill>
                  <a:srgbClr val="C9D3E3"/>
                </a:solidFill>
                <a:latin typeface="Calibri" panose="020F0502020204030204" pitchFamily="34" charset="0"/>
              </a:rPr>
              <a:t>Код, ноутбуки, аудит данных и клиническая интерпретация — в репозитории.</a:t>
            </a:r>
          </a:p>
        </p:txBody>
      </p:sp>
    </p:spTree>
    <p:extLst>
      <p:ext uri="{BB962C8B-B14F-4D97-AF65-F5344CB8AC3E}">
        <p14:creationId xmlns:p14="http://schemas.microsoft.com/office/powerpoint/2010/main" val="411941316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1691</Words>
  <Application>Microsoft Office PowerPoint</Application>
  <PresentationFormat>Произвольный</PresentationFormat>
  <Paragraphs>174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Cambria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Игорь Яцун</dc:creator>
  <cp:lastModifiedBy>Игорь Яцун</cp:lastModifiedBy>
  <cp:revision>1</cp:revision>
  <dcterms:created xsi:type="dcterms:W3CDTF">2026-09-27T16:17:30Z</dcterms:created>
  <dcterms:modified xsi:type="dcterms:W3CDTF">2026-09-27T16:17:30Z</dcterms:modified>
</cp:coreProperties>
</file>